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731520" y="1645920"/>
            <a:ext cx="1371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9144000" cy="640080"/>
          </a:xfrm>
          <a:prstGeom prst="rect">
            <a:avLst/>
          </a:prstGeom>
          <a:noFill/>
        </p:spPr>
        <p:txBody>
          <a:bodyPr wrap="square">
            <a:spAutoFit/>
          </a:bodyPr>
          <a:lstStyle/>
          <a:p>
            <a:pPr algn="l">
              <a:defRPr sz="5600" b="1" i="0">
                <a:solidFill>
                  <a:srgbClr val="C81E1E"/>
                </a:solidFill>
                <a:latin typeface="Arial"/>
              </a:defRPr>
            </a:pPr>
            <a:r>
              <a:t>HOW I AI</a:t>
            </a:r>
          </a:p>
        </p:txBody>
      </p:sp>
      <p:sp>
        <p:nvSpPr>
          <p:cNvPr id="4" name="TextBox 3"/>
          <p:cNvSpPr txBox="1"/>
          <p:nvPr/>
        </p:nvSpPr>
        <p:spPr>
          <a:xfrm>
            <a:off x="731520" y="2606040"/>
            <a:ext cx="9144000" cy="640080"/>
          </a:xfrm>
          <a:prstGeom prst="rect">
            <a:avLst/>
          </a:prstGeom>
          <a:noFill/>
        </p:spPr>
        <p:txBody>
          <a:bodyPr wrap="square">
            <a:spAutoFit/>
          </a:bodyPr>
          <a:lstStyle/>
          <a:p>
            <a:pPr algn="l">
              <a:defRPr sz="4000" b="1" i="0">
                <a:solidFill>
                  <a:srgbClr val="F5F5F5"/>
                </a:solidFill>
                <a:latin typeface="Arial"/>
              </a:defRPr>
            </a:pPr>
            <a:r>
              <a:t>Edition 27</a:t>
            </a:r>
          </a:p>
        </p:txBody>
      </p:sp>
      <p:sp>
        <p:nvSpPr>
          <p:cNvPr id="5" name="Rectangle 4"/>
          <p:cNvSpPr/>
          <p:nvPr/>
        </p:nvSpPr>
        <p:spPr>
          <a:xfrm>
            <a:off x="731520" y="3383280"/>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566160"/>
            <a:ext cx="10972800" cy="457200"/>
          </a:xfrm>
          <a:prstGeom prst="rect">
            <a:avLst/>
          </a:prstGeom>
          <a:noFill/>
        </p:spPr>
        <p:txBody>
          <a:bodyPr wrap="square">
            <a:spAutoFit/>
          </a:bodyPr>
          <a:lstStyle/>
          <a:p>
            <a:pPr algn="l">
              <a:defRPr sz="2000" b="0" i="0">
                <a:solidFill>
                  <a:srgbClr val="AAAAAA"/>
                </a:solidFill>
                <a:latin typeface="Arial"/>
              </a:defRPr>
            </a:pPr>
            <a:r>
              <a:t>Seoul Soul Project, Canggu  ·  14 October 2026</a:t>
            </a:r>
          </a:p>
        </p:txBody>
      </p:sp>
      <p:sp>
        <p:nvSpPr>
          <p:cNvPr id="7" name="TextBox 6"/>
          <p:cNvSpPr txBox="1"/>
          <p:nvPr/>
        </p:nvSpPr>
        <p:spPr>
          <a:xfrm>
            <a:off x="731520" y="4114800"/>
            <a:ext cx="10972800" cy="365760"/>
          </a:xfrm>
          <a:prstGeom prst="rect">
            <a:avLst/>
          </a:prstGeom>
          <a:noFill/>
        </p:spPr>
        <p:txBody>
          <a:bodyPr wrap="square">
            <a:spAutoFit/>
          </a:bodyPr>
          <a:lstStyle/>
          <a:p>
            <a:pPr algn="l">
              <a:defRPr sz="1600" b="0" i="0">
                <a:solidFill>
                  <a:srgbClr val="888888"/>
                </a:solidFill>
                <a:latin typeface="Arial"/>
              </a:defRPr>
            </a:pPr>
            <a:r>
              <a:t>Bali Start-ups and Tech Community</a:t>
            </a:r>
          </a:p>
        </p:txBody>
      </p:sp>
      <p:sp>
        <p:nvSpPr>
          <p:cNvPr id="8" name="TextBox 7"/>
          <p:cNvSpPr txBox="1"/>
          <p:nvPr/>
        </p:nvSpPr>
        <p:spPr>
          <a:xfrm>
            <a:off x="731520" y="6217920"/>
            <a:ext cx="10972800" cy="365760"/>
          </a:xfrm>
          <a:prstGeom prst="rect">
            <a:avLst/>
          </a:prstGeom>
          <a:noFill/>
        </p:spPr>
        <p:txBody>
          <a:bodyPr wrap="square">
            <a:spAutoFit/>
          </a:bodyPr>
          <a:lstStyle/>
          <a:p>
            <a:pPr algn="l">
              <a:defRPr sz="1300" b="0" i="1">
                <a:solidFill>
                  <a:srgbClr val="888888"/>
                </a:solidFill>
                <a:latin typeface="Arial"/>
              </a:defRPr>
            </a:pPr>
            <a:r>
              <a:t>bstc.community  ·  every Wednesday 6:30pm WITA</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ABOUT BSTC</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What We Are</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31720"/>
            <a:ext cx="3200400" cy="502920"/>
          </a:xfrm>
          <a:prstGeom prst="rect">
            <a:avLst/>
          </a:prstGeom>
          <a:noFill/>
        </p:spPr>
        <p:txBody>
          <a:bodyPr wrap="square">
            <a:spAutoFit/>
          </a:bodyPr>
          <a:lstStyle/>
          <a:p>
            <a:pPr algn="l">
              <a:defRPr sz="1600" b="1" i="0">
                <a:solidFill>
                  <a:srgbClr val="C81E1E"/>
                </a:solidFill>
                <a:latin typeface="Arial"/>
              </a:defRPr>
            </a:pPr>
            <a:r>
              <a:t>Every Wednesday</a:t>
            </a:r>
          </a:p>
        </p:txBody>
      </p:sp>
      <p:sp>
        <p:nvSpPr>
          <p:cNvPr id="6" name="TextBox 5"/>
          <p:cNvSpPr txBox="1"/>
          <p:nvPr/>
        </p:nvSpPr>
        <p:spPr>
          <a:xfrm>
            <a:off x="4023360" y="2331720"/>
            <a:ext cx="7772400" cy="502920"/>
          </a:xfrm>
          <a:prstGeom prst="rect">
            <a:avLst/>
          </a:prstGeom>
          <a:noFill/>
        </p:spPr>
        <p:txBody>
          <a:bodyPr wrap="square">
            <a:spAutoFit/>
          </a:bodyPr>
          <a:lstStyle/>
          <a:p>
            <a:pPr algn="l">
              <a:defRPr sz="1500" b="0" i="0">
                <a:solidFill>
                  <a:srgbClr val="F5F5F5"/>
                </a:solidFill>
                <a:latin typeface="Arial"/>
              </a:defRPr>
            </a:pPr>
            <a:r>
              <a:t>6:30pm WITA at Seoul Soul Project, Canggu</a:t>
            </a:r>
          </a:p>
        </p:txBody>
      </p:sp>
      <p:sp>
        <p:nvSpPr>
          <p:cNvPr id="7" name="Rectangle 6"/>
          <p:cNvSpPr/>
          <p:nvPr/>
        </p:nvSpPr>
        <p:spPr>
          <a:xfrm>
            <a:off x="731520" y="2926080"/>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154680"/>
            <a:ext cx="3200400" cy="502920"/>
          </a:xfrm>
          <a:prstGeom prst="rect">
            <a:avLst/>
          </a:prstGeom>
          <a:noFill/>
        </p:spPr>
        <p:txBody>
          <a:bodyPr wrap="square">
            <a:spAutoFit/>
          </a:bodyPr>
          <a:lstStyle/>
          <a:p>
            <a:pPr algn="l">
              <a:defRPr sz="1600" b="1" i="0">
                <a:solidFill>
                  <a:srgbClr val="C81E1E"/>
                </a:solidFill>
                <a:latin typeface="Arial"/>
              </a:defRPr>
            </a:pPr>
            <a:r>
              <a:t>Who is here</a:t>
            </a:r>
          </a:p>
        </p:txBody>
      </p:sp>
      <p:sp>
        <p:nvSpPr>
          <p:cNvPr id="9" name="TextBox 8"/>
          <p:cNvSpPr txBox="1"/>
          <p:nvPr/>
        </p:nvSpPr>
        <p:spPr>
          <a:xfrm>
            <a:off x="4023360" y="3154680"/>
            <a:ext cx="7772400" cy="502920"/>
          </a:xfrm>
          <a:prstGeom prst="rect">
            <a:avLst/>
          </a:prstGeom>
          <a:noFill/>
        </p:spPr>
        <p:txBody>
          <a:bodyPr wrap="square">
            <a:spAutoFit/>
          </a:bodyPr>
          <a:lstStyle/>
          <a:p>
            <a:pPr algn="l">
              <a:defRPr sz="1500" b="0" i="0">
                <a:solidFill>
                  <a:srgbClr val="F5F5F5"/>
                </a:solidFill>
                <a:latin typeface="Arial"/>
              </a:defRPr>
            </a:pPr>
            <a:r>
              <a:t>Founders, operators, engineers, and curious people building with AI in Southeast Asia</a:t>
            </a:r>
          </a:p>
        </p:txBody>
      </p:sp>
      <p:sp>
        <p:nvSpPr>
          <p:cNvPr id="10" name="Rectangle 9"/>
          <p:cNvSpPr/>
          <p:nvPr/>
        </p:nvSpPr>
        <p:spPr>
          <a:xfrm>
            <a:off x="731520" y="3749040"/>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977640"/>
            <a:ext cx="3200400" cy="502920"/>
          </a:xfrm>
          <a:prstGeom prst="rect">
            <a:avLst/>
          </a:prstGeom>
          <a:noFill/>
        </p:spPr>
        <p:txBody>
          <a:bodyPr wrap="square">
            <a:spAutoFit/>
          </a:bodyPr>
          <a:lstStyle/>
          <a:p>
            <a:pPr algn="l">
              <a:defRPr sz="1600" b="1" i="0">
                <a:solidFill>
                  <a:srgbClr val="C81E1E"/>
                </a:solidFill>
                <a:latin typeface="Arial"/>
              </a:defRPr>
            </a:pPr>
            <a:r>
              <a:t>What we do</a:t>
            </a:r>
          </a:p>
        </p:txBody>
      </p:sp>
      <p:sp>
        <p:nvSpPr>
          <p:cNvPr id="12" name="TextBox 11"/>
          <p:cNvSpPr txBox="1"/>
          <p:nvPr/>
        </p:nvSpPr>
        <p:spPr>
          <a:xfrm>
            <a:off x="4023360" y="3977640"/>
            <a:ext cx="7772400" cy="502920"/>
          </a:xfrm>
          <a:prstGeom prst="rect">
            <a:avLst/>
          </a:prstGeom>
          <a:noFill/>
        </p:spPr>
        <p:txBody>
          <a:bodyPr wrap="square">
            <a:spAutoFit/>
          </a:bodyPr>
          <a:lstStyle/>
          <a:p>
            <a:pPr algn="l">
              <a:defRPr sz="1500" b="0" i="0">
                <a:solidFill>
                  <a:srgbClr val="F5F5F5"/>
                </a:solidFill>
                <a:latin typeface="Arial"/>
              </a:defRPr>
            </a:pPr>
            <a:r>
              <a:t>Share real signals. Skip the hype. Leave with something to try this week.</a:t>
            </a:r>
          </a:p>
        </p:txBody>
      </p:sp>
      <p:sp>
        <p:nvSpPr>
          <p:cNvPr id="13" name="Rectangle 12"/>
          <p:cNvSpPr/>
          <p:nvPr/>
        </p:nvSpPr>
        <p:spPr>
          <a:xfrm>
            <a:off x="731520" y="4572000"/>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800600"/>
            <a:ext cx="3200400" cy="502920"/>
          </a:xfrm>
          <a:prstGeom prst="rect">
            <a:avLst/>
          </a:prstGeom>
          <a:noFill/>
        </p:spPr>
        <p:txBody>
          <a:bodyPr wrap="square">
            <a:spAutoFit/>
          </a:bodyPr>
          <a:lstStyle/>
          <a:p>
            <a:pPr algn="l">
              <a:defRPr sz="1600" b="1" i="0">
                <a:solidFill>
                  <a:srgbClr val="C81E1E"/>
                </a:solidFill>
                <a:latin typeface="Arial"/>
              </a:defRPr>
            </a:pPr>
            <a:r>
              <a:t>No pitch deck</a:t>
            </a:r>
          </a:p>
        </p:txBody>
      </p:sp>
      <p:sp>
        <p:nvSpPr>
          <p:cNvPr id="15" name="TextBox 14"/>
          <p:cNvSpPr txBox="1"/>
          <p:nvPr/>
        </p:nvSpPr>
        <p:spPr>
          <a:xfrm>
            <a:off x="4023360" y="4800600"/>
            <a:ext cx="7772400" cy="502920"/>
          </a:xfrm>
          <a:prstGeom prst="rect">
            <a:avLst/>
          </a:prstGeom>
          <a:noFill/>
        </p:spPr>
        <p:txBody>
          <a:bodyPr wrap="square">
            <a:spAutoFit/>
          </a:bodyPr>
          <a:lstStyle/>
          <a:p>
            <a:pPr algn="l">
              <a:defRPr sz="1500" b="0" i="0">
                <a:solidFill>
                  <a:srgbClr val="F5F5F5"/>
                </a:solidFill>
                <a:latin typeface="Arial"/>
              </a:defRPr>
            </a:pPr>
            <a:r>
              <a:t>This is a community room, not a conference stage. Bring your problems.</a:t>
            </a:r>
          </a:p>
        </p:txBody>
      </p:sp>
      <p:sp>
        <p:nvSpPr>
          <p:cNvPr id="16" name="Rectangle 15"/>
          <p:cNvSpPr/>
          <p:nvPr/>
        </p:nvSpPr>
        <p:spPr>
          <a:xfrm>
            <a:off x="731520" y="5394960"/>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8" name="TextBox 1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TONIGHT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Agenda</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31720"/>
            <a:ext cx="1371600" cy="457200"/>
          </a:xfrm>
          <a:prstGeom prst="rect">
            <a:avLst/>
          </a:prstGeom>
          <a:noFill/>
        </p:spPr>
        <p:txBody>
          <a:bodyPr wrap="square">
            <a:spAutoFit/>
          </a:bodyPr>
          <a:lstStyle/>
          <a:p>
            <a:pPr algn="l">
              <a:defRPr sz="1500" b="1" i="0">
                <a:solidFill>
                  <a:srgbClr val="C81E1E"/>
                </a:solidFill>
                <a:latin typeface="Arial"/>
              </a:defRPr>
            </a:pPr>
            <a:r>
              <a:t>6:30pm</a:t>
            </a:r>
          </a:p>
        </p:txBody>
      </p:sp>
      <p:sp>
        <p:nvSpPr>
          <p:cNvPr id="6" name="TextBox 5"/>
          <p:cNvSpPr txBox="1"/>
          <p:nvPr/>
        </p:nvSpPr>
        <p:spPr>
          <a:xfrm>
            <a:off x="2377440" y="2331720"/>
            <a:ext cx="8961120" cy="457200"/>
          </a:xfrm>
          <a:prstGeom prst="rect">
            <a:avLst/>
          </a:prstGeom>
          <a:noFill/>
        </p:spPr>
        <p:txBody>
          <a:bodyPr wrap="square">
            <a:spAutoFit/>
          </a:bodyPr>
          <a:lstStyle/>
          <a:p>
            <a:pPr algn="l">
              <a:defRPr sz="1500" b="0" i="0">
                <a:solidFill>
                  <a:srgbClr val="F5F5F5"/>
                </a:solidFill>
                <a:latin typeface="Arial"/>
              </a:defRPr>
            </a:pPr>
            <a:r>
              <a:t>Doors open, grab a drink</a:t>
            </a:r>
          </a:p>
        </p:txBody>
      </p:sp>
      <p:sp>
        <p:nvSpPr>
          <p:cNvPr id="7" name="TextBox 6"/>
          <p:cNvSpPr txBox="1"/>
          <p:nvPr/>
        </p:nvSpPr>
        <p:spPr>
          <a:xfrm>
            <a:off x="731520" y="2862072"/>
            <a:ext cx="1371600" cy="457200"/>
          </a:xfrm>
          <a:prstGeom prst="rect">
            <a:avLst/>
          </a:prstGeom>
          <a:noFill/>
        </p:spPr>
        <p:txBody>
          <a:bodyPr wrap="square">
            <a:spAutoFit/>
          </a:bodyPr>
          <a:lstStyle/>
          <a:p>
            <a:pPr algn="l">
              <a:defRPr sz="1500" b="1" i="0">
                <a:solidFill>
                  <a:srgbClr val="C81E1E"/>
                </a:solidFill>
                <a:latin typeface="Arial"/>
              </a:defRPr>
            </a:pPr>
            <a:r>
              <a:t>6:45pm</a:t>
            </a:r>
          </a:p>
        </p:txBody>
      </p:sp>
      <p:sp>
        <p:nvSpPr>
          <p:cNvPr id="8" name="TextBox 7"/>
          <p:cNvSpPr txBox="1"/>
          <p:nvPr/>
        </p:nvSpPr>
        <p:spPr>
          <a:xfrm>
            <a:off x="2377440" y="2862072"/>
            <a:ext cx="8961120" cy="457200"/>
          </a:xfrm>
          <a:prstGeom prst="rect">
            <a:avLst/>
          </a:prstGeom>
          <a:noFill/>
        </p:spPr>
        <p:txBody>
          <a:bodyPr wrap="square">
            <a:spAutoFit/>
          </a:bodyPr>
          <a:lstStyle/>
          <a:p>
            <a:pPr algn="l">
              <a:defRPr sz="1500" b="0" i="0">
                <a:solidFill>
                  <a:srgbClr val="F5F5F5"/>
                </a:solidFill>
                <a:latin typeface="Arial"/>
              </a:defRPr>
            </a:pPr>
            <a:r>
              <a:t>Jargon Buster  (5 terms to lock in now)</a:t>
            </a:r>
          </a:p>
        </p:txBody>
      </p:sp>
      <p:sp>
        <p:nvSpPr>
          <p:cNvPr id="9" name="TextBox 8"/>
          <p:cNvSpPr txBox="1"/>
          <p:nvPr/>
        </p:nvSpPr>
        <p:spPr>
          <a:xfrm>
            <a:off x="731520" y="3392424"/>
            <a:ext cx="1371600" cy="457200"/>
          </a:xfrm>
          <a:prstGeom prst="rect">
            <a:avLst/>
          </a:prstGeom>
          <a:noFill/>
        </p:spPr>
        <p:txBody>
          <a:bodyPr wrap="square">
            <a:spAutoFit/>
          </a:bodyPr>
          <a:lstStyle/>
          <a:p>
            <a:pPr algn="l">
              <a:defRPr sz="1500" b="1" i="0">
                <a:solidFill>
                  <a:srgbClr val="C81E1E"/>
                </a:solidFill>
                <a:latin typeface="Arial"/>
              </a:defRPr>
            </a:pPr>
            <a:r>
              <a:t>7:00pm</a:t>
            </a:r>
          </a:p>
        </p:txBody>
      </p:sp>
      <p:sp>
        <p:nvSpPr>
          <p:cNvPr id="10" name="TextBox 9"/>
          <p:cNvSpPr txBox="1"/>
          <p:nvPr/>
        </p:nvSpPr>
        <p:spPr>
          <a:xfrm>
            <a:off x="2377440" y="3392424"/>
            <a:ext cx="8961120" cy="457200"/>
          </a:xfrm>
          <a:prstGeom prst="rect">
            <a:avLst/>
          </a:prstGeom>
          <a:noFill/>
        </p:spPr>
        <p:txBody>
          <a:bodyPr wrap="square">
            <a:spAutoFit/>
          </a:bodyPr>
          <a:lstStyle/>
          <a:p>
            <a:pPr algn="l">
              <a:defRPr sz="1500" b="0" i="0">
                <a:solidFill>
                  <a:srgbClr val="F5F5F5"/>
                </a:solidFill>
                <a:latin typeface="Arial"/>
              </a:defRPr>
            </a:pPr>
            <a:r>
              <a:t>Intel Drop  (5 signals from the last 7 days)</a:t>
            </a:r>
          </a:p>
        </p:txBody>
      </p:sp>
      <p:sp>
        <p:nvSpPr>
          <p:cNvPr id="11" name="TextBox 10"/>
          <p:cNvSpPr txBox="1"/>
          <p:nvPr/>
        </p:nvSpPr>
        <p:spPr>
          <a:xfrm>
            <a:off x="731520" y="3922776"/>
            <a:ext cx="1371600" cy="457200"/>
          </a:xfrm>
          <a:prstGeom prst="rect">
            <a:avLst/>
          </a:prstGeom>
          <a:noFill/>
        </p:spPr>
        <p:txBody>
          <a:bodyPr wrap="square">
            <a:spAutoFit/>
          </a:bodyPr>
          <a:lstStyle/>
          <a:p>
            <a:pPr algn="l">
              <a:defRPr sz="1500" b="1" i="0">
                <a:solidFill>
                  <a:srgbClr val="C81E1E"/>
                </a:solidFill>
                <a:latin typeface="Arial"/>
              </a:defRPr>
            </a:pPr>
            <a:r>
              <a:t>7:30pm</a:t>
            </a:r>
          </a:p>
        </p:txBody>
      </p:sp>
      <p:sp>
        <p:nvSpPr>
          <p:cNvPr id="12" name="TextBox 11"/>
          <p:cNvSpPr txBox="1"/>
          <p:nvPr/>
        </p:nvSpPr>
        <p:spPr>
          <a:xfrm>
            <a:off x="2377440" y="3922776"/>
            <a:ext cx="8961120" cy="457200"/>
          </a:xfrm>
          <a:prstGeom prst="rect">
            <a:avLst/>
          </a:prstGeom>
          <a:noFill/>
        </p:spPr>
        <p:txBody>
          <a:bodyPr wrap="square">
            <a:spAutoFit/>
          </a:bodyPr>
          <a:lstStyle/>
          <a:p>
            <a:pPr algn="l">
              <a:defRPr sz="1500" b="0" i="0">
                <a:solidFill>
                  <a:srgbClr val="F5F5F5"/>
                </a:solidFill>
                <a:latin typeface="Arial"/>
              </a:defRPr>
            </a:pPr>
            <a:r>
              <a:t>Action of the Week and By Tier</a:t>
            </a:r>
          </a:p>
        </p:txBody>
      </p:sp>
      <p:sp>
        <p:nvSpPr>
          <p:cNvPr id="13" name="TextBox 12"/>
          <p:cNvSpPr txBox="1"/>
          <p:nvPr/>
        </p:nvSpPr>
        <p:spPr>
          <a:xfrm>
            <a:off x="731520" y="4453128"/>
            <a:ext cx="1371600" cy="457200"/>
          </a:xfrm>
          <a:prstGeom prst="rect">
            <a:avLst/>
          </a:prstGeom>
          <a:noFill/>
        </p:spPr>
        <p:txBody>
          <a:bodyPr wrap="square">
            <a:spAutoFit/>
          </a:bodyPr>
          <a:lstStyle/>
          <a:p>
            <a:pPr algn="l">
              <a:defRPr sz="1500" b="1" i="0">
                <a:solidFill>
                  <a:srgbClr val="C81E1E"/>
                </a:solidFill>
                <a:latin typeface="Arial"/>
              </a:defRPr>
            </a:pPr>
            <a:r>
              <a:t>7:40pm</a:t>
            </a:r>
          </a:p>
        </p:txBody>
      </p:sp>
      <p:sp>
        <p:nvSpPr>
          <p:cNvPr id="14" name="TextBox 13"/>
          <p:cNvSpPr txBox="1"/>
          <p:nvPr/>
        </p:nvSpPr>
        <p:spPr>
          <a:xfrm>
            <a:off x="2377440" y="4453128"/>
            <a:ext cx="8961120" cy="457200"/>
          </a:xfrm>
          <a:prstGeom prst="rect">
            <a:avLst/>
          </a:prstGeom>
          <a:noFill/>
        </p:spPr>
        <p:txBody>
          <a:bodyPr wrap="square">
            <a:spAutoFit/>
          </a:bodyPr>
          <a:lstStyle/>
          <a:p>
            <a:pPr algn="l">
              <a:defRPr sz="1500" b="0" i="0">
                <a:solidFill>
                  <a:srgbClr val="F5F5F5"/>
                </a:solidFill>
                <a:latin typeface="Arial"/>
              </a:defRPr>
            </a:pPr>
            <a:r>
              <a:t>Builder Spotlights</a:t>
            </a:r>
          </a:p>
        </p:txBody>
      </p:sp>
      <p:sp>
        <p:nvSpPr>
          <p:cNvPr id="15" name="TextBox 14"/>
          <p:cNvSpPr txBox="1"/>
          <p:nvPr/>
        </p:nvSpPr>
        <p:spPr>
          <a:xfrm>
            <a:off x="731520" y="4983480"/>
            <a:ext cx="1371600" cy="457200"/>
          </a:xfrm>
          <a:prstGeom prst="rect">
            <a:avLst/>
          </a:prstGeom>
          <a:noFill/>
        </p:spPr>
        <p:txBody>
          <a:bodyPr wrap="square">
            <a:spAutoFit/>
          </a:bodyPr>
          <a:lstStyle/>
          <a:p>
            <a:pPr algn="l">
              <a:defRPr sz="1500" b="1" i="0">
                <a:solidFill>
                  <a:srgbClr val="C81E1E"/>
                </a:solidFill>
                <a:latin typeface="Arial"/>
              </a:defRPr>
            </a:pPr>
            <a:r>
              <a:t>7:55pm</a:t>
            </a:r>
          </a:p>
        </p:txBody>
      </p:sp>
      <p:sp>
        <p:nvSpPr>
          <p:cNvPr id="16" name="TextBox 15"/>
          <p:cNvSpPr txBox="1"/>
          <p:nvPr/>
        </p:nvSpPr>
        <p:spPr>
          <a:xfrm>
            <a:off x="2377440" y="4983480"/>
            <a:ext cx="8961120" cy="457200"/>
          </a:xfrm>
          <a:prstGeom prst="rect">
            <a:avLst/>
          </a:prstGeom>
          <a:noFill/>
        </p:spPr>
        <p:txBody>
          <a:bodyPr wrap="square">
            <a:spAutoFit/>
          </a:bodyPr>
          <a:lstStyle/>
          <a:p>
            <a:pPr algn="l">
              <a:defRPr sz="1500" b="0" i="0">
                <a:solidFill>
                  <a:srgbClr val="F5F5F5"/>
                </a:solidFill>
                <a:latin typeface="Arial"/>
              </a:defRPr>
            </a:pPr>
            <a:r>
              <a:t>Community Wins  /  Open Floor</a:t>
            </a:r>
          </a:p>
        </p:txBody>
      </p:sp>
      <p:sp>
        <p:nvSpPr>
          <p:cNvPr id="17" name="TextBox 16"/>
          <p:cNvSpPr txBox="1"/>
          <p:nvPr/>
        </p:nvSpPr>
        <p:spPr>
          <a:xfrm>
            <a:off x="731520" y="5513832"/>
            <a:ext cx="1371600" cy="457200"/>
          </a:xfrm>
          <a:prstGeom prst="rect">
            <a:avLst/>
          </a:prstGeom>
          <a:noFill/>
        </p:spPr>
        <p:txBody>
          <a:bodyPr wrap="square">
            <a:spAutoFit/>
          </a:bodyPr>
          <a:lstStyle/>
          <a:p>
            <a:pPr algn="l">
              <a:defRPr sz="1500" b="1" i="0">
                <a:solidFill>
                  <a:srgbClr val="C81E1E"/>
                </a:solidFill>
                <a:latin typeface="Arial"/>
              </a:defRPr>
            </a:pPr>
            <a:r>
              <a:t>8:10pm</a:t>
            </a:r>
          </a:p>
        </p:txBody>
      </p:sp>
      <p:sp>
        <p:nvSpPr>
          <p:cNvPr id="18" name="TextBox 17"/>
          <p:cNvSpPr txBox="1"/>
          <p:nvPr/>
        </p:nvSpPr>
        <p:spPr>
          <a:xfrm>
            <a:off x="2377440" y="5513832"/>
            <a:ext cx="8961120" cy="457200"/>
          </a:xfrm>
          <a:prstGeom prst="rect">
            <a:avLst/>
          </a:prstGeom>
          <a:noFill/>
        </p:spPr>
        <p:txBody>
          <a:bodyPr wrap="square">
            <a:spAutoFit/>
          </a:bodyPr>
          <a:lstStyle/>
          <a:p>
            <a:pPr algn="l">
              <a:defRPr sz="1500" b="0" i="0">
                <a:solidFill>
                  <a:srgbClr val="F5F5F5"/>
                </a:solidFill>
                <a:latin typeface="Arial"/>
              </a:defRPr>
            </a:pPr>
            <a:r>
              <a:t>Dinner and informal networking</a:t>
            </a:r>
          </a:p>
        </p:txBody>
      </p:sp>
      <p:sp>
        <p:nvSpPr>
          <p:cNvPr id="19" name="TextBox 1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0" name="TextBox 1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INTEL DROP</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5 Signals, 7 Days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058400" cy="640080"/>
          </a:xfrm>
          <a:prstGeom prst="rect">
            <a:avLst/>
          </a:prstGeom>
          <a:noFill/>
        </p:spPr>
        <p:txBody>
          <a:bodyPr wrap="square">
            <a:spAutoFit/>
          </a:bodyPr>
          <a:lstStyle/>
          <a:p>
            <a:pPr algn="l">
              <a:defRPr sz="1600" b="0" i="0">
                <a:solidFill>
                  <a:srgbClr val="AAAAAA"/>
                </a:solidFill>
                <a:latin typeface="Arial"/>
              </a:defRPr>
            </a:pPr>
            <a:r>
              <a:t>This week: pricing floors drop, agent memory improves, and a non-text model reaches $7.5B. The cost of building with AI is falling on two fronts at once.</a:t>
            </a:r>
          </a:p>
        </p:txBody>
      </p:sp>
      <p:sp>
        <p:nvSpPr>
          <p:cNvPr id="6" name="TextBox 5"/>
          <p:cNvSpPr txBox="1"/>
          <p:nvPr/>
        </p:nvSpPr>
        <p:spPr>
          <a:xfrm>
            <a:off x="731520" y="3108960"/>
            <a:ext cx="640080" cy="457200"/>
          </a:xfrm>
          <a:prstGeom prst="rect">
            <a:avLst/>
          </a:prstGeom>
          <a:noFill/>
        </p:spPr>
        <p:txBody>
          <a:bodyPr wrap="square">
            <a:spAutoFit/>
          </a:bodyPr>
          <a:lstStyle/>
          <a:p>
            <a:pPr algn="l">
              <a:defRPr sz="1800" b="1" i="0">
                <a:solidFill>
                  <a:srgbClr val="C81E1E"/>
                </a:solidFill>
                <a:latin typeface="Arial"/>
              </a:defRPr>
            </a:pPr>
            <a:r>
              <a:t>01</a:t>
            </a:r>
          </a:p>
        </p:txBody>
      </p:sp>
      <p:sp>
        <p:nvSpPr>
          <p:cNvPr id="7" name="TextBox 6"/>
          <p:cNvSpPr txBox="1"/>
          <p:nvPr/>
        </p:nvSpPr>
        <p:spPr>
          <a:xfrm>
            <a:off x="1463040" y="3108960"/>
            <a:ext cx="4114800" cy="457200"/>
          </a:xfrm>
          <a:prstGeom prst="rect">
            <a:avLst/>
          </a:prstGeom>
          <a:noFill/>
        </p:spPr>
        <p:txBody>
          <a:bodyPr wrap="square">
            <a:spAutoFit/>
          </a:bodyPr>
          <a:lstStyle/>
          <a:p>
            <a:pPr algn="l">
              <a:defRPr sz="1600" b="1" i="0">
                <a:solidFill>
                  <a:srgbClr val="F5F5F5"/>
                </a:solidFill>
                <a:latin typeface="Arial"/>
              </a:defRPr>
            </a:pPr>
            <a:r>
              <a:t>Claude Haiku 5.5</a:t>
            </a:r>
          </a:p>
        </p:txBody>
      </p:sp>
      <p:sp>
        <p:nvSpPr>
          <p:cNvPr id="8" name="TextBox 7"/>
          <p:cNvSpPr txBox="1"/>
          <p:nvPr/>
        </p:nvSpPr>
        <p:spPr>
          <a:xfrm>
            <a:off x="5760720" y="3108960"/>
            <a:ext cx="5943600" cy="457200"/>
          </a:xfrm>
          <a:prstGeom prst="rect">
            <a:avLst/>
          </a:prstGeom>
          <a:noFill/>
        </p:spPr>
        <p:txBody>
          <a:bodyPr wrap="square">
            <a:spAutoFit/>
          </a:bodyPr>
          <a:lstStyle/>
          <a:p>
            <a:pPr algn="l">
              <a:defRPr sz="1400" b="0" i="0">
                <a:solidFill>
                  <a:srgbClr val="AAAAAA"/>
                </a:solidFill>
                <a:latin typeface="Arial"/>
              </a:defRPr>
            </a:pPr>
            <a:r>
              <a:t>75% cheaper. Built for sub-agents.</a:t>
            </a:r>
          </a:p>
        </p:txBody>
      </p:sp>
      <p:sp>
        <p:nvSpPr>
          <p:cNvPr id="9" name="TextBox 8"/>
          <p:cNvSpPr txBox="1"/>
          <p:nvPr/>
        </p:nvSpPr>
        <p:spPr>
          <a:xfrm>
            <a:off x="731520" y="3703320"/>
            <a:ext cx="640080" cy="457200"/>
          </a:xfrm>
          <a:prstGeom prst="rect">
            <a:avLst/>
          </a:prstGeom>
          <a:noFill/>
        </p:spPr>
        <p:txBody>
          <a:bodyPr wrap="square">
            <a:spAutoFit/>
          </a:bodyPr>
          <a:lstStyle/>
          <a:p>
            <a:pPr algn="l">
              <a:defRPr sz="1800" b="1" i="0">
                <a:solidFill>
                  <a:srgbClr val="C81E1E"/>
                </a:solidFill>
                <a:latin typeface="Arial"/>
              </a:defRPr>
            </a:pPr>
            <a:r>
              <a:t>02</a:t>
            </a:r>
          </a:p>
        </p:txBody>
      </p:sp>
      <p:sp>
        <p:nvSpPr>
          <p:cNvPr id="10" name="TextBox 9"/>
          <p:cNvSpPr txBox="1"/>
          <p:nvPr/>
        </p:nvSpPr>
        <p:spPr>
          <a:xfrm>
            <a:off x="1463040" y="3703320"/>
            <a:ext cx="4114800" cy="457200"/>
          </a:xfrm>
          <a:prstGeom prst="rect">
            <a:avLst/>
          </a:prstGeom>
          <a:noFill/>
        </p:spPr>
        <p:txBody>
          <a:bodyPr wrap="square">
            <a:spAutoFit/>
          </a:bodyPr>
          <a:lstStyle/>
          <a:p>
            <a:pPr algn="l">
              <a:defRPr sz="1600" b="1" i="0">
                <a:solidFill>
                  <a:srgbClr val="F5F5F5"/>
                </a:solidFill>
                <a:latin typeface="Arial"/>
              </a:defRPr>
            </a:pPr>
            <a:r>
              <a:t>Meta Muse Wonder</a:t>
            </a:r>
          </a:p>
        </p:txBody>
      </p:sp>
      <p:sp>
        <p:nvSpPr>
          <p:cNvPr id="11" name="TextBox 10"/>
          <p:cNvSpPr txBox="1"/>
          <p:nvPr/>
        </p:nvSpPr>
        <p:spPr>
          <a:xfrm>
            <a:off x="5760720" y="3703320"/>
            <a:ext cx="5943600" cy="457200"/>
          </a:xfrm>
          <a:prstGeom prst="rect">
            <a:avLst/>
          </a:prstGeom>
          <a:noFill/>
        </p:spPr>
        <p:txBody>
          <a:bodyPr wrap="square">
            <a:spAutoFit/>
          </a:bodyPr>
          <a:lstStyle/>
          <a:p>
            <a:pPr algn="l">
              <a:defRPr sz="1400" b="0" i="0">
                <a:solidFill>
                  <a:srgbClr val="AAAAAA"/>
                </a:solidFill>
                <a:latin typeface="Arial"/>
              </a:defRPr>
            </a:pPr>
            <a:r>
              <a:t>Frontier agent model. Active Memory.</a:t>
            </a:r>
          </a:p>
        </p:txBody>
      </p:sp>
      <p:sp>
        <p:nvSpPr>
          <p:cNvPr id="12" name="TextBox 11"/>
          <p:cNvSpPr txBox="1"/>
          <p:nvPr/>
        </p:nvSpPr>
        <p:spPr>
          <a:xfrm>
            <a:off x="731520" y="4297680"/>
            <a:ext cx="640080" cy="457200"/>
          </a:xfrm>
          <a:prstGeom prst="rect">
            <a:avLst/>
          </a:prstGeom>
          <a:noFill/>
        </p:spPr>
        <p:txBody>
          <a:bodyPr wrap="square">
            <a:spAutoFit/>
          </a:bodyPr>
          <a:lstStyle/>
          <a:p>
            <a:pPr algn="l">
              <a:defRPr sz="1800" b="1" i="0">
                <a:solidFill>
                  <a:srgbClr val="C81E1E"/>
                </a:solidFill>
                <a:latin typeface="Arial"/>
              </a:defRPr>
            </a:pPr>
            <a:r>
              <a:t>03</a:t>
            </a:r>
          </a:p>
        </p:txBody>
      </p:sp>
      <p:sp>
        <p:nvSpPr>
          <p:cNvPr id="13" name="TextBox 12"/>
          <p:cNvSpPr txBox="1"/>
          <p:nvPr/>
        </p:nvSpPr>
        <p:spPr>
          <a:xfrm>
            <a:off x="1463040" y="4297680"/>
            <a:ext cx="4114800" cy="457200"/>
          </a:xfrm>
          <a:prstGeom prst="rect">
            <a:avLst/>
          </a:prstGeom>
          <a:noFill/>
        </p:spPr>
        <p:txBody>
          <a:bodyPr wrap="square">
            <a:spAutoFit/>
          </a:bodyPr>
          <a:lstStyle/>
          <a:p>
            <a:pPr algn="l">
              <a:defRPr sz="1600" b="1" i="0">
                <a:solidFill>
                  <a:srgbClr val="F5F5F5"/>
                </a:solidFill>
                <a:latin typeface="Arial"/>
              </a:defRPr>
            </a:pPr>
            <a:r>
              <a:t>ChatGPT Intelligent UI</a:t>
            </a:r>
          </a:p>
        </p:txBody>
      </p:sp>
      <p:sp>
        <p:nvSpPr>
          <p:cNvPr id="14" name="TextBox 13"/>
          <p:cNvSpPr txBox="1"/>
          <p:nvPr/>
        </p:nvSpPr>
        <p:spPr>
          <a:xfrm>
            <a:off x="5760720" y="4297680"/>
            <a:ext cx="5943600" cy="457200"/>
          </a:xfrm>
          <a:prstGeom prst="rect">
            <a:avLst/>
          </a:prstGeom>
          <a:noFill/>
        </p:spPr>
        <p:txBody>
          <a:bodyPr wrap="square">
            <a:spAutoFit/>
          </a:bodyPr>
          <a:lstStyle/>
          <a:p>
            <a:pPr algn="l">
              <a:defRPr sz="1400" b="0" i="0">
                <a:solidFill>
                  <a:srgbClr val="AAAAAA"/>
                </a:solidFill>
                <a:latin typeface="Arial"/>
              </a:defRPr>
            </a:pPr>
            <a:r>
              <a:t>AI-built interfaces, not just text.</a:t>
            </a:r>
          </a:p>
        </p:txBody>
      </p:sp>
      <p:sp>
        <p:nvSpPr>
          <p:cNvPr id="15" name="TextBox 14"/>
          <p:cNvSpPr txBox="1"/>
          <p:nvPr/>
        </p:nvSpPr>
        <p:spPr>
          <a:xfrm>
            <a:off x="731520" y="4892040"/>
            <a:ext cx="640080" cy="457200"/>
          </a:xfrm>
          <a:prstGeom prst="rect">
            <a:avLst/>
          </a:prstGeom>
          <a:noFill/>
        </p:spPr>
        <p:txBody>
          <a:bodyPr wrap="square">
            <a:spAutoFit/>
          </a:bodyPr>
          <a:lstStyle/>
          <a:p>
            <a:pPr algn="l">
              <a:defRPr sz="1800" b="1" i="0">
                <a:solidFill>
                  <a:srgbClr val="C81E1E"/>
                </a:solidFill>
                <a:latin typeface="Arial"/>
              </a:defRPr>
            </a:pPr>
            <a:r>
              <a:t>04</a:t>
            </a:r>
          </a:p>
        </p:txBody>
      </p:sp>
      <p:sp>
        <p:nvSpPr>
          <p:cNvPr id="16" name="TextBox 15"/>
          <p:cNvSpPr txBox="1"/>
          <p:nvPr/>
        </p:nvSpPr>
        <p:spPr>
          <a:xfrm>
            <a:off x="1463040" y="4892040"/>
            <a:ext cx="4114800" cy="457200"/>
          </a:xfrm>
          <a:prstGeom prst="rect">
            <a:avLst/>
          </a:prstGeom>
          <a:noFill/>
        </p:spPr>
        <p:txBody>
          <a:bodyPr wrap="square">
            <a:spAutoFit/>
          </a:bodyPr>
          <a:lstStyle/>
          <a:p>
            <a:pPr algn="l">
              <a:defRPr sz="1600" b="1" i="0">
                <a:solidFill>
                  <a:srgbClr val="F5F5F5"/>
                </a:solidFill>
                <a:latin typeface="Arial"/>
              </a:defRPr>
            </a:pPr>
            <a:r>
              <a:t>Google kills Gemini Code Assist sales</a:t>
            </a:r>
          </a:p>
        </p:txBody>
      </p:sp>
      <p:sp>
        <p:nvSpPr>
          <p:cNvPr id="17" name="TextBox 16"/>
          <p:cNvSpPr txBox="1"/>
          <p:nvPr/>
        </p:nvSpPr>
        <p:spPr>
          <a:xfrm>
            <a:off x="5760720" y="4892040"/>
            <a:ext cx="5943600" cy="457200"/>
          </a:xfrm>
          <a:prstGeom prst="rect">
            <a:avLst/>
          </a:prstGeom>
          <a:noFill/>
        </p:spPr>
        <p:txBody>
          <a:bodyPr wrap="square">
            <a:spAutoFit/>
          </a:bodyPr>
          <a:lstStyle/>
          <a:p>
            <a:pPr algn="l">
              <a:defRPr sz="1400" b="0" i="0">
                <a:solidFill>
                  <a:srgbClr val="AAAAAA"/>
                </a:solidFill>
                <a:latin typeface="Arial"/>
              </a:defRPr>
            </a:pPr>
            <a:r>
              <a:t>Consolidation accelerates.</a:t>
            </a:r>
          </a:p>
        </p:txBody>
      </p:sp>
      <p:sp>
        <p:nvSpPr>
          <p:cNvPr id="18" name="TextBox 17"/>
          <p:cNvSpPr txBox="1"/>
          <p:nvPr/>
        </p:nvSpPr>
        <p:spPr>
          <a:xfrm>
            <a:off x="731520" y="5486400"/>
            <a:ext cx="640080" cy="457200"/>
          </a:xfrm>
          <a:prstGeom prst="rect">
            <a:avLst/>
          </a:prstGeom>
          <a:noFill/>
        </p:spPr>
        <p:txBody>
          <a:bodyPr wrap="square">
            <a:spAutoFit/>
          </a:bodyPr>
          <a:lstStyle/>
          <a:p>
            <a:pPr algn="l">
              <a:defRPr sz="1800" b="1" i="0">
                <a:solidFill>
                  <a:srgbClr val="C81E1E"/>
                </a:solidFill>
                <a:latin typeface="Arial"/>
              </a:defRPr>
            </a:pPr>
            <a:r>
              <a:t>05</a:t>
            </a:r>
          </a:p>
        </p:txBody>
      </p:sp>
      <p:sp>
        <p:nvSpPr>
          <p:cNvPr id="19" name="TextBox 18"/>
          <p:cNvSpPr txBox="1"/>
          <p:nvPr/>
        </p:nvSpPr>
        <p:spPr>
          <a:xfrm>
            <a:off x="1463040" y="5486400"/>
            <a:ext cx="4114800" cy="457200"/>
          </a:xfrm>
          <a:prstGeom prst="rect">
            <a:avLst/>
          </a:prstGeom>
          <a:noFill/>
        </p:spPr>
        <p:txBody>
          <a:bodyPr wrap="square">
            <a:spAutoFit/>
          </a:bodyPr>
          <a:lstStyle/>
          <a:p>
            <a:pPr algn="l">
              <a:defRPr sz="1600" b="1" i="0">
                <a:solidFill>
                  <a:srgbClr val="F5F5F5"/>
                </a:solidFill>
                <a:latin typeface="Arial"/>
              </a:defRPr>
            </a:pPr>
            <a:r>
              <a:t>TypeSafe AI Jev at $7.5B</a:t>
            </a:r>
          </a:p>
        </p:txBody>
      </p:sp>
      <p:sp>
        <p:nvSpPr>
          <p:cNvPr id="20" name="TextBox 19"/>
          <p:cNvSpPr txBox="1"/>
          <p:nvPr/>
        </p:nvSpPr>
        <p:spPr>
          <a:xfrm>
            <a:off x="5760720" y="5486400"/>
            <a:ext cx="5943600" cy="457200"/>
          </a:xfrm>
          <a:prstGeom prst="rect">
            <a:avLst/>
          </a:prstGeom>
          <a:noFill/>
        </p:spPr>
        <p:txBody>
          <a:bodyPr wrap="square">
            <a:spAutoFit/>
          </a:bodyPr>
          <a:lstStyle/>
          <a:p>
            <a:pPr algn="l">
              <a:defRPr sz="1400" b="0" i="0">
                <a:solidFill>
                  <a:srgbClr val="AAAAAA"/>
                </a:solidFill>
                <a:latin typeface="Arial"/>
              </a:defRPr>
            </a:pPr>
            <a:r>
              <a:t>Non-text decision models arrive.</a:t>
            </a:r>
          </a:p>
        </p:txBody>
      </p:sp>
      <p:sp>
        <p:nvSpPr>
          <p:cNvPr id="21" name="TextBox 20"/>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2" name="TextBox 21"/>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BEFORE WE START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Jargon Buster</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Five terms from this week's signals. Lock these in first and the Intel Drop will land harder.</a:t>
            </a:r>
          </a:p>
        </p:txBody>
      </p:sp>
      <p:sp>
        <p:nvSpPr>
          <p:cNvPr id="6" name="TextBox 5"/>
          <p:cNvSpPr txBox="1"/>
          <p:nvPr/>
        </p:nvSpPr>
        <p:spPr>
          <a:xfrm>
            <a:off x="731520" y="3090672"/>
            <a:ext cx="3474720" cy="566928"/>
          </a:xfrm>
          <a:prstGeom prst="rect">
            <a:avLst/>
          </a:prstGeom>
          <a:noFill/>
        </p:spPr>
        <p:txBody>
          <a:bodyPr wrap="square">
            <a:spAutoFit/>
          </a:bodyPr>
          <a:lstStyle/>
          <a:p>
            <a:pPr algn="l">
              <a:defRPr sz="1600" b="1" i="0">
                <a:solidFill>
                  <a:srgbClr val="C81E1E"/>
                </a:solidFill>
                <a:latin typeface="Arial"/>
              </a:defRPr>
            </a:pPr>
            <a:r>
              <a:t>Sub-agent</a:t>
            </a:r>
          </a:p>
        </p:txBody>
      </p:sp>
      <p:sp>
        <p:nvSpPr>
          <p:cNvPr id="7" name="TextBox 6"/>
          <p:cNvSpPr txBox="1"/>
          <p:nvPr/>
        </p:nvSpPr>
        <p:spPr>
          <a:xfrm>
            <a:off x="4389120" y="3090672"/>
            <a:ext cx="7223760" cy="566928"/>
          </a:xfrm>
          <a:prstGeom prst="rect">
            <a:avLst/>
          </a:prstGeom>
          <a:noFill/>
        </p:spPr>
        <p:txBody>
          <a:bodyPr wrap="square">
            <a:spAutoFit/>
          </a:bodyPr>
          <a:lstStyle/>
          <a:p>
            <a:pPr algn="l">
              <a:defRPr sz="1300" b="0" i="0">
                <a:solidFill>
                  <a:srgbClr val="F5F5F5"/>
                </a:solidFill>
                <a:latin typeface="Arial"/>
              </a:defRPr>
            </a:pPr>
            <a:r>
              <a:t>A smaller, cheaper AI model inside a larger pipeline that handles routine steps so the expensive model only handles the hard ones.</a:t>
            </a:r>
          </a:p>
        </p:txBody>
      </p:sp>
      <p:sp>
        <p:nvSpPr>
          <p:cNvPr id="8" name="Rectangle 7"/>
          <p:cNvSpPr/>
          <p:nvPr/>
        </p:nvSpPr>
        <p:spPr>
          <a:xfrm>
            <a:off x="731520" y="3566160"/>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57600"/>
            <a:ext cx="3474720" cy="566928"/>
          </a:xfrm>
          <a:prstGeom prst="rect">
            <a:avLst/>
          </a:prstGeom>
          <a:noFill/>
        </p:spPr>
        <p:txBody>
          <a:bodyPr wrap="square">
            <a:spAutoFit/>
          </a:bodyPr>
          <a:lstStyle/>
          <a:p>
            <a:pPr algn="l">
              <a:defRPr sz="1600" b="1" i="0">
                <a:solidFill>
                  <a:srgbClr val="C81E1E"/>
                </a:solidFill>
                <a:latin typeface="Arial"/>
              </a:defRPr>
            </a:pPr>
            <a:r>
              <a:t>Active Memory</a:t>
            </a:r>
          </a:p>
        </p:txBody>
      </p:sp>
      <p:sp>
        <p:nvSpPr>
          <p:cNvPr id="10" name="TextBox 9"/>
          <p:cNvSpPr txBox="1"/>
          <p:nvPr/>
        </p:nvSpPr>
        <p:spPr>
          <a:xfrm>
            <a:off x="4389120" y="3657600"/>
            <a:ext cx="7223760" cy="566928"/>
          </a:xfrm>
          <a:prstGeom prst="rect">
            <a:avLst/>
          </a:prstGeom>
          <a:noFill/>
        </p:spPr>
        <p:txBody>
          <a:bodyPr wrap="square">
            <a:spAutoFit/>
          </a:bodyPr>
          <a:lstStyle/>
          <a:p>
            <a:pPr algn="l">
              <a:defRPr sz="1300" b="0" i="0">
                <a:solidFill>
                  <a:srgbClr val="F5F5F5"/>
                </a:solidFill>
                <a:latin typeface="Arial"/>
              </a:defRPr>
            </a:pPr>
            <a:r>
              <a:t>An agent's ability to recall information from earlier conversations, not just the current session. Like a human colleague who remembers what you discussed last week.</a:t>
            </a:r>
          </a:p>
        </p:txBody>
      </p:sp>
      <p:sp>
        <p:nvSpPr>
          <p:cNvPr id="11" name="Rectangle 10"/>
          <p:cNvSpPr/>
          <p:nvPr/>
        </p:nvSpPr>
        <p:spPr>
          <a:xfrm>
            <a:off x="731520" y="4133088"/>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24528"/>
            <a:ext cx="3474720" cy="566928"/>
          </a:xfrm>
          <a:prstGeom prst="rect">
            <a:avLst/>
          </a:prstGeom>
          <a:noFill/>
        </p:spPr>
        <p:txBody>
          <a:bodyPr wrap="square">
            <a:spAutoFit/>
          </a:bodyPr>
          <a:lstStyle/>
          <a:p>
            <a:pPr algn="l">
              <a:defRPr sz="1600" b="1" i="0">
                <a:solidFill>
                  <a:srgbClr val="C81E1E"/>
                </a:solidFill>
                <a:latin typeface="Arial"/>
              </a:defRPr>
            </a:pPr>
            <a:r>
              <a:t>Intelligent UI</a:t>
            </a:r>
          </a:p>
        </p:txBody>
      </p:sp>
      <p:sp>
        <p:nvSpPr>
          <p:cNvPr id="13" name="TextBox 12"/>
          <p:cNvSpPr txBox="1"/>
          <p:nvPr/>
        </p:nvSpPr>
        <p:spPr>
          <a:xfrm>
            <a:off x="4389120" y="4224528"/>
            <a:ext cx="7223760" cy="566928"/>
          </a:xfrm>
          <a:prstGeom prst="rect">
            <a:avLst/>
          </a:prstGeom>
          <a:noFill/>
        </p:spPr>
        <p:txBody>
          <a:bodyPr wrap="square">
            <a:spAutoFit/>
          </a:bodyPr>
          <a:lstStyle/>
          <a:p>
            <a:pPr algn="l">
              <a:defRPr sz="1300" b="0" i="0">
                <a:solidFill>
                  <a:srgbClr val="F5F5F5"/>
                </a:solidFill>
                <a:latin typeface="Arial"/>
              </a:defRPr>
            </a:pPr>
            <a:r>
              <a:t>An interface that the AI builds on the fly around your specific task: buttons, charts, forms, instead of a wall of text.</a:t>
            </a:r>
          </a:p>
        </p:txBody>
      </p:sp>
      <p:sp>
        <p:nvSpPr>
          <p:cNvPr id="14" name="Rectangle 13"/>
          <p:cNvSpPr/>
          <p:nvPr/>
        </p:nvSpPr>
        <p:spPr>
          <a:xfrm>
            <a:off x="731520" y="4700016"/>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91456"/>
            <a:ext cx="3474720" cy="566928"/>
          </a:xfrm>
          <a:prstGeom prst="rect">
            <a:avLst/>
          </a:prstGeom>
          <a:noFill/>
        </p:spPr>
        <p:txBody>
          <a:bodyPr wrap="square">
            <a:spAutoFit/>
          </a:bodyPr>
          <a:lstStyle/>
          <a:p>
            <a:pPr algn="l">
              <a:defRPr sz="1600" b="1" i="0">
                <a:solidFill>
                  <a:srgbClr val="C81E1E"/>
                </a:solidFill>
                <a:latin typeface="Arial"/>
              </a:defRPr>
            </a:pPr>
            <a:r>
              <a:t>Decision model</a:t>
            </a:r>
          </a:p>
        </p:txBody>
      </p:sp>
      <p:sp>
        <p:nvSpPr>
          <p:cNvPr id="16" name="TextBox 15"/>
          <p:cNvSpPr txBox="1"/>
          <p:nvPr/>
        </p:nvSpPr>
        <p:spPr>
          <a:xfrm>
            <a:off x="4389120" y="4791456"/>
            <a:ext cx="7223760" cy="566928"/>
          </a:xfrm>
          <a:prstGeom prst="rect">
            <a:avLst/>
          </a:prstGeom>
          <a:noFill/>
        </p:spPr>
        <p:txBody>
          <a:bodyPr wrap="square">
            <a:spAutoFit/>
          </a:bodyPr>
          <a:lstStyle/>
          <a:p>
            <a:pPr algn="l">
              <a:defRPr sz="1300" b="0" i="0">
                <a:solidFill>
                  <a:srgbClr val="F5F5F5"/>
                </a:solidFill>
                <a:latin typeface="Arial"/>
              </a:defRPr>
            </a:pPr>
            <a:r>
              <a:t>An AI model trained to output choices, scores, or probabilities rather than generating prose. Faster and cheaper for routing and classification.</a:t>
            </a:r>
          </a:p>
        </p:txBody>
      </p:sp>
      <p:sp>
        <p:nvSpPr>
          <p:cNvPr id="17" name="Rectangle 16"/>
          <p:cNvSpPr/>
          <p:nvPr/>
        </p:nvSpPr>
        <p:spPr>
          <a:xfrm>
            <a:off x="731520" y="5266944"/>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358384"/>
            <a:ext cx="3474720" cy="566928"/>
          </a:xfrm>
          <a:prstGeom prst="rect">
            <a:avLst/>
          </a:prstGeom>
          <a:noFill/>
        </p:spPr>
        <p:txBody>
          <a:bodyPr wrap="square">
            <a:spAutoFit/>
          </a:bodyPr>
          <a:lstStyle/>
          <a:p>
            <a:pPr algn="l">
              <a:defRPr sz="1600" b="1" i="0">
                <a:solidFill>
                  <a:srgbClr val="C81E1E"/>
                </a:solidFill>
                <a:latin typeface="Arial"/>
              </a:defRPr>
            </a:pPr>
            <a:r>
              <a:t>Product sunset</a:t>
            </a:r>
          </a:p>
        </p:txBody>
      </p:sp>
      <p:sp>
        <p:nvSpPr>
          <p:cNvPr id="19" name="TextBox 18"/>
          <p:cNvSpPr txBox="1"/>
          <p:nvPr/>
        </p:nvSpPr>
        <p:spPr>
          <a:xfrm>
            <a:off x="4389120" y="5358384"/>
            <a:ext cx="7223760" cy="566928"/>
          </a:xfrm>
          <a:prstGeom prst="rect">
            <a:avLst/>
          </a:prstGeom>
          <a:noFill/>
        </p:spPr>
        <p:txBody>
          <a:bodyPr wrap="square">
            <a:spAutoFit/>
          </a:bodyPr>
          <a:lstStyle/>
          <a:p>
            <a:pPr algn="l">
              <a:defRPr sz="1300" b="0" i="0">
                <a:solidFill>
                  <a:srgbClr val="F5F5F5"/>
                </a:solidFill>
                <a:latin typeface="Arial"/>
              </a:defRPr>
            </a:pPr>
            <a:r>
              <a:t>When a vendor stops selling a product line and migrates users to a replacement. You keep what you have until the deadline, then you move.</a:t>
            </a:r>
          </a:p>
        </p:txBody>
      </p:sp>
      <p:sp>
        <p:nvSpPr>
          <p:cNvPr id="20" name="Rectangle 19"/>
          <p:cNvSpPr/>
          <p:nvPr/>
        </p:nvSpPr>
        <p:spPr>
          <a:xfrm>
            <a:off x="731520" y="5833872"/>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263640"/>
            <a:ext cx="10881360" cy="274320"/>
          </a:xfrm>
          <a:prstGeom prst="rect">
            <a:avLst/>
          </a:prstGeom>
          <a:noFill/>
        </p:spPr>
        <p:txBody>
          <a:bodyPr wrap="square">
            <a:spAutoFit/>
          </a:bodyPr>
          <a:lstStyle/>
          <a:p>
            <a:pPr algn="l">
              <a:defRPr sz="1300" b="0" i="1">
                <a:solidFill>
                  <a:srgbClr val="888888"/>
                </a:solidFill>
                <a:latin typeface="Arial"/>
              </a:defRPr>
            </a:pPr>
            <a:r>
              <a:t>If any of these feel fuzzy, find me at dinner. No dumb questions in this room.</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01</a:t>
            </a:r>
          </a:p>
        </p:txBody>
      </p:sp>
      <p:sp>
        <p:nvSpPr>
          <p:cNvPr id="3" name="TextBox 2"/>
          <p:cNvSpPr txBox="1"/>
          <p:nvPr/>
        </p:nvSpPr>
        <p:spPr>
          <a:xfrm>
            <a:off x="731520" y="1005840"/>
            <a:ext cx="6858000" cy="1645920"/>
          </a:xfrm>
          <a:prstGeom prst="rect">
            <a:avLst/>
          </a:prstGeom>
          <a:noFill/>
        </p:spPr>
        <p:txBody>
          <a:bodyPr wrap="square">
            <a:spAutoFit/>
          </a:bodyPr>
          <a:lstStyle/>
          <a:p>
            <a:pPr algn="l">
              <a:defRPr sz="3800" b="1" i="0">
                <a:solidFill>
                  <a:srgbClr val="F5F5F5"/>
                </a:solidFill>
                <a:latin typeface="Arial"/>
              </a:defRPr>
            </a:pPr>
            <a:r>
              <a:t>Anthropic Cuts</a:t>
            </a:r>
            <a:br/>
            <a:r>
              <a:t>Small-Model Prices 75%</a:t>
            </a:r>
          </a:p>
        </p:txBody>
      </p:sp>
      <p:sp>
        <p:nvSpPr>
          <p:cNvPr id="4" name="Rectangle 3"/>
          <p:cNvSpPr/>
          <p:nvPr/>
        </p:nvSpPr>
        <p:spPr>
          <a:xfrm>
            <a:off x="731520" y="28346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108960"/>
            <a:ext cx="6858000" cy="1280160"/>
          </a:xfrm>
          <a:prstGeom prst="rect">
            <a:avLst/>
          </a:prstGeom>
          <a:noFill/>
        </p:spPr>
        <p:txBody>
          <a:bodyPr wrap="square">
            <a:spAutoFit/>
          </a:bodyPr>
          <a:lstStyle/>
          <a:p>
            <a:pPr algn="l">
              <a:defRPr sz="1400" b="0" i="0">
                <a:solidFill>
                  <a:srgbClr val="AAAAAA"/>
                </a:solidFill>
                <a:latin typeface="Arial"/>
              </a:defRPr>
            </a:pPr>
            <a:r>
              <a:t>Anthropic released Claude Haiku 5.5 on 7 October, the cheapest and fastest model in the Claude family. At $0.10 per million input tokens and $0.50 per million output tokens, it is 75% cheaper than Haiku 4.5. The model is the first Haiku with an adjustable effort setting, positioning it as a capable sub-agent alongside Opus 5.5 and Sonnet 5.5 for high-volume, cost-sensitive work.</a:t>
            </a:r>
          </a:p>
        </p:txBody>
      </p:sp>
      <p:sp>
        <p:nvSpPr>
          <p:cNvPr id="6" name="TextBox 5"/>
          <p:cNvSpPr txBox="1"/>
          <p:nvPr/>
        </p:nvSpPr>
        <p:spPr>
          <a:xfrm>
            <a:off x="731520" y="4572000"/>
            <a:ext cx="7315200" cy="274320"/>
          </a:xfrm>
          <a:prstGeom prst="rect">
            <a:avLst/>
          </a:prstGeom>
          <a:noFill/>
        </p:spPr>
        <p:txBody>
          <a:bodyPr wrap="square">
            <a:spAutoFit/>
          </a:bodyPr>
          <a:lstStyle/>
          <a:p>
            <a:pPr algn="l">
              <a:defRPr sz="1100" b="1" i="0">
                <a:solidFill>
                  <a:srgbClr val="888888"/>
                </a:solidFill>
                <a:latin typeface="Arial"/>
              </a:defRPr>
            </a:pPr>
            <a:r>
              <a:t>7 OCTOBER 2026  ·  ANTHROPIC</a:t>
            </a:r>
          </a:p>
        </p:txBody>
      </p:sp>
      <p:sp>
        <p:nvSpPr>
          <p:cNvPr id="7" name="Rounded Rectangle 6"/>
          <p:cNvSpPr/>
          <p:nvPr/>
        </p:nvSpPr>
        <p:spPr>
          <a:xfrm>
            <a:off x="731520" y="5029200"/>
            <a:ext cx="685800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029200"/>
            <a:ext cx="50800" cy="13716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38928"/>
            <a:ext cx="6537960" cy="11887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Multi-step agent pipelines just got cheaper to run. Route routine steps (routing, extraction, formatting, scoring) to Haiku 5.5 and escalate only reasoning-heavy steps to Sonnet or Opus. That two-tier architecture was always the right design. Now the numbers actually work.</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$0.10 / M</a:t>
            </a:r>
          </a:p>
          <a:p>
            <a:pPr algn="l">
              <a:spcBef>
                <a:spcPts val="600"/>
              </a:spcBef>
              <a:defRPr sz="1200" b="0" i="0">
                <a:solidFill>
                  <a:srgbClr val="AAAAAA"/>
                </a:solidFill>
                <a:latin typeface="Arial"/>
              </a:defRPr>
            </a:pPr>
            <a:r>
              <a:t>Input tokens. Haiku 5.5 API price</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75%</a:t>
            </a:r>
          </a:p>
          <a:p>
            <a:pPr algn="l">
              <a:spcBef>
                <a:spcPts val="600"/>
              </a:spcBef>
              <a:defRPr sz="1200" b="0" i="0">
                <a:solidFill>
                  <a:srgbClr val="AAAAAA"/>
                </a:solidFill>
                <a:latin typeface="Arial"/>
              </a:defRPr>
            </a:pPr>
            <a:r>
              <a:t>Cheaper than Haiku 4.5 on average</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1M tokens</a:t>
            </a:r>
          </a:p>
          <a:p>
            <a:pPr algn="l">
              <a:spcBef>
                <a:spcPts val="600"/>
              </a:spcBef>
              <a:defRPr sz="1200" b="0" i="0">
                <a:solidFill>
                  <a:srgbClr val="AAAAAA"/>
                </a:solidFill>
                <a:latin typeface="Arial"/>
              </a:defRPr>
            </a:pPr>
            <a:r>
              <a:t>Context window</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02</a:t>
            </a:r>
          </a:p>
        </p:txBody>
      </p:sp>
      <p:sp>
        <p:nvSpPr>
          <p:cNvPr id="3" name="TextBox 2"/>
          <p:cNvSpPr txBox="1"/>
          <p:nvPr/>
        </p:nvSpPr>
        <p:spPr>
          <a:xfrm>
            <a:off x="731520" y="1005840"/>
            <a:ext cx="6858000" cy="1645920"/>
          </a:xfrm>
          <a:prstGeom prst="rect">
            <a:avLst/>
          </a:prstGeom>
          <a:noFill/>
        </p:spPr>
        <p:txBody>
          <a:bodyPr wrap="square">
            <a:spAutoFit/>
          </a:bodyPr>
          <a:lstStyle/>
          <a:p>
            <a:pPr algn="l">
              <a:defRPr sz="3800" b="1" i="0">
                <a:solidFill>
                  <a:srgbClr val="F5F5F5"/>
                </a:solidFill>
                <a:latin typeface="Arial"/>
              </a:defRPr>
            </a:pPr>
            <a:r>
              <a:t>Meta Launches</a:t>
            </a:r>
            <a:br/>
            <a:r>
              <a:t>Frontier Agent Models</a:t>
            </a:r>
          </a:p>
        </p:txBody>
      </p:sp>
      <p:sp>
        <p:nvSpPr>
          <p:cNvPr id="4" name="Rectangle 3"/>
          <p:cNvSpPr/>
          <p:nvPr/>
        </p:nvSpPr>
        <p:spPr>
          <a:xfrm>
            <a:off x="731520" y="28346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108960"/>
            <a:ext cx="6858000" cy="1371600"/>
          </a:xfrm>
          <a:prstGeom prst="rect">
            <a:avLst/>
          </a:prstGeom>
          <a:noFill/>
        </p:spPr>
        <p:txBody>
          <a:bodyPr wrap="square">
            <a:spAutoFit/>
          </a:bodyPr>
          <a:lstStyle/>
          <a:p>
            <a:pPr algn="l">
              <a:defRPr sz="1400" b="0" i="0">
                <a:solidFill>
                  <a:srgbClr val="AAAAAA"/>
                </a:solidFill>
                <a:latin typeface="Arial"/>
              </a:defRPr>
            </a:pPr>
            <a:r>
              <a:t>Meta's Superintelligence Labs released Muse Wonder and Muse Wonder Full on 12 October, its first frontier models designed for personal and professional agents. The models introduce Active Memory for cross-conversation recall and Active Focus to keep agents on task when an approach fails. Meta claims frontier performance against GPT-6 and Claude models on agentic benchmarks. Independent verification is not yet available.</a:t>
            </a:r>
          </a:p>
        </p:txBody>
      </p:sp>
      <p:sp>
        <p:nvSpPr>
          <p:cNvPr id="6" name="TextBox 5"/>
          <p:cNvSpPr txBox="1"/>
          <p:nvPr/>
        </p:nvSpPr>
        <p:spPr>
          <a:xfrm>
            <a:off x="731520" y="4663440"/>
            <a:ext cx="7315200" cy="274320"/>
          </a:xfrm>
          <a:prstGeom prst="rect">
            <a:avLst/>
          </a:prstGeom>
          <a:noFill/>
        </p:spPr>
        <p:txBody>
          <a:bodyPr wrap="square">
            <a:spAutoFit/>
          </a:bodyPr>
          <a:lstStyle/>
          <a:p>
            <a:pPr algn="l">
              <a:defRPr sz="1100" b="1" i="0">
                <a:solidFill>
                  <a:srgbClr val="888888"/>
                </a:solidFill>
                <a:latin typeface="Arial"/>
              </a:defRPr>
            </a:pPr>
            <a:r>
              <a:t>12 OCTOBER 2026  ·  META SUPERINTELLIGENCE LABS</a:t>
            </a:r>
          </a:p>
        </p:txBody>
      </p:sp>
      <p:sp>
        <p:nvSpPr>
          <p:cNvPr id="7" name="Rounded Rectangle 6"/>
          <p:cNvSpPr/>
          <p:nvPr/>
        </p:nvSpPr>
        <p:spPr>
          <a:xfrm>
            <a:off x="731520" y="5120640"/>
            <a:ext cx="6858000" cy="12801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120640"/>
            <a:ext cx="50800" cy="12801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30368"/>
            <a:ext cx="6537960" cy="10972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Meta is now competing at the frontier, not just in open-source. The stronger Wonder Full model is paywalled inside Muse Code. Evaluate whether the API-accessible Wonder model fits your use case before treating Meta as a drop-in option.</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Active Memory</a:t>
            </a:r>
          </a:p>
          <a:p>
            <a:pPr algn="l">
              <a:spcBef>
                <a:spcPts val="600"/>
              </a:spcBef>
              <a:defRPr sz="1200" b="0" i="0">
                <a:solidFill>
                  <a:srgbClr val="AAAAAA"/>
                </a:solidFill>
                <a:latin typeface="Arial"/>
              </a:defRPr>
            </a:pPr>
            <a:r>
              <a:t>Cross-conversation context recall for agents</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$20 / $100 mo</a:t>
            </a:r>
          </a:p>
          <a:p>
            <a:pPr algn="l">
              <a:spcBef>
                <a:spcPts val="600"/>
              </a:spcBef>
              <a:defRPr sz="1200" b="0" i="0">
                <a:solidFill>
                  <a:srgbClr val="AAAAAA"/>
                </a:solidFill>
                <a:latin typeface="Arial"/>
              </a:defRPr>
            </a:pPr>
            <a:r>
              <a:t>Muse app access tiers for consumers</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API available</a:t>
            </a:r>
          </a:p>
          <a:p>
            <a:pPr algn="l">
              <a:spcBef>
                <a:spcPts val="600"/>
              </a:spcBef>
              <a:defRPr sz="1200" b="0" i="0">
                <a:solidFill>
                  <a:srgbClr val="AAAAAA"/>
                </a:solidFill>
                <a:latin typeface="Arial"/>
              </a:defRPr>
            </a:pPr>
            <a:r>
              <a:t>Wonder model only. Wonder Full is subscriber-only</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03</a:t>
            </a:r>
          </a:p>
        </p:txBody>
      </p:sp>
      <p:sp>
        <p:nvSpPr>
          <p:cNvPr id="3" name="TextBox 2"/>
          <p:cNvSpPr txBox="1"/>
          <p:nvPr/>
        </p:nvSpPr>
        <p:spPr>
          <a:xfrm>
            <a:off x="731520" y="1005840"/>
            <a:ext cx="6858000" cy="1645920"/>
          </a:xfrm>
          <a:prstGeom prst="rect">
            <a:avLst/>
          </a:prstGeom>
          <a:noFill/>
        </p:spPr>
        <p:txBody>
          <a:bodyPr wrap="square">
            <a:spAutoFit/>
          </a:bodyPr>
          <a:lstStyle/>
          <a:p>
            <a:pPr algn="l">
              <a:defRPr sz="3800" b="1" i="0">
                <a:solidFill>
                  <a:srgbClr val="F5F5F5"/>
                </a:solidFill>
                <a:latin typeface="Arial"/>
              </a:defRPr>
            </a:pPr>
            <a:r>
              <a:t>ChatGPT Builds</a:t>
            </a:r>
            <a:br/>
            <a:r>
              <a:t>Its Own Interfaces</a:t>
            </a:r>
          </a:p>
        </p:txBody>
      </p:sp>
      <p:sp>
        <p:nvSpPr>
          <p:cNvPr id="4" name="Rectangle 3"/>
          <p:cNvSpPr/>
          <p:nvPr/>
        </p:nvSpPr>
        <p:spPr>
          <a:xfrm>
            <a:off x="731520" y="28346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108960"/>
            <a:ext cx="6858000" cy="1371600"/>
          </a:xfrm>
          <a:prstGeom prst="rect">
            <a:avLst/>
          </a:prstGeom>
          <a:noFill/>
        </p:spPr>
        <p:txBody>
          <a:bodyPr wrap="square">
            <a:spAutoFit/>
          </a:bodyPr>
          <a:lstStyle/>
          <a:p>
            <a:pPr algn="l">
              <a:defRPr sz="1400" b="0" i="0">
                <a:solidFill>
                  <a:srgbClr val="AAAAAA"/>
                </a:solidFill>
                <a:latin typeface="Arial"/>
              </a:defRPr>
            </a:pPr>
            <a:r>
              <a:t>OpenAI rolled out Intelligent UI on 7 October, letting ChatGPT respond with tappable buttons, interactive charts, editable graphs, forms, and task-specific calculators instead of plain text. Running on GPT-6 Sol for paid tiers and GPT-6 Luna for free accounts, the model now decides whether to send a text reply or build a small interface around what the user is trying to do.</a:t>
            </a:r>
          </a:p>
        </p:txBody>
      </p:sp>
      <p:sp>
        <p:nvSpPr>
          <p:cNvPr id="6" name="TextBox 5"/>
          <p:cNvSpPr txBox="1"/>
          <p:nvPr/>
        </p:nvSpPr>
        <p:spPr>
          <a:xfrm>
            <a:off x="731520" y="4663440"/>
            <a:ext cx="7315200" cy="274320"/>
          </a:xfrm>
          <a:prstGeom prst="rect">
            <a:avLst/>
          </a:prstGeom>
          <a:noFill/>
        </p:spPr>
        <p:txBody>
          <a:bodyPr wrap="square">
            <a:spAutoFit/>
          </a:bodyPr>
          <a:lstStyle/>
          <a:p>
            <a:pPr algn="l">
              <a:defRPr sz="1100" b="1" i="0">
                <a:solidFill>
                  <a:srgbClr val="888888"/>
                </a:solidFill>
                <a:latin typeface="Arial"/>
              </a:defRPr>
            </a:pPr>
            <a:r>
              <a:t>7 OCTOBER 2026  ·  OPENAI</a:t>
            </a:r>
          </a:p>
        </p:txBody>
      </p:sp>
      <p:sp>
        <p:nvSpPr>
          <p:cNvPr id="7" name="Rounded Rectangle 6"/>
          <p:cNvSpPr/>
          <p:nvPr/>
        </p:nvSpPr>
        <p:spPr>
          <a:xfrm>
            <a:off x="731520" y="5120640"/>
            <a:ext cx="6858000" cy="12801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120640"/>
            <a:ext cx="50800" cy="12801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30368"/>
            <a:ext cx="6537960" cy="10972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If your product's value proposition is 'a nicer interface on top of ChatGPT,' your moat just got thinner. ChatGPT now generates interfaces for itself. Shift your differentiation to data, workflow integrations, or domain expertise that the base model cannot replicate.</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GPT-6 Sol</a:t>
            </a:r>
          </a:p>
          <a:p>
            <a:pPr algn="l">
              <a:spcBef>
                <a:spcPts val="600"/>
              </a:spcBef>
              <a:defRPr sz="1200" b="0" i="0">
                <a:solidFill>
                  <a:srgbClr val="AAAAAA"/>
                </a:solidFill>
                <a:latin typeface="Arial"/>
              </a:defRPr>
            </a:pPr>
            <a:r>
              <a:t>Powers paid tiers (Plus, Pro, Business, Enterprise)</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GPT-6 Luna</a:t>
            </a:r>
          </a:p>
          <a:p>
            <a:pPr algn="l">
              <a:spcBef>
                <a:spcPts val="600"/>
              </a:spcBef>
              <a:defRPr sz="1200" b="0" i="0">
                <a:solidFill>
                  <a:srgbClr val="AAAAAA"/>
                </a:solidFill>
                <a:latin typeface="Arial"/>
              </a:defRPr>
            </a:pPr>
            <a:r>
              <a:t>Powers Free and Go tiers</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7 Oct 2026</a:t>
            </a:r>
          </a:p>
          <a:p>
            <a:pPr algn="l">
              <a:spcBef>
                <a:spcPts val="600"/>
              </a:spcBef>
              <a:defRPr sz="1200" b="0" i="0">
                <a:solidFill>
                  <a:srgbClr val="AAAAAA"/>
                </a:solidFill>
                <a:latin typeface="Arial"/>
              </a:defRPr>
            </a:pPr>
            <a:r>
              <a:t>Rollout started. Text-only opt-out available</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04</a:t>
            </a:r>
          </a:p>
        </p:txBody>
      </p:sp>
      <p:sp>
        <p:nvSpPr>
          <p:cNvPr id="3" name="TextBox 2"/>
          <p:cNvSpPr txBox="1"/>
          <p:nvPr/>
        </p:nvSpPr>
        <p:spPr>
          <a:xfrm>
            <a:off x="731520" y="1005840"/>
            <a:ext cx="6858000" cy="1645920"/>
          </a:xfrm>
          <a:prstGeom prst="rect">
            <a:avLst/>
          </a:prstGeom>
          <a:noFill/>
        </p:spPr>
        <p:txBody>
          <a:bodyPr wrap="square">
            <a:spAutoFit/>
          </a:bodyPr>
          <a:lstStyle/>
          <a:p>
            <a:pPr algn="l">
              <a:defRPr sz="3800" b="1" i="0">
                <a:solidFill>
                  <a:srgbClr val="F5F5F5"/>
                </a:solidFill>
                <a:latin typeface="Arial"/>
              </a:defRPr>
            </a:pPr>
            <a:r>
              <a:t>Google Stops Selling</a:t>
            </a:r>
            <a:br/>
            <a:r>
              <a:t>Gemini Code Assist</a:t>
            </a:r>
          </a:p>
        </p:txBody>
      </p:sp>
      <p:sp>
        <p:nvSpPr>
          <p:cNvPr id="4" name="Rectangle 3"/>
          <p:cNvSpPr/>
          <p:nvPr/>
        </p:nvSpPr>
        <p:spPr>
          <a:xfrm>
            <a:off x="731520" y="28346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108960"/>
            <a:ext cx="6858000" cy="1371600"/>
          </a:xfrm>
          <a:prstGeom prst="rect">
            <a:avLst/>
          </a:prstGeom>
          <a:noFill/>
        </p:spPr>
        <p:txBody>
          <a:bodyPr wrap="square">
            <a:spAutoFit/>
          </a:bodyPr>
          <a:lstStyle/>
          <a:p>
            <a:pPr algn="l">
              <a:defRPr sz="1400" b="0" i="0">
                <a:solidFill>
                  <a:srgbClr val="AAAAAA"/>
                </a:solidFill>
                <a:latin typeface="Arial"/>
              </a:defRPr>
            </a:pPr>
            <a:r>
              <a:t>On 9 October, Google stopped accepting new Standard and Enterprise subscriptions for Gemini Code Assist, redirecting customers to Antigravity. Existing plans continue until contract end, with monthly renewals available until 31 December 2027 and annual plans until 31 January 2027. The consumer Gemini CLI was already retired on 18 June 2026. Google is consolidating its AI developer tooling under the Antigravity brand.</a:t>
            </a:r>
          </a:p>
        </p:txBody>
      </p:sp>
      <p:sp>
        <p:nvSpPr>
          <p:cNvPr id="6" name="TextBox 5"/>
          <p:cNvSpPr txBox="1"/>
          <p:nvPr/>
        </p:nvSpPr>
        <p:spPr>
          <a:xfrm>
            <a:off x="731520" y="4663440"/>
            <a:ext cx="7315200" cy="274320"/>
          </a:xfrm>
          <a:prstGeom prst="rect">
            <a:avLst/>
          </a:prstGeom>
          <a:noFill/>
        </p:spPr>
        <p:txBody>
          <a:bodyPr wrap="square">
            <a:spAutoFit/>
          </a:bodyPr>
          <a:lstStyle/>
          <a:p>
            <a:pPr algn="l">
              <a:defRPr sz="1100" b="1" i="0">
                <a:solidFill>
                  <a:srgbClr val="888888"/>
                </a:solidFill>
                <a:latin typeface="Arial"/>
              </a:defRPr>
            </a:pPr>
            <a:r>
              <a:t>9 OCTOBER 2026  ·  GOOGLE</a:t>
            </a:r>
          </a:p>
        </p:txBody>
      </p:sp>
      <p:sp>
        <p:nvSpPr>
          <p:cNvPr id="7" name="Rounded Rectangle 6"/>
          <p:cNvSpPr/>
          <p:nvPr/>
        </p:nvSpPr>
        <p:spPr>
          <a:xfrm>
            <a:off x="731520" y="5120640"/>
            <a:ext cx="6858000" cy="12801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120640"/>
            <a:ext cx="50800" cy="12801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30368"/>
            <a:ext cx="6537960" cy="10972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Major AI vendors are closing product lines faster than most teams audit their tooling stack. If any AI tool you depend on is not a vendor's current flagship, check its roadmap now. Migrating on your schedule is far cheaper than migrating on a vendor's deadline.</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Oct 9, 2026</a:t>
            </a:r>
          </a:p>
          <a:p>
            <a:pPr algn="l">
              <a:spcBef>
                <a:spcPts val="600"/>
              </a:spcBef>
              <a:defRPr sz="1200" b="0" i="0">
                <a:solidFill>
                  <a:srgbClr val="AAAAAA"/>
                </a:solidFill>
                <a:latin typeface="Arial"/>
              </a:defRPr>
            </a:pPr>
            <a:r>
              <a:t>Last day for new Code Assist subscriptions</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Dec 31, 2027</a:t>
            </a:r>
          </a:p>
          <a:p>
            <a:pPr algn="l">
              <a:spcBef>
                <a:spcPts val="600"/>
              </a:spcBef>
              <a:defRPr sz="1200" b="0" i="0">
                <a:solidFill>
                  <a:srgbClr val="AAAAAA"/>
                </a:solidFill>
                <a:latin typeface="Arial"/>
              </a:defRPr>
            </a:pPr>
            <a:r>
              <a:t>Monthly renewal deadline for existing plans</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Antigravity</a:t>
            </a:r>
          </a:p>
          <a:p>
            <a:pPr algn="l">
              <a:spcBef>
                <a:spcPts val="600"/>
              </a:spcBef>
              <a:defRPr sz="1200" b="0" i="0">
                <a:solidFill>
                  <a:srgbClr val="AAAAAA"/>
                </a:solidFill>
                <a:latin typeface="Arial"/>
              </a:defRPr>
            </a:pPr>
            <a:r>
              <a:t>Google's replacement. Included in Gemini Enterprise</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05</a:t>
            </a:r>
          </a:p>
        </p:txBody>
      </p:sp>
      <p:sp>
        <p:nvSpPr>
          <p:cNvPr id="3" name="TextBox 2"/>
          <p:cNvSpPr txBox="1"/>
          <p:nvPr/>
        </p:nvSpPr>
        <p:spPr>
          <a:xfrm>
            <a:off x="731520" y="1005840"/>
            <a:ext cx="6858000" cy="1645920"/>
          </a:xfrm>
          <a:prstGeom prst="rect">
            <a:avLst/>
          </a:prstGeom>
          <a:noFill/>
        </p:spPr>
        <p:txBody>
          <a:bodyPr wrap="square">
            <a:spAutoFit/>
          </a:bodyPr>
          <a:lstStyle/>
          <a:p>
            <a:pPr algn="l">
              <a:defRPr sz="3800" b="1" i="0">
                <a:solidFill>
                  <a:srgbClr val="F5F5F5"/>
                </a:solidFill>
                <a:latin typeface="Arial"/>
              </a:defRPr>
            </a:pPr>
            <a:r>
              <a:t>A Non-Text Model</a:t>
            </a:r>
            <a:br/>
            <a:r>
              <a:t>Hits $7.5B in Three Weeks</a:t>
            </a:r>
          </a:p>
        </p:txBody>
      </p:sp>
      <p:sp>
        <p:nvSpPr>
          <p:cNvPr id="4" name="Rectangle 3"/>
          <p:cNvSpPr/>
          <p:nvPr/>
        </p:nvSpPr>
        <p:spPr>
          <a:xfrm>
            <a:off x="731520" y="283464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108960"/>
            <a:ext cx="6858000" cy="1371600"/>
          </a:xfrm>
          <a:prstGeom prst="rect">
            <a:avLst/>
          </a:prstGeom>
          <a:noFill/>
        </p:spPr>
        <p:txBody>
          <a:bodyPr wrap="square">
            <a:spAutoFit/>
          </a:bodyPr>
          <a:lstStyle/>
          <a:p>
            <a:pPr algn="l">
              <a:defRPr sz="1400" b="0" i="0">
                <a:solidFill>
                  <a:srgbClr val="AAAAAA"/>
                </a:solidFill>
                <a:latin typeface="Arial"/>
              </a:defRPr>
            </a:pPr>
            <a:r>
              <a:t>TypeSafe AI raised $870 million at a $7.5 billion valuation on 9 October, just three weeks after launching Jev on 15 September. Jev is a decision model: it returns choices, scores, and probabilities rather than generated text, making it purpose-built for classification, routing, and risk-scoring in enterprise pipelines. Andreessen Horowitz led the round, with Sequoia and DCVC participating. TypeSafe claims roughly one-third of the Fortune 500 are customers, but has not named them.</a:t>
            </a:r>
          </a:p>
        </p:txBody>
      </p:sp>
      <p:sp>
        <p:nvSpPr>
          <p:cNvPr id="6" name="TextBox 5"/>
          <p:cNvSpPr txBox="1"/>
          <p:nvPr/>
        </p:nvSpPr>
        <p:spPr>
          <a:xfrm>
            <a:off x="731520" y="4663440"/>
            <a:ext cx="7315200" cy="274320"/>
          </a:xfrm>
          <a:prstGeom prst="rect">
            <a:avLst/>
          </a:prstGeom>
          <a:noFill/>
        </p:spPr>
        <p:txBody>
          <a:bodyPr wrap="square">
            <a:spAutoFit/>
          </a:bodyPr>
          <a:lstStyle/>
          <a:p>
            <a:pPr algn="l">
              <a:defRPr sz="1100" b="1" i="0">
                <a:solidFill>
                  <a:srgbClr val="888888"/>
                </a:solidFill>
                <a:latin typeface="Arial"/>
              </a:defRPr>
            </a:pPr>
            <a:r>
              <a:t>9 OCTOBER 2026  ·  TYPESAFE AI  ·  a16z / SEQUOIA</a:t>
            </a:r>
          </a:p>
        </p:txBody>
      </p:sp>
      <p:sp>
        <p:nvSpPr>
          <p:cNvPr id="7" name="Rounded Rectangle 6"/>
          <p:cNvSpPr/>
          <p:nvPr/>
        </p:nvSpPr>
        <p:spPr>
          <a:xfrm>
            <a:off x="731520" y="5120640"/>
            <a:ext cx="6858000" cy="12801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120640"/>
            <a:ext cx="50800" cy="128016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30368"/>
            <a:ext cx="6537960" cy="109728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Not every AI problem needs a language model. If your product uses a large model to choose between options, a decision model could replace that call at a fraction of the cost and latency. Jev is the first well-funded signal that this category is real.</a:t>
            </a:r>
          </a:p>
        </p:txBody>
      </p:sp>
      <p:sp>
        <p:nvSpPr>
          <p:cNvPr id="10" name="Rounded Rectangle 9"/>
          <p:cNvSpPr/>
          <p:nvPr/>
        </p:nvSpPr>
        <p:spPr>
          <a:xfrm>
            <a:off x="7863840" y="11887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371600"/>
            <a:ext cx="3566160" cy="1097280"/>
          </a:xfrm>
          <a:prstGeom prst="rect">
            <a:avLst/>
          </a:prstGeom>
          <a:noFill/>
        </p:spPr>
        <p:txBody>
          <a:bodyPr wrap="square">
            <a:spAutoFit/>
          </a:bodyPr>
          <a:lstStyle/>
          <a:p>
            <a:pPr algn="l">
              <a:defRPr sz="2600" b="1" i="0">
                <a:solidFill>
                  <a:srgbClr val="C81E1E"/>
                </a:solidFill>
                <a:latin typeface="Arial"/>
              </a:defRPr>
            </a:pPr>
            <a:r>
              <a:t>$870M</a:t>
            </a:r>
          </a:p>
          <a:p>
            <a:pPr algn="l">
              <a:spcBef>
                <a:spcPts val="600"/>
              </a:spcBef>
              <a:defRPr sz="1200" b="0" i="0">
                <a:solidFill>
                  <a:srgbClr val="AAAAAA"/>
                </a:solidFill>
                <a:latin typeface="Arial"/>
              </a:defRPr>
            </a:pPr>
            <a:r>
              <a:t>Raised at $7.5B valuation in a single round</a:t>
            </a:r>
          </a:p>
        </p:txBody>
      </p:sp>
      <p:sp>
        <p:nvSpPr>
          <p:cNvPr id="12" name="Rounded Rectangle 11"/>
          <p:cNvSpPr/>
          <p:nvPr/>
        </p:nvSpPr>
        <p:spPr>
          <a:xfrm>
            <a:off x="7863840" y="274320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926080"/>
            <a:ext cx="3566160" cy="1097280"/>
          </a:xfrm>
          <a:prstGeom prst="rect">
            <a:avLst/>
          </a:prstGeom>
          <a:noFill/>
        </p:spPr>
        <p:txBody>
          <a:bodyPr wrap="square">
            <a:spAutoFit/>
          </a:bodyPr>
          <a:lstStyle/>
          <a:p>
            <a:pPr algn="l">
              <a:defRPr sz="2600" b="1" i="0">
                <a:solidFill>
                  <a:srgbClr val="C81E1E"/>
                </a:solidFill>
                <a:latin typeface="Arial"/>
              </a:defRPr>
            </a:pPr>
            <a:r>
              <a:t>3 weeks</a:t>
            </a:r>
          </a:p>
          <a:p>
            <a:pPr algn="l">
              <a:spcBef>
                <a:spcPts val="600"/>
              </a:spcBef>
              <a:defRPr sz="1200" b="0" i="0">
                <a:solidFill>
                  <a:srgbClr val="AAAAAA"/>
                </a:solidFill>
                <a:latin typeface="Arial"/>
              </a:defRPr>
            </a:pPr>
            <a:r>
              <a:t>From Jev launch (15 Sep) to this funding round</a:t>
            </a:r>
          </a:p>
        </p:txBody>
      </p:sp>
      <p:sp>
        <p:nvSpPr>
          <p:cNvPr id="14" name="Rounded Rectangle 13"/>
          <p:cNvSpPr/>
          <p:nvPr/>
        </p:nvSpPr>
        <p:spPr>
          <a:xfrm>
            <a:off x="7863840" y="429768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480560"/>
            <a:ext cx="3566160" cy="1097280"/>
          </a:xfrm>
          <a:prstGeom prst="rect">
            <a:avLst/>
          </a:prstGeom>
          <a:noFill/>
        </p:spPr>
        <p:txBody>
          <a:bodyPr wrap="square">
            <a:spAutoFit/>
          </a:bodyPr>
          <a:lstStyle/>
          <a:p>
            <a:pPr algn="l">
              <a:defRPr sz="2600" b="1" i="0">
                <a:solidFill>
                  <a:srgbClr val="C81E1E"/>
                </a:solidFill>
                <a:latin typeface="Arial"/>
              </a:defRPr>
            </a:pPr>
            <a:r>
              <a:t>$200M to $7.5B</a:t>
            </a:r>
          </a:p>
          <a:p>
            <a:pPr algn="l">
              <a:spcBef>
                <a:spcPts val="600"/>
              </a:spcBef>
              <a:defRPr sz="1200" b="0" i="0">
                <a:solidFill>
                  <a:srgbClr val="AAAAAA"/>
                </a:solidFill>
                <a:latin typeface="Arial"/>
              </a:defRPr>
            </a:pPr>
            <a:r>
              <a:t>Valuation jump: September seed to October Series A</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ACTION OF THE WEEK</a:t>
            </a:r>
          </a:p>
        </p:txBody>
      </p:sp>
      <p:sp>
        <p:nvSpPr>
          <p:cNvPr id="3" name="TextBox 2"/>
          <p:cNvSpPr txBox="1"/>
          <p:nvPr/>
        </p:nvSpPr>
        <p:spPr>
          <a:xfrm>
            <a:off x="731520" y="1005840"/>
            <a:ext cx="9144000" cy="914400"/>
          </a:xfrm>
          <a:prstGeom prst="rect">
            <a:avLst/>
          </a:prstGeom>
          <a:noFill/>
        </p:spPr>
        <p:txBody>
          <a:bodyPr wrap="square">
            <a:spAutoFit/>
          </a:bodyPr>
          <a:lstStyle/>
          <a:p>
            <a:pPr algn="l">
              <a:defRPr sz="3600" b="1" i="0">
                <a:solidFill>
                  <a:srgbClr val="F5F5F5"/>
                </a:solidFill>
                <a:latin typeface="Arial"/>
              </a:defRPr>
            </a:pPr>
            <a:r>
              <a:t>Try a Two-Tier Agent Pipeline This Week</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8686800" cy="731520"/>
          </a:xfrm>
          <a:prstGeom prst="rect">
            <a:avLst/>
          </a:prstGeom>
          <a:noFill/>
        </p:spPr>
        <p:txBody>
          <a:bodyPr wrap="square">
            <a:spAutoFit/>
          </a:bodyPr>
          <a:lstStyle/>
          <a:p>
            <a:pPr algn="l">
              <a:defRPr sz="1500" b="0" i="0">
                <a:solidFill>
                  <a:srgbClr val="AAAAAA"/>
                </a:solidFill>
                <a:latin typeface="Arial"/>
              </a:defRPr>
            </a:pPr>
            <a:r>
              <a:t>Haiku 5.5 makes the economics viable. This is the week to test it. One hour, real cost data, and a clear answer on whether the two-tier approach works for your use case.</a:t>
            </a:r>
          </a:p>
        </p:txBody>
      </p:sp>
      <p:sp>
        <p:nvSpPr>
          <p:cNvPr id="6" name="Rounded Rectangle 5"/>
          <p:cNvSpPr/>
          <p:nvPr/>
        </p:nvSpPr>
        <p:spPr>
          <a:xfrm>
            <a:off x="9601200" y="1097280"/>
            <a:ext cx="2194560" cy="164592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1371600"/>
            <a:ext cx="2194560" cy="1371600"/>
          </a:xfrm>
          <a:prstGeom prst="rect">
            <a:avLst/>
          </a:prstGeom>
          <a:noFill/>
        </p:spPr>
        <p:txBody>
          <a:bodyPr wrap="square">
            <a:spAutoFit/>
          </a:bodyPr>
          <a:lstStyle/>
          <a:p>
            <a:pPr algn="ctr">
              <a:defRPr sz="5600" b="1" i="0">
                <a:solidFill>
                  <a:srgbClr val="F5F5F5"/>
                </a:solidFill>
                <a:latin typeface="Arial"/>
              </a:defRPr>
            </a:pPr>
            <a:r>
              <a:t>60</a:t>
            </a:r>
          </a:p>
          <a:p>
            <a:pPr algn="ctr">
              <a:spcBef>
                <a:spcPts val="200"/>
              </a:spcBef>
              <a:defRPr sz="1600" b="1" i="0">
                <a:solidFill>
                  <a:srgbClr val="F5F5F5"/>
                </a:solidFill>
                <a:latin typeface="Arial"/>
              </a:defRPr>
            </a:pPr>
            <a:r>
              <a:t>MINUTES</a:t>
            </a:r>
          </a:p>
          <a:p>
            <a:pPr algn="ctr">
              <a:spcBef>
                <a:spcPts val="600"/>
              </a:spcBef>
              <a:defRPr sz="1000" b="0" i="0">
                <a:solidFill>
                  <a:srgbClr val="F5F5F5"/>
                </a:solidFill>
                <a:latin typeface="Arial"/>
              </a:defRPr>
            </a:pPr>
            <a:r>
              <a:t>To try this</a:t>
            </a:r>
          </a:p>
        </p:txBody>
      </p:sp>
      <p:sp>
        <p:nvSpPr>
          <p:cNvPr id="8" name="Rounded Rectangle 7"/>
          <p:cNvSpPr/>
          <p:nvPr/>
        </p:nvSpPr>
        <p:spPr>
          <a:xfrm>
            <a:off x="54864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39312"/>
            <a:ext cx="548640" cy="457200"/>
          </a:xfrm>
          <a:prstGeom prst="rect">
            <a:avLst/>
          </a:prstGeom>
          <a:noFill/>
        </p:spPr>
        <p:txBody>
          <a:bodyPr wrap="square">
            <a:spAutoFit/>
          </a:bodyPr>
          <a:lstStyle/>
          <a:p>
            <a:pPr algn="ctr">
              <a:defRPr sz="1500" b="1" i="0">
                <a:solidFill>
                  <a:srgbClr val="F5F5F5"/>
                </a:solidFill>
                <a:latin typeface="Arial"/>
              </a:defRPr>
            </a:pPr>
            <a:r>
              <a:t>01</a:t>
            </a:r>
          </a:p>
        </p:txBody>
      </p:sp>
      <p:sp>
        <p:nvSpPr>
          <p:cNvPr id="11" name="TextBox 10"/>
          <p:cNvSpPr txBox="1"/>
          <p:nvPr/>
        </p:nvSpPr>
        <p:spPr>
          <a:xfrm>
            <a:off x="1463040" y="3639312"/>
            <a:ext cx="1691640" cy="411480"/>
          </a:xfrm>
          <a:prstGeom prst="rect">
            <a:avLst/>
          </a:prstGeom>
          <a:noFill/>
        </p:spPr>
        <p:txBody>
          <a:bodyPr wrap="square">
            <a:spAutoFit/>
          </a:bodyPr>
          <a:lstStyle/>
          <a:p>
            <a:pPr algn="l">
              <a:defRPr sz="1800" b="1" i="0">
                <a:solidFill>
                  <a:srgbClr val="F5F5F5"/>
                </a:solidFill>
                <a:latin typeface="Arial"/>
              </a:defRPr>
            </a:pPr>
            <a:r>
              <a:t>Pick a task</a:t>
            </a:r>
          </a:p>
        </p:txBody>
      </p:sp>
      <p:sp>
        <p:nvSpPr>
          <p:cNvPr id="12" name="TextBox 11"/>
          <p:cNvSpPr txBox="1"/>
          <p:nvPr/>
        </p:nvSpPr>
        <p:spPr>
          <a:xfrm>
            <a:off x="822960" y="4251960"/>
            <a:ext cx="2240280" cy="640080"/>
          </a:xfrm>
          <a:prstGeom prst="rect">
            <a:avLst/>
          </a:prstGeom>
          <a:noFill/>
        </p:spPr>
        <p:txBody>
          <a:bodyPr wrap="square">
            <a:spAutoFit/>
          </a:bodyPr>
          <a:lstStyle/>
          <a:p>
            <a:pPr algn="l">
              <a:defRPr sz="1200" b="0" i="0">
                <a:solidFill>
                  <a:srgbClr val="AAAAAA"/>
                </a:solidFill>
                <a:latin typeface="Arial"/>
              </a:defRPr>
            </a:pPr>
            <a:r>
              <a:t>One repeating task in your product: routing, tagging, summarising</a:t>
            </a:r>
          </a:p>
        </p:txBody>
      </p:sp>
      <p:sp>
        <p:nvSpPr>
          <p:cNvPr id="13" name="TextBox 12"/>
          <p:cNvSpPr txBox="1"/>
          <p:nvPr/>
        </p:nvSpPr>
        <p:spPr>
          <a:xfrm>
            <a:off x="320497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14" name="Rounded Rectangle 13"/>
          <p:cNvSpPr/>
          <p:nvPr/>
        </p:nvSpPr>
        <p:spPr>
          <a:xfrm>
            <a:off x="333756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1188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639312"/>
            <a:ext cx="548640" cy="457200"/>
          </a:xfrm>
          <a:prstGeom prst="rect">
            <a:avLst/>
          </a:prstGeom>
          <a:noFill/>
        </p:spPr>
        <p:txBody>
          <a:bodyPr wrap="square">
            <a:spAutoFit/>
          </a:bodyPr>
          <a:lstStyle/>
          <a:p>
            <a:pPr algn="ctr">
              <a:defRPr sz="1500" b="1" i="0">
                <a:solidFill>
                  <a:srgbClr val="F5F5F5"/>
                </a:solidFill>
                <a:latin typeface="Arial"/>
              </a:defRPr>
            </a:pPr>
            <a:r>
              <a:t>02</a:t>
            </a:r>
          </a:p>
        </p:txBody>
      </p:sp>
      <p:sp>
        <p:nvSpPr>
          <p:cNvPr id="17" name="TextBox 16"/>
          <p:cNvSpPr txBox="1"/>
          <p:nvPr/>
        </p:nvSpPr>
        <p:spPr>
          <a:xfrm>
            <a:off x="4251960" y="3639312"/>
            <a:ext cx="1691640" cy="411480"/>
          </a:xfrm>
          <a:prstGeom prst="rect">
            <a:avLst/>
          </a:prstGeom>
          <a:noFill/>
        </p:spPr>
        <p:txBody>
          <a:bodyPr wrap="square">
            <a:spAutoFit/>
          </a:bodyPr>
          <a:lstStyle/>
          <a:p>
            <a:pPr algn="l">
              <a:defRPr sz="1800" b="1" i="0">
                <a:solidFill>
                  <a:srgbClr val="F5F5F5"/>
                </a:solidFill>
                <a:latin typeface="Arial"/>
              </a:defRPr>
            </a:pPr>
            <a:r>
              <a:t>Run Sonnet</a:t>
            </a:r>
          </a:p>
        </p:txBody>
      </p:sp>
      <p:sp>
        <p:nvSpPr>
          <p:cNvPr id="18" name="TextBox 17"/>
          <p:cNvSpPr txBox="1"/>
          <p:nvPr/>
        </p:nvSpPr>
        <p:spPr>
          <a:xfrm>
            <a:off x="3611880" y="4251960"/>
            <a:ext cx="2240280" cy="640080"/>
          </a:xfrm>
          <a:prstGeom prst="rect">
            <a:avLst/>
          </a:prstGeom>
          <a:noFill/>
        </p:spPr>
        <p:txBody>
          <a:bodyPr wrap="square">
            <a:spAutoFit/>
          </a:bodyPr>
          <a:lstStyle/>
          <a:p>
            <a:pPr algn="l">
              <a:defRPr sz="1200" b="0" i="0">
                <a:solidFill>
                  <a:srgbClr val="AAAAAA"/>
                </a:solidFill>
                <a:latin typeface="Arial"/>
              </a:defRPr>
            </a:pPr>
            <a:r>
              <a:t>Run 20 examples through claude-sonnet-5-5 and note cost plus quality</a:t>
            </a:r>
          </a:p>
        </p:txBody>
      </p:sp>
      <p:sp>
        <p:nvSpPr>
          <p:cNvPr id="19" name="TextBox 18"/>
          <p:cNvSpPr txBox="1"/>
          <p:nvPr/>
        </p:nvSpPr>
        <p:spPr>
          <a:xfrm>
            <a:off x="599389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0" name="Rounded Rectangle 19"/>
          <p:cNvSpPr/>
          <p:nvPr/>
        </p:nvSpPr>
        <p:spPr>
          <a:xfrm>
            <a:off x="612648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39312"/>
            <a:ext cx="548640" cy="457200"/>
          </a:xfrm>
          <a:prstGeom prst="rect">
            <a:avLst/>
          </a:prstGeom>
          <a:noFill/>
        </p:spPr>
        <p:txBody>
          <a:bodyPr wrap="square">
            <a:spAutoFit/>
          </a:bodyPr>
          <a:lstStyle/>
          <a:p>
            <a:pPr algn="ctr">
              <a:defRPr sz="1500" b="1" i="0">
                <a:solidFill>
                  <a:srgbClr val="F5F5F5"/>
                </a:solidFill>
                <a:latin typeface="Arial"/>
              </a:defRPr>
            </a:pPr>
            <a:r>
              <a:t>03</a:t>
            </a:r>
          </a:p>
        </p:txBody>
      </p:sp>
      <p:sp>
        <p:nvSpPr>
          <p:cNvPr id="23" name="TextBox 22"/>
          <p:cNvSpPr txBox="1"/>
          <p:nvPr/>
        </p:nvSpPr>
        <p:spPr>
          <a:xfrm>
            <a:off x="7040880" y="3639312"/>
            <a:ext cx="1691640" cy="411480"/>
          </a:xfrm>
          <a:prstGeom prst="rect">
            <a:avLst/>
          </a:prstGeom>
          <a:noFill/>
        </p:spPr>
        <p:txBody>
          <a:bodyPr wrap="square">
            <a:spAutoFit/>
          </a:bodyPr>
          <a:lstStyle/>
          <a:p>
            <a:pPr algn="l">
              <a:defRPr sz="1800" b="1" i="0">
                <a:solidFill>
                  <a:srgbClr val="F5F5F5"/>
                </a:solidFill>
                <a:latin typeface="Arial"/>
              </a:defRPr>
            </a:pPr>
            <a:r>
              <a:t>Run Haiku 5.5</a:t>
            </a:r>
          </a:p>
        </p:txBody>
      </p:sp>
      <p:sp>
        <p:nvSpPr>
          <p:cNvPr id="24" name="TextBox 23"/>
          <p:cNvSpPr txBox="1"/>
          <p:nvPr/>
        </p:nvSpPr>
        <p:spPr>
          <a:xfrm>
            <a:off x="6400800" y="4251960"/>
            <a:ext cx="2240280" cy="640080"/>
          </a:xfrm>
          <a:prstGeom prst="rect">
            <a:avLst/>
          </a:prstGeom>
          <a:noFill/>
        </p:spPr>
        <p:txBody>
          <a:bodyPr wrap="square">
            <a:spAutoFit/>
          </a:bodyPr>
          <a:lstStyle/>
          <a:p>
            <a:pPr algn="l">
              <a:defRPr sz="1200" b="0" i="0">
                <a:solidFill>
                  <a:srgbClr val="AAAAAA"/>
                </a:solidFill>
                <a:latin typeface="Arial"/>
              </a:defRPr>
            </a:pPr>
            <a:r>
              <a:t>Run the same 20 through claude-haiku-5-5 at adjustable effort</a:t>
            </a:r>
          </a:p>
        </p:txBody>
      </p:sp>
      <p:sp>
        <p:nvSpPr>
          <p:cNvPr id="25" name="TextBox 24"/>
          <p:cNvSpPr txBox="1"/>
          <p:nvPr/>
        </p:nvSpPr>
        <p:spPr>
          <a:xfrm>
            <a:off x="878281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6" name="Rounded Rectangle 25"/>
          <p:cNvSpPr/>
          <p:nvPr/>
        </p:nvSpPr>
        <p:spPr>
          <a:xfrm>
            <a:off x="891540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2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639312"/>
            <a:ext cx="548640" cy="457200"/>
          </a:xfrm>
          <a:prstGeom prst="rect">
            <a:avLst/>
          </a:prstGeom>
          <a:noFill/>
        </p:spPr>
        <p:txBody>
          <a:bodyPr wrap="square">
            <a:spAutoFit/>
          </a:bodyPr>
          <a:lstStyle/>
          <a:p>
            <a:pPr algn="ctr">
              <a:defRPr sz="1500" b="1" i="0">
                <a:solidFill>
                  <a:srgbClr val="F5F5F5"/>
                </a:solidFill>
                <a:latin typeface="Arial"/>
              </a:defRPr>
            </a:pPr>
            <a:r>
              <a:t>04</a:t>
            </a:r>
          </a:p>
        </p:txBody>
      </p:sp>
      <p:sp>
        <p:nvSpPr>
          <p:cNvPr id="29" name="TextBox 28"/>
          <p:cNvSpPr txBox="1"/>
          <p:nvPr/>
        </p:nvSpPr>
        <p:spPr>
          <a:xfrm>
            <a:off x="9829800" y="3639312"/>
            <a:ext cx="1691640" cy="411480"/>
          </a:xfrm>
          <a:prstGeom prst="rect">
            <a:avLst/>
          </a:prstGeom>
          <a:noFill/>
        </p:spPr>
        <p:txBody>
          <a:bodyPr wrap="square">
            <a:spAutoFit/>
          </a:bodyPr>
          <a:lstStyle/>
          <a:p>
            <a:pPr algn="l">
              <a:defRPr sz="1800" b="1" i="0">
                <a:solidFill>
                  <a:srgbClr val="F5F5F5"/>
                </a:solidFill>
                <a:latin typeface="Arial"/>
              </a:defRPr>
            </a:pPr>
            <a:r>
              <a:t>Compare</a:t>
            </a:r>
          </a:p>
        </p:txBody>
      </p:sp>
      <p:sp>
        <p:nvSpPr>
          <p:cNvPr id="30" name="TextBox 29"/>
          <p:cNvSpPr txBox="1"/>
          <p:nvPr/>
        </p:nvSpPr>
        <p:spPr>
          <a:xfrm>
            <a:off x="9189720" y="4251960"/>
            <a:ext cx="2240280" cy="640080"/>
          </a:xfrm>
          <a:prstGeom prst="rect">
            <a:avLst/>
          </a:prstGeom>
          <a:noFill/>
        </p:spPr>
        <p:txBody>
          <a:bodyPr wrap="square">
            <a:spAutoFit/>
          </a:bodyPr>
          <a:lstStyle/>
          <a:p>
            <a:pPr algn="l">
              <a:defRPr sz="1200" b="0" i="0">
                <a:solidFill>
                  <a:srgbClr val="AAAAAA"/>
                </a:solidFill>
                <a:latin typeface="Arial"/>
              </a:defRPr>
            </a:pPr>
            <a:r>
              <a:t>Note where Haiku 5.5 matches quality. Route those calls permanently</a:t>
            </a:r>
          </a:p>
        </p:txBody>
      </p:sp>
      <p:sp>
        <p:nvSpPr>
          <p:cNvPr id="31" name="Rounded Rectangle 30"/>
          <p:cNvSpPr/>
          <p:nvPr/>
        </p:nvSpPr>
        <p:spPr>
          <a:xfrm>
            <a:off x="731520" y="5257800"/>
            <a:ext cx="10698480" cy="11430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257800"/>
            <a:ext cx="50800" cy="11430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367528"/>
            <a:ext cx="10378440" cy="9601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Most AI products overspend on the last 20% of steps that a cheap model handles just as well. Signal 01 gave you a 75% cheaper option for those steps. The only cost is one hour to find out where the quality line is.</a:t>
            </a:r>
          </a:p>
        </p:txBody>
      </p:sp>
      <p:sp>
        <p:nvSpPr>
          <p:cNvPr id="34" name="TextBox 3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35" name="TextBox 3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BY TIER</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000" b="1" i="0">
                <a:solidFill>
                  <a:srgbClr val="F5F5F5"/>
                </a:solidFill>
                <a:latin typeface="Arial"/>
              </a:defRPr>
            </a:pPr>
            <a:r>
              <a:t>What To Do With This Week's News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548640"/>
          </a:xfrm>
          <a:prstGeom prst="rect">
            <a:avLst/>
          </a:prstGeom>
          <a:noFill/>
        </p:spPr>
        <p:txBody>
          <a:bodyPr wrap="square">
            <a:spAutoFit/>
          </a:bodyPr>
          <a:lstStyle/>
          <a:p>
            <a:pPr algn="l">
              <a:defRPr sz="1600" b="0" i="0">
                <a:solidFill>
                  <a:srgbClr val="AAAAAA"/>
                </a:solidFill>
                <a:latin typeface="Arial"/>
              </a:defRPr>
            </a:pPr>
            <a:r>
              <a:t>One action calibrated to where you are right now. Pick your column.</a:t>
            </a:r>
          </a:p>
        </p:txBody>
      </p:sp>
      <p:sp>
        <p:nvSpPr>
          <p:cNvPr id="6" name="Rounded Rectangle 5"/>
          <p:cNvSpPr/>
          <p:nvPr/>
        </p:nvSpPr>
        <p:spPr>
          <a:xfrm>
            <a:off x="45720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3108960" cy="274320"/>
          </a:xfrm>
          <a:prstGeom prst="rect">
            <a:avLst/>
          </a:prstGeom>
          <a:noFill/>
        </p:spPr>
        <p:txBody>
          <a:bodyPr wrap="square">
            <a:spAutoFit/>
          </a:bodyPr>
          <a:lstStyle/>
          <a:p>
            <a:pPr algn="l">
              <a:defRPr sz="1200" b="1" i="0">
                <a:solidFill>
                  <a:srgbClr val="C81E1E"/>
                </a:solidFill>
                <a:latin typeface="Arial"/>
              </a:defRPr>
            </a:pPr>
            <a:r>
              <a:t>TIER 1, EXPLORER</a:t>
            </a:r>
          </a:p>
        </p:txBody>
      </p:sp>
      <p:sp>
        <p:nvSpPr>
          <p:cNvPr id="9" name="TextBox 8"/>
          <p:cNvSpPr txBox="1"/>
          <p:nvPr/>
        </p:nvSpPr>
        <p:spPr>
          <a:xfrm>
            <a:off x="731520" y="3611880"/>
            <a:ext cx="3108960" cy="548640"/>
          </a:xfrm>
          <a:prstGeom prst="rect">
            <a:avLst/>
          </a:prstGeom>
          <a:noFill/>
        </p:spPr>
        <p:txBody>
          <a:bodyPr wrap="square">
            <a:spAutoFit/>
          </a:bodyPr>
          <a:lstStyle/>
          <a:p>
            <a:pPr algn="l">
              <a:defRPr sz="2000" b="1" i="0">
                <a:solidFill>
                  <a:srgbClr val="F5F5F5"/>
                </a:solidFill>
                <a:latin typeface="Arial"/>
              </a:defRPr>
            </a:pPr>
            <a:r>
              <a:t>Test Haiku 5.5 today</a:t>
            </a:r>
          </a:p>
        </p:txBody>
      </p:sp>
      <p:sp>
        <p:nvSpPr>
          <p:cNvPr id="10" name="TextBox 9"/>
          <p:cNvSpPr txBox="1"/>
          <p:nvPr/>
        </p:nvSpPr>
        <p:spPr>
          <a:xfrm>
            <a:off x="731520" y="4389120"/>
            <a:ext cx="3108960" cy="1645919"/>
          </a:xfrm>
          <a:prstGeom prst="rect">
            <a:avLst/>
          </a:prstGeom>
          <a:noFill/>
        </p:spPr>
        <p:txBody>
          <a:bodyPr wrap="square">
            <a:spAutoFit/>
          </a:bodyPr>
          <a:lstStyle/>
          <a:p>
            <a:pPr algn="l">
              <a:defRPr sz="1200" b="0" i="0">
                <a:solidFill>
                  <a:srgbClr val="AAAAAA"/>
                </a:solidFill>
                <a:latin typeface="Arial"/>
              </a:defRPr>
            </a:pPr>
            <a:r>
              <a:t>•  Open claude.ai or the API console</a:t>
            </a:r>
            <a:br/>
            <a:br/>
            <a:r>
              <a:t>•  Ask the same question to claude-haiku-5-5 and claude-sonnet-5-5</a:t>
            </a:r>
            <a:br/>
            <a:br/>
            <a:r>
              <a:t>•  Compare the answers. Notice where quality differs and where it does not</a:t>
            </a:r>
          </a:p>
        </p:txBody>
      </p:sp>
      <p:sp>
        <p:nvSpPr>
          <p:cNvPr id="11" name="TextBox 10"/>
          <p:cNvSpPr txBox="1"/>
          <p:nvPr/>
        </p:nvSpPr>
        <p:spPr>
          <a:xfrm>
            <a:off x="731520" y="6126479"/>
            <a:ext cx="3108960" cy="365760"/>
          </a:xfrm>
          <a:prstGeom prst="rect">
            <a:avLst/>
          </a:prstGeom>
          <a:noFill/>
        </p:spPr>
        <p:txBody>
          <a:bodyPr wrap="square">
            <a:spAutoFit/>
          </a:bodyPr>
          <a:lstStyle/>
          <a:p>
            <a:pPr algn="l">
              <a:defRPr sz="1200" b="1" i="1">
                <a:solidFill>
                  <a:srgbClr val="C81E1E"/>
                </a:solidFill>
                <a:latin typeface="Arial"/>
              </a:defRPr>
            </a:pPr>
            <a:r>
              <a:t>Goal: get a feel for where cheap models are good enough</a:t>
            </a:r>
          </a:p>
        </p:txBody>
      </p:sp>
      <p:sp>
        <p:nvSpPr>
          <p:cNvPr id="12" name="Rounded Rectangle 11"/>
          <p:cNvSpPr/>
          <p:nvPr/>
        </p:nvSpPr>
        <p:spPr>
          <a:xfrm>
            <a:off x="425196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246120"/>
            <a:ext cx="3108960" cy="274320"/>
          </a:xfrm>
          <a:prstGeom prst="rect">
            <a:avLst/>
          </a:prstGeom>
          <a:noFill/>
        </p:spPr>
        <p:txBody>
          <a:bodyPr wrap="square">
            <a:spAutoFit/>
          </a:bodyPr>
          <a:lstStyle/>
          <a:p>
            <a:pPr algn="l">
              <a:defRPr sz="1200" b="1" i="0">
                <a:solidFill>
                  <a:srgbClr val="C81E1E"/>
                </a:solidFill>
                <a:latin typeface="Arial"/>
              </a:defRPr>
            </a:pPr>
            <a:r>
              <a:t>TIER 2, OPERATOR</a:t>
            </a:r>
          </a:p>
        </p:txBody>
      </p:sp>
      <p:sp>
        <p:nvSpPr>
          <p:cNvPr id="15" name="TextBox 14"/>
          <p:cNvSpPr txBox="1"/>
          <p:nvPr/>
        </p:nvSpPr>
        <p:spPr>
          <a:xfrm>
            <a:off x="4526280" y="3611880"/>
            <a:ext cx="3108960" cy="548640"/>
          </a:xfrm>
          <a:prstGeom prst="rect">
            <a:avLst/>
          </a:prstGeom>
          <a:noFill/>
        </p:spPr>
        <p:txBody>
          <a:bodyPr wrap="square">
            <a:spAutoFit/>
          </a:bodyPr>
          <a:lstStyle/>
          <a:p>
            <a:pPr algn="l">
              <a:defRPr sz="2000" b="1" i="0">
                <a:solidFill>
                  <a:srgbClr val="F5F5F5"/>
                </a:solidFill>
                <a:latin typeface="Arial"/>
              </a:defRPr>
            </a:pPr>
            <a:r>
              <a:t>Audit your AI tooling stack</a:t>
            </a:r>
          </a:p>
        </p:txBody>
      </p:sp>
      <p:sp>
        <p:nvSpPr>
          <p:cNvPr id="16" name="TextBox 15"/>
          <p:cNvSpPr txBox="1"/>
          <p:nvPr/>
        </p:nvSpPr>
        <p:spPr>
          <a:xfrm>
            <a:off x="4526280" y="4389120"/>
            <a:ext cx="3108960" cy="1645919"/>
          </a:xfrm>
          <a:prstGeom prst="rect">
            <a:avLst/>
          </a:prstGeom>
          <a:noFill/>
        </p:spPr>
        <p:txBody>
          <a:bodyPr wrap="square">
            <a:spAutoFit/>
          </a:bodyPr>
          <a:lstStyle/>
          <a:p>
            <a:pPr algn="l">
              <a:defRPr sz="1200" b="0" i="0">
                <a:solidFill>
                  <a:srgbClr val="AAAAAA"/>
                </a:solidFill>
                <a:latin typeface="Arial"/>
              </a:defRPr>
            </a:pPr>
            <a:r>
              <a:t>•  List every AI tool your team uses today</a:t>
            </a:r>
            <a:br/>
            <a:br/>
            <a:r>
              <a:t>•  For each one, check: is this the vendor's current flagship product?</a:t>
            </a:r>
            <a:br/>
            <a:br/>
            <a:r>
              <a:t>•  Flag anything on a sunset path and plan the migration before the deadline</a:t>
            </a:r>
          </a:p>
        </p:txBody>
      </p:sp>
      <p:sp>
        <p:nvSpPr>
          <p:cNvPr id="17" name="TextBox 16"/>
          <p:cNvSpPr txBox="1"/>
          <p:nvPr/>
        </p:nvSpPr>
        <p:spPr>
          <a:xfrm>
            <a:off x="4526280" y="6126479"/>
            <a:ext cx="3108960" cy="365760"/>
          </a:xfrm>
          <a:prstGeom prst="rect">
            <a:avLst/>
          </a:prstGeom>
          <a:noFill/>
        </p:spPr>
        <p:txBody>
          <a:bodyPr wrap="square">
            <a:spAutoFit/>
          </a:bodyPr>
          <a:lstStyle/>
          <a:p>
            <a:pPr algn="l">
              <a:defRPr sz="1200" b="1" i="1">
                <a:solidFill>
                  <a:srgbClr val="C81E1E"/>
                </a:solidFill>
                <a:latin typeface="Arial"/>
              </a:defRPr>
            </a:pPr>
            <a:r>
              <a:t>Goal: know your migration risk before it becomes urgent</a:t>
            </a:r>
          </a:p>
        </p:txBody>
      </p:sp>
      <p:sp>
        <p:nvSpPr>
          <p:cNvPr id="18" name="Rounded Rectangle 17"/>
          <p:cNvSpPr/>
          <p:nvPr/>
        </p:nvSpPr>
        <p:spPr>
          <a:xfrm>
            <a:off x="804672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246120"/>
            <a:ext cx="3108960" cy="274320"/>
          </a:xfrm>
          <a:prstGeom prst="rect">
            <a:avLst/>
          </a:prstGeom>
          <a:noFill/>
        </p:spPr>
        <p:txBody>
          <a:bodyPr wrap="square">
            <a:spAutoFit/>
          </a:bodyPr>
          <a:lstStyle/>
          <a:p>
            <a:pPr algn="l">
              <a:defRPr sz="1200" b="1" i="0">
                <a:solidFill>
                  <a:srgbClr val="C81E1E"/>
                </a:solidFill>
                <a:latin typeface="Arial"/>
              </a:defRPr>
            </a:pPr>
            <a:r>
              <a:t>TIER 3, BUILDER</a:t>
            </a:r>
          </a:p>
        </p:txBody>
      </p:sp>
      <p:sp>
        <p:nvSpPr>
          <p:cNvPr id="21" name="TextBox 20"/>
          <p:cNvSpPr txBox="1"/>
          <p:nvPr/>
        </p:nvSpPr>
        <p:spPr>
          <a:xfrm>
            <a:off x="8321040" y="3611880"/>
            <a:ext cx="3108960" cy="548640"/>
          </a:xfrm>
          <a:prstGeom prst="rect">
            <a:avLst/>
          </a:prstGeom>
          <a:noFill/>
        </p:spPr>
        <p:txBody>
          <a:bodyPr wrap="square">
            <a:spAutoFit/>
          </a:bodyPr>
          <a:lstStyle/>
          <a:p>
            <a:pPr algn="l">
              <a:defRPr sz="2000" b="1" i="0">
                <a:solidFill>
                  <a:srgbClr val="F5F5F5"/>
                </a:solidFill>
                <a:latin typeface="Arial"/>
              </a:defRPr>
            </a:pPr>
            <a:r>
              <a:t>Build a model router</a:t>
            </a:r>
          </a:p>
        </p:txBody>
      </p:sp>
      <p:sp>
        <p:nvSpPr>
          <p:cNvPr id="22" name="TextBox 21"/>
          <p:cNvSpPr txBox="1"/>
          <p:nvPr/>
        </p:nvSpPr>
        <p:spPr>
          <a:xfrm>
            <a:off x="8321040" y="4389120"/>
            <a:ext cx="3108960" cy="1645919"/>
          </a:xfrm>
          <a:prstGeom prst="rect">
            <a:avLst/>
          </a:prstGeom>
          <a:noFill/>
        </p:spPr>
        <p:txBody>
          <a:bodyPr wrap="square">
            <a:spAutoFit/>
          </a:bodyPr>
          <a:lstStyle/>
          <a:p>
            <a:pPr algn="l">
              <a:defRPr sz="1200" b="0" i="0">
                <a:solidFill>
                  <a:srgbClr val="AAAAAA"/>
                </a:solidFill>
                <a:latin typeface="Arial"/>
              </a:defRPr>
            </a:pPr>
            <a:r>
              <a:t>•  Classify incoming requests by complexity (simple, moderate, complex)</a:t>
            </a:r>
            <a:br/>
            <a:br/>
            <a:r>
              <a:t>•  Route simple and moderate to claude-haiku-5-5 with adjustable effort</a:t>
            </a:r>
            <a:br/>
            <a:br/>
            <a:r>
              <a:t>•  Reserve claude-sonnet-5-5 or opus for complex reasoning only</a:t>
            </a:r>
          </a:p>
        </p:txBody>
      </p:sp>
      <p:sp>
        <p:nvSpPr>
          <p:cNvPr id="23" name="TextBox 22"/>
          <p:cNvSpPr txBox="1"/>
          <p:nvPr/>
        </p:nvSpPr>
        <p:spPr>
          <a:xfrm>
            <a:off x="8321040" y="6126479"/>
            <a:ext cx="3108960" cy="365760"/>
          </a:xfrm>
          <a:prstGeom prst="rect">
            <a:avLst/>
          </a:prstGeom>
          <a:noFill/>
        </p:spPr>
        <p:txBody>
          <a:bodyPr wrap="square">
            <a:spAutoFit/>
          </a:bodyPr>
          <a:lstStyle/>
          <a:p>
            <a:pPr algn="l">
              <a:defRPr sz="1200" b="1" i="1">
                <a:solidFill>
                  <a:srgbClr val="C81E1E"/>
                </a:solidFill>
                <a:latin typeface="Arial"/>
              </a:defRPr>
            </a:pPr>
            <a:r>
              <a:t>Goal: cut AI cost 50% to 70% without degrading output quality</a:t>
            </a:r>
          </a:p>
        </p:txBody>
      </p:sp>
      <p:sp>
        <p:nvSpPr>
          <p:cNvPr id="24" name="TextBox 2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5" name="TextBox 2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BUILDER SPOTLIGHT</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800" b="1" i="0">
                <a:solidFill>
                  <a:srgbClr val="F5F5F5"/>
                </a:solidFill>
                <a:latin typeface="Arial"/>
              </a:defRPr>
            </a:pPr>
            <a:r>
              <a:t>Spotlight 1</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286000"/>
            <a:ext cx="10698480" cy="41148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474720"/>
            <a:ext cx="7772400" cy="1645920"/>
          </a:xfrm>
          <a:prstGeom prst="rect">
            <a:avLst/>
          </a:prstGeom>
          <a:noFill/>
        </p:spPr>
        <p:txBody>
          <a:bodyPr wrap="square">
            <a:spAutoFit/>
          </a:bodyPr>
          <a:lstStyle/>
          <a:p>
            <a:pPr algn="ctr">
              <a:defRPr sz="2200" b="0" i="1">
                <a:solidFill>
                  <a:srgbClr val="888888"/>
                </a:solidFill>
                <a:latin typeface="Arial"/>
              </a:defRPr>
            </a:pPr>
            <a:r>
              <a:t>[Builder name, company]</a:t>
            </a:r>
            <a:br/>
            <a:r>
              <a:t>[What they built and how they use AI in it]</a:t>
            </a:r>
            <a:br/>
            <a:r>
              <a:t>[Key result or metric]</a:t>
            </a:r>
          </a:p>
        </p:txBody>
      </p:sp>
      <p:sp>
        <p:nvSpPr>
          <p:cNvPr id="7" name="TextBox 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8" name="TextBox 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BUILDER SPOTLIGHT</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800" b="1" i="0">
                <a:solidFill>
                  <a:srgbClr val="F5F5F5"/>
                </a:solidFill>
                <a:latin typeface="Arial"/>
              </a:defRPr>
            </a:pPr>
            <a:r>
              <a:t>Spotlight 2</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286000"/>
            <a:ext cx="10698480" cy="41148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474720"/>
            <a:ext cx="7772400" cy="1645920"/>
          </a:xfrm>
          <a:prstGeom prst="rect">
            <a:avLst/>
          </a:prstGeom>
          <a:noFill/>
        </p:spPr>
        <p:txBody>
          <a:bodyPr wrap="square">
            <a:spAutoFit/>
          </a:bodyPr>
          <a:lstStyle/>
          <a:p>
            <a:pPr algn="ctr">
              <a:defRPr sz="2200" b="0" i="1">
                <a:solidFill>
                  <a:srgbClr val="888888"/>
                </a:solidFill>
                <a:latin typeface="Arial"/>
              </a:defRPr>
            </a:pPr>
            <a:r>
              <a:t>[Builder name, company]</a:t>
            </a:r>
            <a:br/>
            <a:r>
              <a:t>[What they built and how they use AI in it]</a:t>
            </a:r>
            <a:br/>
            <a:r>
              <a:t>[Key result or metric]</a:t>
            </a:r>
          </a:p>
        </p:txBody>
      </p:sp>
      <p:sp>
        <p:nvSpPr>
          <p:cNvPr id="7" name="TextBox 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8" name="TextBox 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COMMUNITY WINS</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400" b="1" i="0">
                <a:solidFill>
                  <a:srgbClr val="F5F5F5"/>
                </a:solidFill>
                <a:latin typeface="Arial"/>
              </a:defRPr>
            </a:pPr>
            <a:r>
              <a:t>Wins From The Room</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731520"/>
          </a:xfrm>
          <a:prstGeom prst="rect">
            <a:avLst/>
          </a:prstGeom>
          <a:noFill/>
        </p:spPr>
        <p:txBody>
          <a:bodyPr wrap="square">
            <a:spAutoFit/>
          </a:bodyPr>
          <a:lstStyle/>
          <a:p>
            <a:pPr algn="l">
              <a:defRPr sz="1500" b="0" i="0">
                <a:solidFill>
                  <a:srgbClr val="AAAAAA"/>
                </a:solidFill>
                <a:latin typeface="Arial"/>
              </a:defRPr>
            </a:pPr>
            <a:r>
              <a:t>Members who shipped something since Edition 26. This is what the community looks like when it builds in public.</a:t>
            </a:r>
          </a:p>
        </p:txBody>
      </p:sp>
      <p:sp>
        <p:nvSpPr>
          <p:cNvPr id="6" name="Rounded Rectangle 5"/>
          <p:cNvSpPr/>
          <p:nvPr/>
        </p:nvSpPr>
        <p:spPr>
          <a:xfrm>
            <a:off x="45720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8308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3730752"/>
            <a:ext cx="1005840" cy="548640"/>
          </a:xfrm>
          <a:prstGeom prst="rect">
            <a:avLst/>
          </a:prstGeom>
          <a:noFill/>
        </p:spPr>
        <p:txBody>
          <a:bodyPr wrap="square">
            <a:spAutoFit/>
          </a:bodyPr>
          <a:lstStyle/>
          <a:p>
            <a:pPr algn="ctr">
              <a:defRPr sz="2200" b="1" i="0">
                <a:solidFill>
                  <a:srgbClr val="F5F5F5"/>
                </a:solidFill>
                <a:latin typeface="Arial"/>
              </a:defRPr>
            </a:pPr>
            <a:r>
              <a:t>M1</a:t>
            </a:r>
          </a:p>
        </p:txBody>
      </p:sp>
      <p:sp>
        <p:nvSpPr>
          <p:cNvPr id="9" name="TextBox 8"/>
          <p:cNvSpPr txBox="1"/>
          <p:nvPr/>
        </p:nvSpPr>
        <p:spPr>
          <a:xfrm>
            <a:off x="731520" y="4617720"/>
            <a:ext cx="3108960" cy="365760"/>
          </a:xfrm>
          <a:prstGeom prst="rect">
            <a:avLst/>
          </a:prstGeom>
          <a:noFill/>
        </p:spPr>
        <p:txBody>
          <a:bodyPr wrap="square">
            <a:spAutoFit/>
          </a:bodyPr>
          <a:lstStyle/>
          <a:p>
            <a:pPr algn="ctr">
              <a:defRPr sz="1800" b="1" i="0">
                <a:solidFill>
                  <a:srgbClr val="F5F5F5"/>
                </a:solidFill>
                <a:latin typeface="Arial"/>
              </a:defRPr>
            </a:pPr>
            <a:r>
              <a:t>[Member 1 name]</a:t>
            </a:r>
          </a:p>
        </p:txBody>
      </p:sp>
      <p:sp>
        <p:nvSpPr>
          <p:cNvPr id="10" name="TextBox 9"/>
          <p:cNvSpPr txBox="1"/>
          <p:nvPr/>
        </p:nvSpPr>
        <p:spPr>
          <a:xfrm>
            <a:off x="731520" y="5029200"/>
            <a:ext cx="3108960" cy="274320"/>
          </a:xfrm>
          <a:prstGeom prst="rect">
            <a:avLst/>
          </a:prstGeom>
          <a:noFill/>
        </p:spPr>
        <p:txBody>
          <a:bodyPr wrap="square">
            <a:spAutoFit/>
          </a:bodyPr>
          <a:lstStyle/>
          <a:p>
            <a:pPr algn="ctr">
              <a:defRPr sz="1200" b="0" i="1">
                <a:solidFill>
                  <a:srgbClr val="888888"/>
                </a:solidFill>
                <a:latin typeface="Arial"/>
              </a:defRPr>
            </a:pPr>
            <a:r>
              <a:t>[Founder, Company  /  Operator, Industry]</a:t>
            </a:r>
          </a:p>
        </p:txBody>
      </p:sp>
      <p:sp>
        <p:nvSpPr>
          <p:cNvPr id="11" name="TextBox 10"/>
          <p:cNvSpPr txBox="1"/>
          <p:nvPr/>
        </p:nvSpPr>
        <p:spPr>
          <a:xfrm>
            <a:off x="731520" y="5440680"/>
            <a:ext cx="3108960" cy="822960"/>
          </a:xfrm>
          <a:prstGeom prst="rect">
            <a:avLst/>
          </a:prstGeom>
          <a:noFill/>
        </p:spPr>
        <p:txBody>
          <a:bodyPr wrap="square">
            <a:spAutoFit/>
          </a:bodyPr>
          <a:lstStyle/>
          <a:p>
            <a:pPr algn="ctr">
              <a:defRPr sz="1200" b="0" i="0">
                <a:solidFill>
                  <a:srgbClr val="AAAAAA"/>
                </a:solidFill>
                <a:latin typeface="Arial"/>
              </a:defRPr>
            </a:pPr>
            <a:r>
              <a:t>Tell me what you shipped this week.</a:t>
            </a:r>
          </a:p>
        </p:txBody>
      </p:sp>
      <p:sp>
        <p:nvSpPr>
          <p:cNvPr id="12" name="Rounded Rectangle 11"/>
          <p:cNvSpPr/>
          <p:nvPr/>
        </p:nvSpPr>
        <p:spPr>
          <a:xfrm>
            <a:off x="425196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7784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730752"/>
            <a:ext cx="1005840" cy="548640"/>
          </a:xfrm>
          <a:prstGeom prst="rect">
            <a:avLst/>
          </a:prstGeom>
          <a:noFill/>
        </p:spPr>
        <p:txBody>
          <a:bodyPr wrap="square">
            <a:spAutoFit/>
          </a:bodyPr>
          <a:lstStyle/>
          <a:p>
            <a:pPr algn="ctr">
              <a:defRPr sz="2200" b="1" i="0">
                <a:solidFill>
                  <a:srgbClr val="F5F5F5"/>
                </a:solidFill>
                <a:latin typeface="Arial"/>
              </a:defRPr>
            </a:pPr>
            <a:r>
              <a:t>M2</a:t>
            </a:r>
          </a:p>
        </p:txBody>
      </p:sp>
      <p:sp>
        <p:nvSpPr>
          <p:cNvPr id="15" name="TextBox 14"/>
          <p:cNvSpPr txBox="1"/>
          <p:nvPr/>
        </p:nvSpPr>
        <p:spPr>
          <a:xfrm>
            <a:off x="4526280" y="4617720"/>
            <a:ext cx="3108960" cy="365760"/>
          </a:xfrm>
          <a:prstGeom prst="rect">
            <a:avLst/>
          </a:prstGeom>
          <a:noFill/>
        </p:spPr>
        <p:txBody>
          <a:bodyPr wrap="square">
            <a:spAutoFit/>
          </a:bodyPr>
          <a:lstStyle/>
          <a:p>
            <a:pPr algn="ctr">
              <a:defRPr sz="1800" b="1" i="0">
                <a:solidFill>
                  <a:srgbClr val="F5F5F5"/>
                </a:solidFill>
                <a:latin typeface="Arial"/>
              </a:defRPr>
            </a:pPr>
            <a:r>
              <a:t>[Member 2 name]</a:t>
            </a:r>
          </a:p>
        </p:txBody>
      </p:sp>
      <p:sp>
        <p:nvSpPr>
          <p:cNvPr id="16" name="TextBox 15"/>
          <p:cNvSpPr txBox="1"/>
          <p:nvPr/>
        </p:nvSpPr>
        <p:spPr>
          <a:xfrm>
            <a:off x="452628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7" name="TextBox 16"/>
          <p:cNvSpPr txBox="1"/>
          <p:nvPr/>
        </p:nvSpPr>
        <p:spPr>
          <a:xfrm>
            <a:off x="4526280" y="5440680"/>
            <a:ext cx="3108960" cy="822960"/>
          </a:xfrm>
          <a:prstGeom prst="rect">
            <a:avLst/>
          </a:prstGeom>
          <a:noFill/>
        </p:spPr>
        <p:txBody>
          <a:bodyPr wrap="square">
            <a:spAutoFit/>
          </a:bodyPr>
          <a:lstStyle/>
          <a:p>
            <a:pPr algn="ctr">
              <a:defRPr sz="1200" b="0" i="0">
                <a:solidFill>
                  <a:srgbClr val="AAAAAA"/>
                </a:solidFill>
                <a:latin typeface="Arial"/>
              </a:defRPr>
            </a:pPr>
            <a:r>
              <a:t>One line. No pitch. Just the thing you built.</a:t>
            </a:r>
          </a:p>
        </p:txBody>
      </p:sp>
      <p:sp>
        <p:nvSpPr>
          <p:cNvPr id="18" name="Rounded Rectangle 17"/>
          <p:cNvSpPr/>
          <p:nvPr/>
        </p:nvSpPr>
        <p:spPr>
          <a:xfrm>
            <a:off x="804672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260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3730752"/>
            <a:ext cx="1005840" cy="548640"/>
          </a:xfrm>
          <a:prstGeom prst="rect">
            <a:avLst/>
          </a:prstGeom>
          <a:noFill/>
        </p:spPr>
        <p:txBody>
          <a:bodyPr wrap="square">
            <a:spAutoFit/>
          </a:bodyPr>
          <a:lstStyle/>
          <a:p>
            <a:pPr algn="ctr">
              <a:defRPr sz="2200" b="1" i="0">
                <a:solidFill>
                  <a:srgbClr val="F5F5F5"/>
                </a:solidFill>
                <a:latin typeface="Arial"/>
              </a:defRPr>
            </a:pPr>
            <a:r>
              <a:t>M3</a:t>
            </a:r>
          </a:p>
        </p:txBody>
      </p:sp>
      <p:sp>
        <p:nvSpPr>
          <p:cNvPr id="21" name="TextBox 20"/>
          <p:cNvSpPr txBox="1"/>
          <p:nvPr/>
        </p:nvSpPr>
        <p:spPr>
          <a:xfrm>
            <a:off x="8321040" y="4617720"/>
            <a:ext cx="3108960" cy="365760"/>
          </a:xfrm>
          <a:prstGeom prst="rect">
            <a:avLst/>
          </a:prstGeom>
          <a:noFill/>
        </p:spPr>
        <p:txBody>
          <a:bodyPr wrap="square">
            <a:spAutoFit/>
          </a:bodyPr>
          <a:lstStyle/>
          <a:p>
            <a:pPr algn="ctr">
              <a:defRPr sz="1800" b="1" i="0">
                <a:solidFill>
                  <a:srgbClr val="F5F5F5"/>
                </a:solidFill>
                <a:latin typeface="Arial"/>
              </a:defRPr>
            </a:pPr>
            <a:r>
              <a:t>[Member 3 name]</a:t>
            </a:r>
          </a:p>
        </p:txBody>
      </p:sp>
      <p:sp>
        <p:nvSpPr>
          <p:cNvPr id="22" name="TextBox 21"/>
          <p:cNvSpPr txBox="1"/>
          <p:nvPr/>
        </p:nvSpPr>
        <p:spPr>
          <a:xfrm>
            <a:off x="832104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23" name="TextBox 22"/>
          <p:cNvSpPr txBox="1"/>
          <p:nvPr/>
        </p:nvSpPr>
        <p:spPr>
          <a:xfrm>
            <a:off x="8321040" y="5440680"/>
            <a:ext cx="3108960" cy="822960"/>
          </a:xfrm>
          <a:prstGeom prst="rect">
            <a:avLst/>
          </a:prstGeom>
          <a:noFill/>
        </p:spPr>
        <p:txBody>
          <a:bodyPr wrap="square">
            <a:spAutoFit/>
          </a:bodyPr>
          <a:lstStyle/>
          <a:p>
            <a:pPr algn="ctr">
              <a:defRPr sz="1200" b="0" i="0">
                <a:solidFill>
                  <a:srgbClr val="AAAAAA"/>
                </a:solidFill>
                <a:latin typeface="Arial"/>
              </a:defRPr>
            </a:pPr>
            <a:r>
              <a:t>Even a small win counts here.</a:t>
            </a:r>
          </a:p>
        </p:txBody>
      </p:sp>
      <p:sp>
        <p:nvSpPr>
          <p:cNvPr id="24" name="TextBox 23"/>
          <p:cNvSpPr txBox="1"/>
          <p:nvPr/>
        </p:nvSpPr>
        <p:spPr>
          <a:xfrm>
            <a:off x="731520" y="6492240"/>
            <a:ext cx="10881360" cy="320040"/>
          </a:xfrm>
          <a:prstGeom prst="rect">
            <a:avLst/>
          </a:prstGeom>
          <a:noFill/>
        </p:spPr>
        <p:txBody>
          <a:bodyPr wrap="square">
            <a:spAutoFit/>
          </a:bodyPr>
          <a:lstStyle/>
          <a:p>
            <a:pPr algn="ctr">
              <a:defRPr sz="1300" b="0" i="1">
                <a:solidFill>
                  <a:srgbClr val="E0B040"/>
                </a:solidFill>
                <a:latin typeface="Arial"/>
              </a:defRPr>
            </a:pPr>
            <a:r>
              <a:t>Want to be on this slide next edition? Tell me what you shipped. No pitch needed, just a screenshot and one line.</a:t>
            </a:r>
          </a:p>
        </p:txBody>
      </p:sp>
      <p:sp>
        <p:nvSpPr>
          <p:cNvPr id="25" name="TextBox 24"/>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6" name="TextBox 25"/>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731520" y="1645920"/>
            <a:ext cx="1371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058400" cy="731520"/>
          </a:xfrm>
          <a:prstGeom prst="rect">
            <a:avLst/>
          </a:prstGeom>
          <a:noFill/>
        </p:spPr>
        <p:txBody>
          <a:bodyPr wrap="square">
            <a:spAutoFit/>
          </a:bodyPr>
          <a:lstStyle/>
          <a:p>
            <a:pPr algn="l">
              <a:defRPr sz="4800" b="1" i="0">
                <a:solidFill>
                  <a:srgbClr val="F5F5F5"/>
                </a:solidFill>
                <a:latin typeface="Arial"/>
              </a:defRPr>
            </a:pPr>
            <a:r>
              <a:t>See You at Edition 28</a:t>
            </a:r>
          </a:p>
        </p:txBody>
      </p:sp>
      <p:sp>
        <p:nvSpPr>
          <p:cNvPr id="4" name="TextBox 3"/>
          <p:cNvSpPr txBox="1"/>
          <p:nvPr/>
        </p:nvSpPr>
        <p:spPr>
          <a:xfrm>
            <a:off x="731520" y="2697480"/>
            <a:ext cx="10058400" cy="548640"/>
          </a:xfrm>
          <a:prstGeom prst="rect">
            <a:avLst/>
          </a:prstGeom>
          <a:noFill/>
        </p:spPr>
        <p:txBody>
          <a:bodyPr wrap="square">
            <a:spAutoFit/>
          </a:bodyPr>
          <a:lstStyle/>
          <a:p>
            <a:pPr algn="l">
              <a:defRPr sz="2200" b="0" i="0">
                <a:solidFill>
                  <a:srgbClr val="AAAAAA"/>
                </a:solidFill>
                <a:latin typeface="Arial"/>
              </a:defRPr>
            </a:pPr>
            <a:r>
              <a:t>Next Wednesday  ·  21 October 2026  ·  Seoul Soul Project, Canggu</a:t>
            </a:r>
          </a:p>
        </p:txBody>
      </p:sp>
      <p:sp>
        <p:nvSpPr>
          <p:cNvPr id="5" name="Rectangle 4"/>
          <p:cNvSpPr/>
          <p:nvPr/>
        </p:nvSpPr>
        <p:spPr>
          <a:xfrm>
            <a:off x="731520" y="3429000"/>
            <a:ext cx="1088136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703320"/>
            <a:ext cx="10058400" cy="457200"/>
          </a:xfrm>
          <a:prstGeom prst="rect">
            <a:avLst/>
          </a:prstGeom>
          <a:noFill/>
        </p:spPr>
        <p:txBody>
          <a:bodyPr wrap="square">
            <a:spAutoFit/>
          </a:bodyPr>
          <a:lstStyle/>
          <a:p>
            <a:pPr algn="l">
              <a:defRPr sz="1800" b="0" i="0">
                <a:solidFill>
                  <a:srgbClr val="888888"/>
                </a:solidFill>
                <a:latin typeface="Arial"/>
              </a:defRPr>
            </a:pPr>
            <a:r>
              <a:t>6:30pm WITA  ·  bstc.community</a:t>
            </a:r>
          </a:p>
        </p:txBody>
      </p:sp>
      <p:sp>
        <p:nvSpPr>
          <p:cNvPr id="7" name="TextBox 6"/>
          <p:cNvSpPr txBox="1"/>
          <p:nvPr/>
        </p:nvSpPr>
        <p:spPr>
          <a:xfrm>
            <a:off x="731520" y="4572000"/>
            <a:ext cx="10058400" cy="457200"/>
          </a:xfrm>
          <a:prstGeom prst="rect">
            <a:avLst/>
          </a:prstGeom>
          <a:noFill/>
        </p:spPr>
        <p:txBody>
          <a:bodyPr wrap="square">
            <a:spAutoFit/>
          </a:bodyPr>
          <a:lstStyle/>
          <a:p>
            <a:pPr algn="l">
              <a:defRPr sz="1600" b="0" i="1">
                <a:solidFill>
                  <a:srgbClr val="AAAAAA"/>
                </a:solidFill>
                <a:latin typeface="Arial"/>
              </a:defRPr>
            </a:pPr>
            <a:r>
              <a:t>Bring one thing you tried from tonight. Even if it failed.</a:t>
            </a:r>
          </a:p>
        </p:txBody>
      </p:sp>
      <p:sp>
        <p:nvSpPr>
          <p:cNvPr id="8" name="TextBox 7"/>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9" name="TextBox 8"/>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