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x.com/claudeai/status/206946869301726824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371600"/>
            <a:ext cx="7315200" cy="365760"/>
          </a:xfrm>
          <a:prstGeom prst="rect">
            <a:avLst/>
          </a:prstGeom>
          <a:noFill/>
        </p:spPr>
        <p:txBody>
          <a:bodyPr wrap="square">
            <a:spAutoFit/>
          </a:bodyPr>
          <a:lstStyle/>
          <a:p>
            <a:pPr algn="l">
              <a:defRPr sz="1300" b="1" i="0">
                <a:solidFill>
                  <a:srgbClr val="C81E1E"/>
                </a:solidFill>
                <a:latin typeface="Arial"/>
              </a:defRPr>
            </a:pPr>
            <a:r>
              <a:t>BALI START-UPS &amp; TECH COMMUNITY PRESENTS</a:t>
            </a:r>
          </a:p>
        </p:txBody>
      </p:sp>
      <p:sp>
        <p:nvSpPr>
          <p:cNvPr id="3" name="TextBox 2"/>
          <p:cNvSpPr txBox="1"/>
          <p:nvPr/>
        </p:nvSpPr>
        <p:spPr>
          <a:xfrm>
            <a:off x="731520" y="2011680"/>
            <a:ext cx="9144000" cy="1371600"/>
          </a:xfrm>
          <a:prstGeom prst="rect">
            <a:avLst/>
          </a:prstGeom>
          <a:noFill/>
        </p:spPr>
        <p:txBody>
          <a:bodyPr wrap="square">
            <a:spAutoFit/>
          </a:bodyPr>
          <a:lstStyle/>
          <a:p>
            <a:pPr algn="l">
              <a:defRPr sz="7200" b="1" i="0">
                <a:solidFill>
                  <a:srgbClr val="F5F5F5"/>
                </a:solidFill>
                <a:latin typeface="Arial"/>
              </a:defRPr>
            </a:pPr>
            <a:r>
              <a:t>How I AI</a:t>
            </a:r>
          </a:p>
        </p:txBody>
      </p:sp>
      <p:sp>
        <p:nvSpPr>
          <p:cNvPr id="4" name="TextBox 3"/>
          <p:cNvSpPr txBox="1"/>
          <p:nvPr/>
        </p:nvSpPr>
        <p:spPr>
          <a:xfrm>
            <a:off x="731520" y="3474720"/>
            <a:ext cx="7315200" cy="1097280"/>
          </a:xfrm>
          <a:prstGeom prst="rect">
            <a:avLst/>
          </a:prstGeom>
          <a:noFill/>
        </p:spPr>
        <p:txBody>
          <a:bodyPr wrap="square">
            <a:spAutoFit/>
          </a:bodyPr>
          <a:lstStyle/>
          <a:p>
            <a:pPr algn="l">
              <a:defRPr sz="3200" b="1" i="0">
                <a:solidFill>
                  <a:srgbClr val="F5F5F5"/>
                </a:solidFill>
                <a:latin typeface="Arial"/>
              </a:defRPr>
            </a:pPr>
            <a:r>
              <a:t>Edition 11</a:t>
            </a:r>
          </a:p>
          <a:p>
            <a:pPr algn="l">
              <a:spcBef>
                <a:spcPts val="800"/>
              </a:spcBef>
              <a:defRPr sz="2000" b="0" i="0">
                <a:solidFill>
                  <a:srgbClr val="888888"/>
                </a:solidFill>
                <a:latin typeface="Arial"/>
              </a:defRPr>
            </a:pPr>
            <a:r>
              <a:t>Seoul Soul Project, Canggu  ·  24 June 2026</a:t>
            </a:r>
          </a:p>
        </p:txBody>
      </p:sp>
      <p:sp>
        <p:nvSpPr>
          <p:cNvPr id="5" name="TextBox 4"/>
          <p:cNvSpPr txBox="1"/>
          <p:nvPr/>
        </p:nvSpPr>
        <p:spPr>
          <a:xfrm>
            <a:off x="731520" y="5029200"/>
            <a:ext cx="8229600" cy="365760"/>
          </a:xfrm>
          <a:prstGeom prst="rect">
            <a:avLst/>
          </a:prstGeom>
          <a:noFill/>
        </p:spPr>
        <p:txBody>
          <a:bodyPr wrap="square">
            <a:spAutoFit/>
          </a:bodyPr>
          <a:lstStyle/>
          <a:p>
            <a:pPr algn="l">
              <a:defRPr sz="1500" b="0" i="0">
                <a:solidFill>
                  <a:srgbClr val="888888"/>
                </a:solidFill>
                <a:latin typeface="Arial"/>
              </a:defRPr>
            </a:pPr>
            <a:r>
              <a:t>Builders show tools. Operators share workflows. Everyone leaves sharper.</a:t>
            </a:r>
          </a:p>
        </p:txBody>
      </p:sp>
      <p:sp>
        <p:nvSpPr>
          <p:cNvPr id="6" name="TextBox 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7" name="TextBox 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731520"/>
            <a:ext cx="7315200" cy="365760"/>
          </a:xfrm>
          <a:prstGeom prst="rect">
            <a:avLst/>
          </a:prstGeom>
          <a:noFill/>
        </p:spPr>
        <p:txBody>
          <a:bodyPr wrap="square">
            <a:spAutoFit/>
          </a:bodyPr>
          <a:lstStyle/>
          <a:p>
            <a:pPr algn="l">
              <a:defRPr sz="1300" b="1" i="0">
                <a:solidFill>
                  <a:srgbClr val="C81E1E"/>
                </a:solidFill>
                <a:latin typeface="Arial"/>
              </a:defRPr>
            </a:pPr>
            <a:r>
              <a:t>MY BACKGROUND</a:t>
            </a:r>
          </a:p>
        </p:txBody>
      </p:sp>
      <p:sp>
        <p:nvSpPr>
          <p:cNvPr id="3" name="TextBox 2"/>
          <p:cNvSpPr txBox="1"/>
          <p:nvPr/>
        </p:nvSpPr>
        <p:spPr>
          <a:xfrm>
            <a:off x="731520" y="1645920"/>
            <a:ext cx="3200400" cy="548640"/>
          </a:xfrm>
          <a:prstGeom prst="rect">
            <a:avLst/>
          </a:prstGeom>
          <a:noFill/>
        </p:spPr>
        <p:txBody>
          <a:bodyPr wrap="square">
            <a:spAutoFit/>
          </a:bodyPr>
          <a:lstStyle/>
          <a:p>
            <a:pPr algn="l">
              <a:defRPr sz="2800" b="1" i="0">
                <a:solidFill>
                  <a:srgbClr val="F5F5F5"/>
                </a:solidFill>
                <a:latin typeface="Arial"/>
              </a:defRPr>
            </a:pPr>
            <a:r>
              <a:t>Josh Morrow</a:t>
            </a:r>
          </a:p>
        </p:txBody>
      </p:sp>
      <p:sp>
        <p:nvSpPr>
          <p:cNvPr id="4" name="TextBox 3"/>
          <p:cNvSpPr txBox="1"/>
          <p:nvPr/>
        </p:nvSpPr>
        <p:spPr>
          <a:xfrm>
            <a:off x="731520" y="2377440"/>
            <a:ext cx="3200400" cy="2743200"/>
          </a:xfrm>
          <a:prstGeom prst="rect">
            <a:avLst/>
          </a:prstGeom>
          <a:noFill/>
        </p:spPr>
        <p:txBody>
          <a:bodyPr wrap="square">
            <a:spAutoFit/>
          </a:bodyPr>
          <a:lstStyle/>
          <a:p>
            <a:pPr algn="l">
              <a:defRPr sz="1600" b="0" i="0">
                <a:solidFill>
                  <a:srgbClr val="888888"/>
                </a:solidFill>
                <a:latin typeface="Arial"/>
              </a:defRPr>
            </a:pPr>
            <a:r>
              <a:t>•  5+ years in B2B technology</a:t>
            </a:r>
          </a:p>
          <a:p>
            <a:pPr algn="l">
              <a:spcBef>
                <a:spcPts val="1000"/>
              </a:spcBef>
              <a:defRPr sz="1600" b="0" i="0">
                <a:solidFill>
                  <a:srgbClr val="888888"/>
                </a:solidFill>
                <a:latin typeface="Arial"/>
              </a:defRPr>
            </a:pPr>
            <a:r>
              <a:t>•  Oxford/MIT AI Programmes / Legal Background</a:t>
            </a:r>
          </a:p>
          <a:p>
            <a:pPr algn="l">
              <a:spcBef>
                <a:spcPts val="1000"/>
              </a:spcBef>
              <a:defRPr sz="1600" b="0" i="0">
                <a:solidFill>
                  <a:srgbClr val="888888"/>
                </a:solidFill>
                <a:latin typeface="Arial"/>
              </a:defRPr>
            </a:pPr>
            <a:r>
              <a:t>•  Co-Founder of Bali Start-Up &amp; Tech (3k+ folks on Meetup/WA)</a:t>
            </a:r>
          </a:p>
        </p:txBody>
      </p:sp>
      <p:sp>
        <p:nvSpPr>
          <p:cNvPr id="5" name="TextBox 4"/>
          <p:cNvSpPr txBox="1"/>
          <p:nvPr/>
        </p:nvSpPr>
        <p:spPr>
          <a:xfrm>
            <a:off x="4572000" y="1645920"/>
            <a:ext cx="3200400" cy="548640"/>
          </a:xfrm>
          <a:prstGeom prst="rect">
            <a:avLst/>
          </a:prstGeom>
          <a:noFill/>
        </p:spPr>
        <p:txBody>
          <a:bodyPr wrap="square">
            <a:spAutoFit/>
          </a:bodyPr>
          <a:lstStyle/>
          <a:p>
            <a:pPr algn="l">
              <a:defRPr sz="2800" b="1" i="0">
                <a:solidFill>
                  <a:srgbClr val="F5F5F5"/>
                </a:solidFill>
                <a:latin typeface="Arial"/>
              </a:defRPr>
            </a:pPr>
            <a:r>
              <a:t>David &amp; Goliath</a:t>
            </a:r>
          </a:p>
        </p:txBody>
      </p:sp>
      <p:sp>
        <p:nvSpPr>
          <p:cNvPr id="6" name="TextBox 5"/>
          <p:cNvSpPr txBox="1"/>
          <p:nvPr/>
        </p:nvSpPr>
        <p:spPr>
          <a:xfrm>
            <a:off x="4572000" y="2377440"/>
            <a:ext cx="3200400" cy="2743200"/>
          </a:xfrm>
          <a:prstGeom prst="rect">
            <a:avLst/>
          </a:prstGeom>
          <a:noFill/>
        </p:spPr>
        <p:txBody>
          <a:bodyPr wrap="square">
            <a:spAutoFit/>
          </a:bodyPr>
          <a:lstStyle/>
          <a:p>
            <a:pPr algn="l">
              <a:defRPr sz="1600" b="0" i="0">
                <a:solidFill>
                  <a:srgbClr val="888888"/>
                </a:solidFill>
                <a:latin typeface="Arial"/>
              </a:defRPr>
            </a:pPr>
            <a:r>
              <a:t>•  AI systems firm for ambitious teams</a:t>
            </a:r>
          </a:p>
          <a:p>
            <a:pPr algn="l">
              <a:spcBef>
                <a:spcPts val="1000"/>
              </a:spcBef>
              <a:defRPr sz="1600" b="0" i="0">
                <a:solidFill>
                  <a:srgbClr val="888888"/>
                </a:solidFill>
                <a:latin typeface="Arial"/>
              </a:defRPr>
            </a:pPr>
            <a:r>
              <a:t>•  Australia founded and globally minded</a:t>
            </a:r>
          </a:p>
          <a:p>
            <a:pPr algn="l">
              <a:spcBef>
                <a:spcPts val="1000"/>
              </a:spcBef>
              <a:defRPr sz="1600" b="0" i="0">
                <a:solidFill>
                  <a:srgbClr val="888888"/>
                </a:solidFill>
                <a:latin typeface="Arial"/>
              </a:defRPr>
            </a:pPr>
            <a:r>
              <a:t>•  We build operating AI infrastructure across revenue, capacity &amp; AI security</a:t>
            </a:r>
          </a:p>
        </p:txBody>
      </p:sp>
      <p:sp>
        <p:nvSpPr>
          <p:cNvPr id="7" name="TextBox 6"/>
          <p:cNvSpPr txBox="1"/>
          <p:nvPr/>
        </p:nvSpPr>
        <p:spPr>
          <a:xfrm>
            <a:off x="8412480" y="1645920"/>
            <a:ext cx="3200400" cy="548640"/>
          </a:xfrm>
          <a:prstGeom prst="rect">
            <a:avLst/>
          </a:prstGeom>
          <a:noFill/>
        </p:spPr>
        <p:txBody>
          <a:bodyPr wrap="square">
            <a:spAutoFit/>
          </a:bodyPr>
          <a:lstStyle/>
          <a:p>
            <a:pPr algn="l">
              <a:defRPr sz="2800" b="1" i="0">
                <a:solidFill>
                  <a:srgbClr val="F5F5F5"/>
                </a:solidFill>
                <a:latin typeface="Arial"/>
              </a:defRPr>
            </a:pPr>
            <a:r>
              <a:t>Oligo Security</a:t>
            </a:r>
          </a:p>
        </p:txBody>
      </p:sp>
      <p:sp>
        <p:nvSpPr>
          <p:cNvPr id="8" name="TextBox 7"/>
          <p:cNvSpPr txBox="1"/>
          <p:nvPr/>
        </p:nvSpPr>
        <p:spPr>
          <a:xfrm>
            <a:off x="8412480" y="2377440"/>
            <a:ext cx="3200400" cy="2743200"/>
          </a:xfrm>
          <a:prstGeom prst="rect">
            <a:avLst/>
          </a:prstGeom>
          <a:noFill/>
        </p:spPr>
        <p:txBody>
          <a:bodyPr wrap="square">
            <a:spAutoFit/>
          </a:bodyPr>
          <a:lstStyle/>
          <a:p>
            <a:pPr algn="l">
              <a:defRPr sz="1600" b="0" i="0">
                <a:solidFill>
                  <a:srgbClr val="888888"/>
                </a:solidFill>
                <a:latin typeface="Arial"/>
              </a:defRPr>
            </a:pPr>
            <a:r>
              <a:t>•  Selected as runtime AI security vendor in AWS Security Hub</a:t>
            </a:r>
          </a:p>
          <a:p>
            <a:pPr algn="l">
              <a:spcBef>
                <a:spcPts val="1000"/>
              </a:spcBef>
              <a:defRPr sz="1600" b="0" i="0">
                <a:solidFill>
                  <a:srgbClr val="888888"/>
                </a:solidFill>
                <a:latin typeface="Arial"/>
              </a:defRPr>
            </a:pPr>
            <a:r>
              <a:t>•  Working with security leaders at APAC's largest companies</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097280"/>
            <a:ext cx="7315200" cy="365760"/>
          </a:xfrm>
          <a:prstGeom prst="rect">
            <a:avLst/>
          </a:prstGeom>
          <a:noFill/>
        </p:spPr>
        <p:txBody>
          <a:bodyPr wrap="square">
            <a:spAutoFit/>
          </a:bodyPr>
          <a:lstStyle/>
          <a:p>
            <a:pPr algn="l">
              <a:defRPr sz="1300" b="1" i="0">
                <a:solidFill>
                  <a:srgbClr val="C81E1E"/>
                </a:solidFill>
                <a:latin typeface="Arial"/>
              </a:defRPr>
            </a:pPr>
            <a:r>
              <a:t>6:30 PM</a:t>
            </a:r>
          </a:p>
        </p:txBody>
      </p:sp>
      <p:sp>
        <p:nvSpPr>
          <p:cNvPr id="3" name="TextBox 2"/>
          <p:cNvSpPr txBox="1"/>
          <p:nvPr/>
        </p:nvSpPr>
        <p:spPr>
          <a:xfrm>
            <a:off x="731520" y="1828800"/>
            <a:ext cx="9144000" cy="914400"/>
          </a:xfrm>
          <a:prstGeom prst="rect">
            <a:avLst/>
          </a:prstGeom>
          <a:noFill/>
        </p:spPr>
        <p:txBody>
          <a:bodyPr wrap="square">
            <a:spAutoFit/>
          </a:bodyPr>
          <a:lstStyle/>
          <a:p>
            <a:pPr algn="l">
              <a:defRPr sz="6400" b="1" i="0">
                <a:solidFill>
                  <a:srgbClr val="F5F5F5"/>
                </a:solidFill>
                <a:latin typeface="Arial"/>
              </a:defRPr>
            </a:pPr>
            <a:r>
              <a:t>Money Round</a:t>
            </a:r>
          </a:p>
        </p:txBody>
      </p:sp>
      <p:sp>
        <p:nvSpPr>
          <p:cNvPr id="4" name="Rectangle 3"/>
          <p:cNvSpPr/>
          <p:nvPr/>
        </p:nvSpPr>
        <p:spPr>
          <a:xfrm>
            <a:off x="731520" y="29260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0"/>
            <a:ext cx="7315200" cy="457200"/>
          </a:xfrm>
          <a:prstGeom prst="rect">
            <a:avLst/>
          </a:prstGeom>
          <a:noFill/>
        </p:spPr>
        <p:txBody>
          <a:bodyPr wrap="square">
            <a:spAutoFit/>
          </a:bodyPr>
          <a:lstStyle/>
          <a:p>
            <a:pPr algn="l">
              <a:defRPr sz="2800" b="1" i="0">
                <a:solidFill>
                  <a:srgbClr val="F5F5F5"/>
                </a:solidFill>
                <a:latin typeface="Arial"/>
              </a:defRPr>
            </a:pPr>
            <a:r>
              <a:t>60-second intros</a:t>
            </a:r>
          </a:p>
        </p:txBody>
      </p:sp>
      <p:sp>
        <p:nvSpPr>
          <p:cNvPr id="6" name="TextBox 5"/>
          <p:cNvSpPr txBox="1"/>
          <p:nvPr/>
        </p:nvSpPr>
        <p:spPr>
          <a:xfrm>
            <a:off x="731520" y="3840480"/>
            <a:ext cx="9144000" cy="731520"/>
          </a:xfrm>
          <a:prstGeom prst="rect">
            <a:avLst/>
          </a:prstGeom>
          <a:noFill/>
        </p:spPr>
        <p:txBody>
          <a:bodyPr wrap="square">
            <a:spAutoFit/>
          </a:bodyPr>
          <a:lstStyle/>
          <a:p>
            <a:pPr algn="l">
              <a:defRPr sz="2000" b="0" i="0">
                <a:solidFill>
                  <a:srgbClr val="888888"/>
                </a:solidFill>
                <a:latin typeface="Arial"/>
              </a:defRPr>
            </a:pPr>
            <a:r>
              <a:t>One way AI made you money, saved you money,</a:t>
            </a:r>
            <a:br/>
            <a:r>
              <a:t>or saved you serious time. No pitches. Just results.</a:t>
            </a:r>
          </a:p>
        </p:txBody>
      </p:sp>
      <p:sp>
        <p:nvSpPr>
          <p:cNvPr id="7" name="Rounded Rectangle 6"/>
          <p:cNvSpPr/>
          <p:nvPr/>
        </p:nvSpPr>
        <p:spPr>
          <a:xfrm>
            <a:off x="731520" y="5029200"/>
            <a:ext cx="1645920" cy="109728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120640"/>
            <a:ext cx="1463040" cy="914400"/>
          </a:xfrm>
          <a:prstGeom prst="rect">
            <a:avLst/>
          </a:prstGeom>
          <a:noFill/>
        </p:spPr>
        <p:txBody>
          <a:bodyPr wrap="square">
            <a:spAutoFit/>
          </a:bodyPr>
          <a:lstStyle/>
          <a:p>
            <a:pPr algn="ctr">
              <a:defRPr sz="4000" b="1" i="0">
                <a:solidFill>
                  <a:srgbClr val="F5F5F5"/>
                </a:solidFill>
                <a:latin typeface="Arial"/>
              </a:defRPr>
            </a:pPr>
            <a:r>
              <a:t>60s</a:t>
            </a:r>
          </a:p>
          <a:p>
            <a:pPr algn="ctr">
              <a:defRPr sz="1100" b="0" i="0">
                <a:solidFill>
                  <a:srgbClr val="F5F5F5"/>
                </a:solidFill>
                <a:latin typeface="Arial"/>
              </a:defRPr>
            </a:pPr>
            <a:r>
              <a:t>PER PERSON</a:t>
            </a:r>
          </a:p>
        </p:txBody>
      </p:sp>
      <p:sp>
        <p:nvSpPr>
          <p:cNvPr id="9" name="Rounded Rectangle 8"/>
          <p:cNvSpPr/>
          <p:nvPr/>
        </p:nvSpPr>
        <p:spPr>
          <a:xfrm>
            <a:off x="2743200" y="5029200"/>
            <a:ext cx="32004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5120640"/>
            <a:ext cx="3017520" cy="914400"/>
          </a:xfrm>
          <a:prstGeom prst="rect">
            <a:avLst/>
          </a:prstGeom>
          <a:noFill/>
        </p:spPr>
        <p:txBody>
          <a:bodyPr wrap="square">
            <a:spAutoFit/>
          </a:bodyPr>
          <a:lstStyle/>
          <a:p>
            <a:pPr algn="ctr">
              <a:defRPr sz="3200" b="1" i="0">
                <a:solidFill>
                  <a:srgbClr val="F5F5F5"/>
                </a:solidFill>
                <a:latin typeface="Arial"/>
              </a:defRPr>
            </a:pPr>
            <a:r>
              <a:t>3 Parts</a:t>
            </a:r>
          </a:p>
          <a:p>
            <a:pPr algn="ctr">
              <a:defRPr sz="1300" b="0" i="0">
                <a:solidFill>
                  <a:srgbClr val="888888"/>
                </a:solidFill>
                <a:latin typeface="Arial"/>
              </a:defRPr>
            </a:pPr>
            <a:r>
              <a:t>Tool / Workflow / Result</a:t>
            </a:r>
          </a:p>
        </p:txBody>
      </p:sp>
      <p:sp>
        <p:nvSpPr>
          <p:cNvPr id="11" name="TextBox 10"/>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2" name="TextBox 11"/>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BEFORE WE START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Jargon Buster</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Five terms you will hear tonight. Lock these in first and the signals land harder.</a:t>
            </a:r>
          </a:p>
        </p:txBody>
      </p:sp>
      <p:sp>
        <p:nvSpPr>
          <p:cNvPr id="6" name="TextBox 5"/>
          <p:cNvSpPr txBox="1"/>
          <p:nvPr/>
        </p:nvSpPr>
        <p:spPr>
          <a:xfrm>
            <a:off x="731520" y="3090672"/>
            <a:ext cx="3474720" cy="566928"/>
          </a:xfrm>
          <a:prstGeom prst="rect">
            <a:avLst/>
          </a:prstGeom>
          <a:noFill/>
        </p:spPr>
        <p:txBody>
          <a:bodyPr wrap="square">
            <a:spAutoFit/>
          </a:bodyPr>
          <a:lstStyle/>
          <a:p>
            <a:pPr algn="l">
              <a:defRPr sz="1600" b="1" i="0">
                <a:solidFill>
                  <a:srgbClr val="C81E1E"/>
                </a:solidFill>
                <a:latin typeface="Arial"/>
              </a:defRPr>
            </a:pPr>
            <a:r>
              <a:t>Ambient agent</a:t>
            </a:r>
          </a:p>
        </p:txBody>
      </p:sp>
      <p:sp>
        <p:nvSpPr>
          <p:cNvPr id="7" name="TextBox 6"/>
          <p:cNvSpPr txBox="1"/>
          <p:nvPr/>
        </p:nvSpPr>
        <p:spPr>
          <a:xfrm>
            <a:off x="4389120" y="3090672"/>
            <a:ext cx="7223760" cy="566928"/>
          </a:xfrm>
          <a:prstGeom prst="rect">
            <a:avLst/>
          </a:prstGeom>
          <a:noFill/>
        </p:spPr>
        <p:txBody>
          <a:bodyPr wrap="square">
            <a:spAutoFit/>
          </a:bodyPr>
          <a:lstStyle/>
          <a:p>
            <a:pPr algn="l">
              <a:defRPr sz="1400" b="0" i="0">
                <a:solidFill>
                  <a:srgbClr val="F5F5F5"/>
                </a:solidFill>
                <a:latin typeface="Arial"/>
              </a:defRPr>
            </a:pPr>
            <a:r>
              <a:t>An agent that acts on its own initiative, following a channel and flagging what matters without being asked. Claude Tag's new mode.</a:t>
            </a:r>
          </a:p>
        </p:txBody>
      </p:sp>
      <p:sp>
        <p:nvSpPr>
          <p:cNvPr id="8" name="Rectangle 7"/>
          <p:cNvSpPr/>
          <p:nvPr/>
        </p:nvSpPr>
        <p:spPr>
          <a:xfrm>
            <a:off x="731520" y="3566160"/>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57600"/>
            <a:ext cx="3474720" cy="566928"/>
          </a:xfrm>
          <a:prstGeom prst="rect">
            <a:avLst/>
          </a:prstGeom>
          <a:noFill/>
        </p:spPr>
        <p:txBody>
          <a:bodyPr wrap="square">
            <a:spAutoFit/>
          </a:bodyPr>
          <a:lstStyle/>
          <a:p>
            <a:pPr algn="l">
              <a:defRPr sz="1600" b="1" i="0">
                <a:solidFill>
                  <a:srgbClr val="C81E1E"/>
                </a:solidFill>
                <a:latin typeface="Arial"/>
              </a:defRPr>
            </a:pPr>
            <a:r>
              <a:t>Systems integrator</a:t>
            </a:r>
          </a:p>
        </p:txBody>
      </p:sp>
      <p:sp>
        <p:nvSpPr>
          <p:cNvPr id="10" name="TextBox 9"/>
          <p:cNvSpPr txBox="1"/>
          <p:nvPr/>
        </p:nvSpPr>
        <p:spPr>
          <a:xfrm>
            <a:off x="4389120" y="3657600"/>
            <a:ext cx="7223760" cy="566928"/>
          </a:xfrm>
          <a:prstGeom prst="rect">
            <a:avLst/>
          </a:prstGeom>
          <a:noFill/>
        </p:spPr>
        <p:txBody>
          <a:bodyPr wrap="square">
            <a:spAutoFit/>
          </a:bodyPr>
          <a:lstStyle/>
          <a:p>
            <a:pPr algn="l">
              <a:defRPr sz="1400" b="0" i="0">
                <a:solidFill>
                  <a:srgbClr val="F5F5F5"/>
                </a:solidFill>
                <a:latin typeface="Arial"/>
              </a:defRPr>
            </a:pPr>
            <a:r>
              <a:t>A firm that builds and delivers technology for other companies. OpenAI just enlisted the biggest ones to ship its AI.</a:t>
            </a:r>
          </a:p>
        </p:txBody>
      </p:sp>
      <p:sp>
        <p:nvSpPr>
          <p:cNvPr id="11" name="Rectangle 10"/>
          <p:cNvSpPr/>
          <p:nvPr/>
        </p:nvSpPr>
        <p:spPr>
          <a:xfrm>
            <a:off x="731520" y="4133088"/>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24528"/>
            <a:ext cx="3474720" cy="566928"/>
          </a:xfrm>
          <a:prstGeom prst="rect">
            <a:avLst/>
          </a:prstGeom>
          <a:noFill/>
        </p:spPr>
        <p:txBody>
          <a:bodyPr wrap="square">
            <a:spAutoFit/>
          </a:bodyPr>
          <a:lstStyle/>
          <a:p>
            <a:pPr algn="l">
              <a:defRPr sz="1600" b="1" i="0">
                <a:solidFill>
                  <a:srgbClr val="C81E1E"/>
                </a:solidFill>
                <a:latin typeface="Arial"/>
              </a:defRPr>
            </a:pPr>
            <a:r>
              <a:t>Capex</a:t>
            </a:r>
          </a:p>
        </p:txBody>
      </p:sp>
      <p:sp>
        <p:nvSpPr>
          <p:cNvPr id="13" name="TextBox 12"/>
          <p:cNvSpPr txBox="1"/>
          <p:nvPr/>
        </p:nvSpPr>
        <p:spPr>
          <a:xfrm>
            <a:off x="4389120" y="4224528"/>
            <a:ext cx="7223760" cy="566928"/>
          </a:xfrm>
          <a:prstGeom prst="rect">
            <a:avLst/>
          </a:prstGeom>
          <a:noFill/>
        </p:spPr>
        <p:txBody>
          <a:bodyPr wrap="square">
            <a:spAutoFit/>
          </a:bodyPr>
          <a:lstStyle/>
          <a:p>
            <a:pPr algn="l">
              <a:defRPr sz="1400" b="0" i="0">
                <a:solidFill>
                  <a:srgbClr val="F5F5F5"/>
                </a:solidFill>
                <a:latin typeface="Arial"/>
              </a:defRPr>
            </a:pPr>
            <a:r>
              <a:t>Capital expenditure, the money spent building long-term assets like data centres. Microsoft is committing around $190 billion of it to AI.</a:t>
            </a:r>
          </a:p>
        </p:txBody>
      </p:sp>
      <p:sp>
        <p:nvSpPr>
          <p:cNvPr id="14" name="Rectangle 13"/>
          <p:cNvSpPr/>
          <p:nvPr/>
        </p:nvSpPr>
        <p:spPr>
          <a:xfrm>
            <a:off x="731520" y="4700016"/>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91456"/>
            <a:ext cx="3474720" cy="566928"/>
          </a:xfrm>
          <a:prstGeom prst="rect">
            <a:avLst/>
          </a:prstGeom>
          <a:noFill/>
        </p:spPr>
        <p:txBody>
          <a:bodyPr wrap="square">
            <a:spAutoFit/>
          </a:bodyPr>
          <a:lstStyle/>
          <a:p>
            <a:pPr algn="l">
              <a:defRPr sz="1600" b="1" i="0">
                <a:solidFill>
                  <a:srgbClr val="C81E1E"/>
                </a:solidFill>
                <a:latin typeface="Arial"/>
              </a:defRPr>
            </a:pPr>
            <a:r>
              <a:t>Show cause order</a:t>
            </a:r>
          </a:p>
        </p:txBody>
      </p:sp>
      <p:sp>
        <p:nvSpPr>
          <p:cNvPr id="16" name="TextBox 15"/>
          <p:cNvSpPr txBox="1"/>
          <p:nvPr/>
        </p:nvSpPr>
        <p:spPr>
          <a:xfrm>
            <a:off x="4389120" y="4791456"/>
            <a:ext cx="7223760" cy="566928"/>
          </a:xfrm>
          <a:prstGeom prst="rect">
            <a:avLst/>
          </a:prstGeom>
          <a:noFill/>
        </p:spPr>
        <p:txBody>
          <a:bodyPr wrap="square">
            <a:spAutoFit/>
          </a:bodyPr>
          <a:lstStyle/>
          <a:p>
            <a:pPr algn="l">
              <a:defRPr sz="1400" b="0" i="0">
                <a:solidFill>
                  <a:srgbClr val="F5F5F5"/>
                </a:solidFill>
                <a:latin typeface="Arial"/>
              </a:defRPr>
            </a:pPr>
            <a:r>
              <a:t>A regulator's demand that you justify the existing rules or propose new ones. FERC just aimed six of them at the power grid.</a:t>
            </a:r>
          </a:p>
        </p:txBody>
      </p:sp>
      <p:sp>
        <p:nvSpPr>
          <p:cNvPr id="17" name="Rectangle 16"/>
          <p:cNvSpPr/>
          <p:nvPr/>
        </p:nvSpPr>
        <p:spPr>
          <a:xfrm>
            <a:off x="731520" y="5266944"/>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358384"/>
            <a:ext cx="3474720" cy="566928"/>
          </a:xfrm>
          <a:prstGeom prst="rect">
            <a:avLst/>
          </a:prstGeom>
          <a:noFill/>
        </p:spPr>
        <p:txBody>
          <a:bodyPr wrap="square">
            <a:spAutoFit/>
          </a:bodyPr>
          <a:lstStyle/>
          <a:p>
            <a:pPr algn="l">
              <a:defRPr sz="1600" b="1" i="0">
                <a:solidFill>
                  <a:srgbClr val="C81E1E"/>
                </a:solidFill>
                <a:latin typeface="Arial"/>
              </a:defRPr>
            </a:pPr>
            <a:r>
              <a:t>Export controls</a:t>
            </a:r>
          </a:p>
        </p:txBody>
      </p:sp>
      <p:sp>
        <p:nvSpPr>
          <p:cNvPr id="19" name="TextBox 18"/>
          <p:cNvSpPr txBox="1"/>
          <p:nvPr/>
        </p:nvSpPr>
        <p:spPr>
          <a:xfrm>
            <a:off x="4389120" y="5358384"/>
            <a:ext cx="7223760" cy="566928"/>
          </a:xfrm>
          <a:prstGeom prst="rect">
            <a:avLst/>
          </a:prstGeom>
          <a:noFill/>
        </p:spPr>
        <p:txBody>
          <a:bodyPr wrap="square">
            <a:spAutoFit/>
          </a:bodyPr>
          <a:lstStyle/>
          <a:p>
            <a:pPr algn="l">
              <a:defRPr sz="1400" b="0" i="0">
                <a:solidFill>
                  <a:srgbClr val="F5F5F5"/>
                </a:solidFill>
                <a:latin typeface="Arial"/>
              </a:defRPr>
            </a:pPr>
            <a:r>
              <a:t>Government rules that restrict which AI models can be sold across borders. The backdrop to Anthropic's push into Asia.</a:t>
            </a:r>
          </a:p>
        </p:txBody>
      </p:sp>
      <p:sp>
        <p:nvSpPr>
          <p:cNvPr id="20" name="Rectangle 19"/>
          <p:cNvSpPr/>
          <p:nvPr/>
        </p:nvSpPr>
        <p:spPr>
          <a:xfrm>
            <a:off x="731520" y="5833872"/>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263640"/>
            <a:ext cx="10881360" cy="274320"/>
          </a:xfrm>
          <a:prstGeom prst="rect">
            <a:avLst/>
          </a:prstGeom>
          <a:noFill/>
        </p:spPr>
        <p:txBody>
          <a:bodyPr wrap="square">
            <a:spAutoFit/>
          </a:bodyPr>
          <a:lstStyle/>
          <a:p>
            <a:pPr algn="l">
              <a:defRPr sz="1300" b="0" i="1">
                <a:solidFill>
                  <a:srgbClr val="888888"/>
                </a:solidFill>
                <a:latin typeface="Arial"/>
              </a:defRPr>
            </a:pPr>
            <a:r>
              <a:t>If any of these feel fuzzy, find me at dinner. No dumb questions in this room.</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097280"/>
            <a:ext cx="7315200" cy="365760"/>
          </a:xfrm>
          <a:prstGeom prst="rect">
            <a:avLst/>
          </a:prstGeom>
          <a:noFill/>
        </p:spPr>
        <p:txBody>
          <a:bodyPr wrap="square">
            <a:spAutoFit/>
          </a:bodyPr>
          <a:lstStyle/>
          <a:p>
            <a:pPr algn="l">
              <a:defRPr sz="1300" b="1" i="0">
                <a:solidFill>
                  <a:srgbClr val="C81E1E"/>
                </a:solidFill>
                <a:latin typeface="Arial"/>
              </a:defRPr>
            </a:pPr>
            <a:r>
              <a:t>7:00 PM — AI INTEL DROP</a:t>
            </a:r>
          </a:p>
        </p:txBody>
      </p:sp>
      <p:sp>
        <p:nvSpPr>
          <p:cNvPr id="3" name="TextBox 2"/>
          <p:cNvSpPr txBox="1"/>
          <p:nvPr/>
        </p:nvSpPr>
        <p:spPr>
          <a:xfrm>
            <a:off x="731520" y="2011680"/>
            <a:ext cx="9144000" cy="914400"/>
          </a:xfrm>
          <a:prstGeom prst="rect">
            <a:avLst/>
          </a:prstGeom>
          <a:noFill/>
        </p:spPr>
        <p:txBody>
          <a:bodyPr wrap="square">
            <a:spAutoFit/>
          </a:bodyPr>
          <a:lstStyle/>
          <a:p>
            <a:pPr algn="l">
              <a:defRPr sz="5400" b="1" i="0">
                <a:solidFill>
                  <a:srgbClr val="F5F5F5"/>
                </a:solidFill>
                <a:latin typeface="Arial"/>
              </a:defRPr>
            </a:pPr>
            <a:r>
              <a:t>This Week in AI</a:t>
            </a:r>
          </a:p>
        </p:txBody>
      </p:sp>
      <p:sp>
        <p:nvSpPr>
          <p:cNvPr id="4" name="Rectangle 3"/>
          <p:cNvSpPr/>
          <p:nvPr/>
        </p:nvSpPr>
        <p:spPr>
          <a:xfrm>
            <a:off x="731520" y="3108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74720"/>
            <a:ext cx="10515600" cy="822960"/>
          </a:xfrm>
          <a:prstGeom prst="rect">
            <a:avLst/>
          </a:prstGeom>
          <a:noFill/>
        </p:spPr>
        <p:txBody>
          <a:bodyPr wrap="square">
            <a:spAutoFit/>
          </a:bodyPr>
          <a:lstStyle/>
          <a:p>
            <a:pPr algn="l">
              <a:defRPr sz="1800" b="0" i="0">
                <a:solidFill>
                  <a:srgbClr val="888888"/>
                </a:solidFill>
                <a:latin typeface="Arial"/>
              </a:defRPr>
            </a:pPr>
            <a:r>
              <a:t>Four signals from the last ten days. What happened, and what it means for you.</a:t>
            </a:r>
            <a:br/>
            <a:r>
              <a:t>The theme this week: the model race is cooling. The fight has moved to the rails around the model, implementation, governance, distribution, power and trust. Own your slice.</a:t>
            </a:r>
          </a:p>
        </p:txBody>
      </p:sp>
      <p:sp>
        <p:nvSpPr>
          <p:cNvPr id="6" name="Rounded Rectangle 5"/>
          <p:cNvSpPr/>
          <p:nvPr/>
        </p:nvSpPr>
        <p:spPr>
          <a:xfrm>
            <a:off x="13716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029200"/>
            <a:ext cx="2286000" cy="457200"/>
          </a:xfrm>
          <a:prstGeom prst="rect">
            <a:avLst/>
          </a:prstGeom>
          <a:noFill/>
        </p:spPr>
        <p:txBody>
          <a:bodyPr wrap="square">
            <a:spAutoFit/>
          </a:bodyPr>
          <a:lstStyle/>
          <a:p>
            <a:pPr algn="ctr">
              <a:defRPr sz="1400" b="1" i="0">
                <a:solidFill>
                  <a:srgbClr val="F5F5F5"/>
                </a:solidFill>
                <a:latin typeface="Arial"/>
              </a:defRPr>
            </a:pPr>
            <a:r>
              <a:t>50+ Sources</a:t>
            </a:r>
          </a:p>
        </p:txBody>
      </p:sp>
      <p:sp>
        <p:nvSpPr>
          <p:cNvPr id="8" name="TextBox 7"/>
          <p:cNvSpPr txBox="1"/>
          <p:nvPr/>
        </p:nvSpPr>
        <p:spPr>
          <a:xfrm>
            <a:off x="3840480" y="4983480"/>
            <a:ext cx="457200" cy="457200"/>
          </a:xfrm>
          <a:prstGeom prst="rect">
            <a:avLst/>
          </a:prstGeom>
          <a:noFill/>
        </p:spPr>
        <p:txBody>
          <a:bodyPr wrap="square">
            <a:spAutoFit/>
          </a:bodyPr>
          <a:lstStyle/>
          <a:p>
            <a:pPr algn="ctr">
              <a:defRPr sz="2800" b="0" i="0">
                <a:solidFill>
                  <a:srgbClr val="C81E1E"/>
                </a:solidFill>
                <a:latin typeface="Arial"/>
              </a:defRPr>
            </a:pPr>
            <a:r>
              <a:t>→</a:t>
            </a:r>
          </a:p>
        </p:txBody>
      </p:sp>
      <p:sp>
        <p:nvSpPr>
          <p:cNvPr id="9" name="Rounded Rectangle 8"/>
          <p:cNvSpPr/>
          <p:nvPr/>
        </p:nvSpPr>
        <p:spPr>
          <a:xfrm>
            <a:off x="45720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5029200"/>
            <a:ext cx="2286000" cy="457200"/>
          </a:xfrm>
          <a:prstGeom prst="rect">
            <a:avLst/>
          </a:prstGeom>
          <a:noFill/>
        </p:spPr>
        <p:txBody>
          <a:bodyPr wrap="square">
            <a:spAutoFit/>
          </a:bodyPr>
          <a:lstStyle/>
          <a:p>
            <a:pPr algn="ctr">
              <a:defRPr sz="1400" b="1" i="0">
                <a:solidFill>
                  <a:srgbClr val="F5F5F5"/>
                </a:solidFill>
                <a:latin typeface="Arial"/>
              </a:defRPr>
            </a:pPr>
            <a:r>
              <a:t>Signal Scoring</a:t>
            </a:r>
          </a:p>
        </p:txBody>
      </p:sp>
      <p:sp>
        <p:nvSpPr>
          <p:cNvPr id="11" name="TextBox 10"/>
          <p:cNvSpPr txBox="1"/>
          <p:nvPr/>
        </p:nvSpPr>
        <p:spPr>
          <a:xfrm>
            <a:off x="7040880" y="4983480"/>
            <a:ext cx="457200" cy="457200"/>
          </a:xfrm>
          <a:prstGeom prst="rect">
            <a:avLst/>
          </a:prstGeom>
          <a:noFill/>
        </p:spPr>
        <p:txBody>
          <a:bodyPr wrap="square">
            <a:spAutoFit/>
          </a:bodyPr>
          <a:lstStyle/>
          <a:p>
            <a:pPr algn="ctr">
              <a:defRPr sz="2800" b="0" i="0">
                <a:solidFill>
                  <a:srgbClr val="C81E1E"/>
                </a:solidFill>
                <a:latin typeface="Arial"/>
              </a:defRPr>
            </a:pPr>
            <a:r>
              <a:t>→</a:t>
            </a:r>
          </a:p>
        </p:txBody>
      </p:sp>
      <p:sp>
        <p:nvSpPr>
          <p:cNvPr id="12" name="Rounded Rectangle 11"/>
          <p:cNvSpPr/>
          <p:nvPr/>
        </p:nvSpPr>
        <p:spPr>
          <a:xfrm>
            <a:off x="77724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5029200"/>
            <a:ext cx="2286000" cy="457200"/>
          </a:xfrm>
          <a:prstGeom prst="rect">
            <a:avLst/>
          </a:prstGeom>
          <a:noFill/>
        </p:spPr>
        <p:txBody>
          <a:bodyPr wrap="square">
            <a:spAutoFit/>
          </a:bodyPr>
          <a:lstStyle/>
          <a:p>
            <a:pPr algn="ctr">
              <a:defRPr sz="1400" b="1" i="0">
                <a:solidFill>
                  <a:srgbClr val="F5F5F5"/>
                </a:solidFill>
                <a:latin typeface="Arial"/>
              </a:defRPr>
            </a:pPr>
            <a:r>
              <a:t>Top 4 Tonight</a:t>
            </a:r>
          </a:p>
        </p:txBody>
      </p:sp>
      <p:sp>
        <p:nvSpPr>
          <p:cNvPr id="14" name="TextBox 1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5" name="TextBox 1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01</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200" b="1" i="0">
                <a:solidFill>
                  <a:srgbClr val="F5F5F5"/>
                </a:solidFill>
                <a:latin typeface="Arial"/>
              </a:defRPr>
            </a:pPr>
            <a:r>
              <a:t>Claude Tag: AI Joins</a:t>
            </a:r>
            <a:br/>
            <a:r>
              <a:t>Your Team in Slack</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Today Anthropic launched Claude Tag, an evolution of Claude Code that joins Slack as a proactive team member with its own identity and memory. Tag it into a channel and it breaks a request into stages, works through them with the tools you grant it, and replies in the thread, writing or merging pull requests, running analysis or helping resolve an incident. One Claude per channel builds shared context, so any teammate can pick up exactly where you left off, and with ambient mode on it follows quiet threads and flags what matters on its own. Anthropic says 65 percent of its product team's code now comes from the internal version.</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LAUNCHED TODAY · 24 JUNE 2026</a:t>
            </a:r>
          </a:p>
        </p:txBody>
      </p:sp>
      <p:sp>
        <p:nvSpPr>
          <p:cNvPr id="7" name="TextBox 6"/>
          <p:cNvSpPr txBox="1"/>
          <p:nvPr/>
        </p:nvSpPr>
        <p:spPr>
          <a:xfrm>
            <a:off x="731520" y="4526280"/>
            <a:ext cx="6858000" cy="274320"/>
          </a:xfrm>
          <a:prstGeom prst="rect">
            <a:avLst/>
          </a:prstGeom>
          <a:noFill/>
        </p:spPr>
        <p:txBody>
          <a:bodyPr wrap="square">
            <a:spAutoFit/>
          </a:bodyPr>
          <a:lstStyle/>
          <a:p>
            <a:r>
              <a:rPr sz="1200" b="1">
                <a:solidFill>
                  <a:srgbClr val="E0B040"/>
                </a:solidFill>
                <a:latin typeface="Arial"/>
                <a:hlinkClick r:id="rId2"/>
              </a:rPr>
              <a:t>See the launch thread on X →</a:t>
            </a:r>
          </a:p>
        </p:txBody>
      </p:sp>
      <p:sp>
        <p:nvSpPr>
          <p:cNvPr id="8" name="Rounded Rectangle 7"/>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This is what the model becoming a teammate actually looks like, and it is live where your team already works. The skill is shifting from using a chatbot to delegating to an agent that has memory, tools and a seat in your channels. Start treating AI as a team member you brief and supervise, not a tab you visit. Decide which channels and tools it gets, hand it one real task this week, and review what it ships.</a:t>
            </a:r>
          </a:p>
        </p:txBody>
      </p:sp>
      <p:sp>
        <p:nvSpPr>
          <p:cNvPr id="11" name="Rounded Rectangle 10"/>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65%</a:t>
            </a:r>
          </a:p>
          <a:p>
            <a:pPr algn="l">
              <a:spcBef>
                <a:spcPts val="600"/>
              </a:spcBef>
              <a:defRPr sz="1200" b="0" i="0">
                <a:solidFill>
                  <a:srgbClr val="AAAAAA"/>
                </a:solidFill>
                <a:latin typeface="Arial"/>
              </a:defRPr>
            </a:pPr>
            <a:r>
              <a:t>Of Anthropic's product code, internal build</a:t>
            </a:r>
          </a:p>
        </p:txBody>
      </p:sp>
      <p:sp>
        <p:nvSpPr>
          <p:cNvPr id="13" name="Rounded Rectangle 12"/>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Multiplayer</a:t>
            </a:r>
          </a:p>
          <a:p>
            <a:pPr algn="l">
              <a:spcBef>
                <a:spcPts val="600"/>
              </a:spcBef>
              <a:defRPr sz="1200" b="0" i="0">
                <a:solidFill>
                  <a:srgbClr val="AAAAAA"/>
                </a:solidFill>
                <a:latin typeface="Arial"/>
              </a:defRPr>
            </a:pPr>
            <a:r>
              <a:t>One Claude per channel, shared memory</a:t>
            </a:r>
          </a:p>
        </p:txBody>
      </p:sp>
      <p:sp>
        <p:nvSpPr>
          <p:cNvPr id="15" name="Rounded Rectangle 14"/>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Ambient</a:t>
            </a:r>
          </a:p>
          <a:p>
            <a:pPr algn="l">
              <a:spcBef>
                <a:spcPts val="600"/>
              </a:spcBef>
              <a:defRPr sz="1200" b="0" i="0">
                <a:solidFill>
                  <a:srgbClr val="AAAAAA"/>
                </a:solidFill>
                <a:latin typeface="Arial"/>
              </a:defRPr>
            </a:pPr>
            <a:r>
              <a:t>It follows up on quiet threads itself</a:t>
            </a:r>
          </a:p>
        </p:txBody>
      </p:sp>
      <p:sp>
        <p:nvSpPr>
          <p:cNvPr id="17" name="TextBox 1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8" name="TextBox 1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02</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000" b="1" i="0">
                <a:solidFill>
                  <a:srgbClr val="F5F5F5"/>
                </a:solidFill>
                <a:latin typeface="Arial"/>
              </a:defRPr>
            </a:pPr>
            <a:r>
              <a:t>OpenAI Bets $150M That</a:t>
            </a:r>
            <a:br/>
            <a:r>
              <a:t>Implementation Beats Models</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On 14 June OpenAI launched its Partner Network, a $150 million programme to train and certify 300,000 consultants who build and deliver AI on its models. The launch cohort reads like a who's who of services: Accenture, Bain, BCG, McKinsey and PwC. Partners earn specialisations in Codex, cybersecurity and agents, and climb three tiers gated by real deployments. The message under the money is blunt: the model is no longer the bottleneck to value, delivery is.</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LAUNCHED 14 JUNE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most valuable AI company in the world just said out loud that capability is not the edge any more, implementation is. That is the whole game for a room like this. You do not need to train a model to win. You need to be the person who takes one and turns it into a result a business will pay for. In Bali that is a service you can sell from Monday.</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$150M</a:t>
            </a:r>
          </a:p>
          <a:p>
            <a:pPr algn="l">
              <a:spcBef>
                <a:spcPts val="600"/>
              </a:spcBef>
              <a:defRPr sz="1200" b="0" i="0">
                <a:solidFill>
                  <a:srgbClr val="AAAAAA"/>
                </a:solidFill>
                <a:latin typeface="Arial"/>
              </a:defRPr>
            </a:pPr>
            <a:r>
              <a:t>To enable the partner ecosystem</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300K</a:t>
            </a:r>
          </a:p>
          <a:p>
            <a:pPr algn="l">
              <a:spcBef>
                <a:spcPts val="600"/>
              </a:spcBef>
              <a:defRPr sz="1200" b="0" i="0">
                <a:solidFill>
                  <a:srgbClr val="AAAAAA"/>
                </a:solidFill>
                <a:latin typeface="Arial"/>
              </a:defRPr>
            </a:pPr>
            <a:r>
              <a:t>Certified consultants targeted this year</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Delivery</a:t>
            </a:r>
          </a:p>
          <a:p>
            <a:pPr algn="l">
              <a:spcBef>
                <a:spcPts val="600"/>
              </a:spcBef>
              <a:defRPr sz="1200" b="0" i="0">
                <a:solidFill>
                  <a:srgbClr val="AAAAAA"/>
                </a:solidFill>
                <a:latin typeface="Arial"/>
              </a:defRPr>
            </a:pPr>
            <a:r>
              <a:t>Is the new moat, not the model</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03</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000" b="1" i="0">
                <a:solidFill>
                  <a:srgbClr val="F5F5F5"/>
                </a:solidFill>
                <a:latin typeface="Arial"/>
              </a:defRPr>
            </a:pPr>
            <a:r>
              <a:t>Anthropic Opens Seoul as</a:t>
            </a:r>
            <a:br/>
            <a:r>
              <a:t>Korea Goes All In on Claude</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On 17 June Anthropic opened a Seoul office as NAVER, Samsung SDS and LG CNS moved to deploy Claude across their enterprises. Claude Code usage in Korea has grown six times in four months. The expansion is as much about government and enterprise relationships as it is about the model, in a region living under the shadow of export controls. The frontier labs are now competing on distribution and trust in Asia, not just on benchmarks.</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OPENED 17 JUNE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action in AI is moving to our part of the world, and the winners are deciding it on relationships and local presence, not model scores. For founders in Bali that is a door, not a headline. Asian enterprises are actively buying AI delivery right now. Being close, trusted and able to implement is worth more here than being the cleverest engineer on a benchmark.</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3</a:t>
            </a:r>
          </a:p>
          <a:p>
            <a:pPr algn="l">
              <a:spcBef>
                <a:spcPts val="600"/>
              </a:spcBef>
              <a:defRPr sz="1200" b="0" i="0">
                <a:solidFill>
                  <a:srgbClr val="AAAAAA"/>
                </a:solidFill>
                <a:latin typeface="Arial"/>
              </a:defRPr>
            </a:pPr>
            <a:r>
              <a:t>NAVER, Samsung SDS, LG CNS on board</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6x</a:t>
            </a:r>
          </a:p>
          <a:p>
            <a:pPr algn="l">
              <a:spcBef>
                <a:spcPts val="600"/>
              </a:spcBef>
              <a:defRPr sz="1200" b="0" i="0">
                <a:solidFill>
                  <a:srgbClr val="AAAAAA"/>
                </a:solidFill>
                <a:latin typeface="Arial"/>
              </a:defRPr>
            </a:pPr>
            <a:r>
              <a:t>Claude Code growth in Korea, 4 months</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APAC</a:t>
            </a:r>
          </a:p>
          <a:p>
            <a:pPr algn="l">
              <a:spcBef>
                <a:spcPts val="600"/>
              </a:spcBef>
              <a:defRPr sz="1200" b="0" i="0">
                <a:solidFill>
                  <a:srgbClr val="AAAAAA"/>
                </a:solidFill>
                <a:latin typeface="Arial"/>
              </a:defRPr>
            </a:pPr>
            <a:r>
              <a:t>Where the next land grab is</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04</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400" b="1" i="0">
                <a:solidFill>
                  <a:srgbClr val="F5F5F5"/>
                </a:solidFill>
                <a:latin typeface="Arial"/>
              </a:defRPr>
            </a:pPr>
            <a:r>
              <a:t>The Real AI Bottleneck</a:t>
            </a:r>
            <a:br/>
            <a:r>
              <a:t>Is Now the Power Grid</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On 18 June the US energy regulator FERC issued show cause orders to all six regional grid operators, forcing them to defend or reform the rules that decide how fast AI data centres can plug into the grid. It bypasses the usual years-long process. Behind it sit eye-watering build plans: Microsoft near $190 billion in AI capex and Google between $175 and $185 billion. The constraint on AI has quietly shifted from chips and models to electricity.</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ORDERS ISSUED 18 JUNE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When the bottleneck is power, not capability, two things follow for you. Inference will stay metered and priced like the scarce resource it is, so discipline in how you call models is a real edge, not a nicety. And the durable opportunities are the unglamorous ones around the boom, energy, efficiency and the picks and shovels, not just another chat wrapper.</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6</a:t>
            </a:r>
          </a:p>
          <a:p>
            <a:pPr algn="l">
              <a:spcBef>
                <a:spcPts val="600"/>
              </a:spcBef>
              <a:defRPr sz="1200" b="0" i="0">
                <a:solidFill>
                  <a:srgbClr val="AAAAAA"/>
                </a:solidFill>
                <a:latin typeface="Arial"/>
              </a:defRPr>
            </a:pPr>
            <a:r>
              <a:t>US grid operators put on notice</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$190B</a:t>
            </a:r>
          </a:p>
          <a:p>
            <a:pPr algn="l">
              <a:spcBef>
                <a:spcPts val="600"/>
              </a:spcBef>
              <a:defRPr sz="1200" b="0" i="0">
                <a:solidFill>
                  <a:srgbClr val="AAAAAA"/>
                </a:solidFill>
                <a:latin typeface="Arial"/>
              </a:defRPr>
            </a:pPr>
            <a:r>
              <a:t>Microsoft AI capex plan</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Power</a:t>
            </a:r>
          </a:p>
          <a:p>
            <a:pPr algn="l">
              <a:spcBef>
                <a:spcPts val="600"/>
              </a:spcBef>
              <a:defRPr sz="1200" b="0" i="0">
                <a:solidFill>
                  <a:srgbClr val="AAAAAA"/>
                </a:solidFill>
                <a:latin typeface="Arial"/>
              </a:defRPr>
            </a:pPr>
            <a:r>
              <a:t>The new limit on AI, not chips</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ACTION OF THE WEEK</a:t>
            </a:r>
          </a:p>
        </p:txBody>
      </p:sp>
      <p:sp>
        <p:nvSpPr>
          <p:cNvPr id="3" name="TextBox 2"/>
          <p:cNvSpPr txBox="1"/>
          <p:nvPr/>
        </p:nvSpPr>
        <p:spPr>
          <a:xfrm>
            <a:off x="731520" y="1005840"/>
            <a:ext cx="9144000" cy="914400"/>
          </a:xfrm>
          <a:prstGeom prst="rect">
            <a:avLst/>
          </a:prstGeom>
          <a:noFill/>
        </p:spPr>
        <p:txBody>
          <a:bodyPr wrap="square">
            <a:spAutoFit/>
          </a:bodyPr>
          <a:lstStyle/>
          <a:p>
            <a:pPr algn="l">
              <a:defRPr sz="3800" b="1" i="0">
                <a:solidFill>
                  <a:srgbClr val="F5F5F5"/>
                </a:solidFill>
                <a:latin typeface="Arial"/>
              </a:defRPr>
            </a:pPr>
            <a:r>
              <a:t>Audit the Rails You Own</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8503920" cy="914400"/>
          </a:xfrm>
          <a:prstGeom prst="rect">
            <a:avLst/>
          </a:prstGeom>
          <a:noFill/>
        </p:spPr>
        <p:txBody>
          <a:bodyPr wrap="square">
            <a:spAutoFit/>
          </a:bodyPr>
          <a:lstStyle/>
          <a:p>
            <a:pPr algn="l">
              <a:defRPr sz="1500" b="0" i="0">
                <a:solidFill>
                  <a:srgbClr val="AAAAAA"/>
                </a:solidFill>
                <a:latin typeface="Arial"/>
              </a:defRPr>
            </a:pPr>
            <a:r>
              <a:t>Every signal tonight points the same way. The model is the rented, commoditised part. Your durable edge is the rails you build around it: how you implement, govern, distribute and earn trust. Most teams over-invest in picking a model and under-invest in one of these. Find your weakest rail this week and shore it up.</a:t>
            </a:r>
          </a:p>
        </p:txBody>
      </p:sp>
      <p:sp>
        <p:nvSpPr>
          <p:cNvPr id="6" name="Rounded Rectangle 5"/>
          <p:cNvSpPr/>
          <p:nvPr/>
        </p:nvSpPr>
        <p:spPr>
          <a:xfrm>
            <a:off x="9601200" y="1097280"/>
            <a:ext cx="2194560" cy="164592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1417320"/>
            <a:ext cx="2194560" cy="1280160"/>
          </a:xfrm>
          <a:prstGeom prst="rect">
            <a:avLst/>
          </a:prstGeom>
          <a:noFill/>
        </p:spPr>
        <p:txBody>
          <a:bodyPr wrap="square">
            <a:spAutoFit/>
          </a:bodyPr>
          <a:lstStyle/>
          <a:p>
            <a:pPr algn="ctr">
              <a:defRPr sz="5600" b="1" i="0">
                <a:solidFill>
                  <a:srgbClr val="F5F5F5"/>
                </a:solidFill>
                <a:latin typeface="Arial"/>
              </a:defRPr>
            </a:pPr>
            <a:r>
              <a:t>10</a:t>
            </a:r>
          </a:p>
          <a:p>
            <a:pPr algn="ctr">
              <a:spcBef>
                <a:spcPts val="200"/>
              </a:spcBef>
              <a:defRPr sz="1600" b="1" i="0">
                <a:solidFill>
                  <a:srgbClr val="F5F5F5"/>
                </a:solidFill>
                <a:latin typeface="Arial"/>
              </a:defRPr>
            </a:pPr>
            <a:r>
              <a:t>MINUTES</a:t>
            </a:r>
          </a:p>
          <a:p>
            <a:pPr algn="ctr">
              <a:spcBef>
                <a:spcPts val="600"/>
              </a:spcBef>
              <a:defRPr sz="1000" b="0" i="0">
                <a:solidFill>
                  <a:srgbClr val="F5F5F5"/>
                </a:solidFill>
                <a:latin typeface="Arial"/>
              </a:defRPr>
            </a:pPr>
            <a:r>
              <a:t>To run the audit</a:t>
            </a:r>
          </a:p>
        </p:txBody>
      </p:sp>
      <p:sp>
        <p:nvSpPr>
          <p:cNvPr id="8" name="Rounded Rectangle 7"/>
          <p:cNvSpPr/>
          <p:nvPr/>
        </p:nvSpPr>
        <p:spPr>
          <a:xfrm>
            <a:off x="54864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39312"/>
            <a:ext cx="548640" cy="457200"/>
          </a:xfrm>
          <a:prstGeom prst="rect">
            <a:avLst/>
          </a:prstGeom>
          <a:noFill/>
        </p:spPr>
        <p:txBody>
          <a:bodyPr wrap="square">
            <a:spAutoFit/>
          </a:bodyPr>
          <a:lstStyle/>
          <a:p>
            <a:pPr algn="ctr">
              <a:defRPr sz="1500" b="1" i="0">
                <a:solidFill>
                  <a:srgbClr val="F5F5F5"/>
                </a:solidFill>
                <a:latin typeface="Arial"/>
              </a:defRPr>
            </a:pPr>
            <a:r>
              <a:t>01</a:t>
            </a:r>
          </a:p>
        </p:txBody>
      </p:sp>
      <p:sp>
        <p:nvSpPr>
          <p:cNvPr id="11" name="TextBox 10"/>
          <p:cNvSpPr txBox="1"/>
          <p:nvPr/>
        </p:nvSpPr>
        <p:spPr>
          <a:xfrm>
            <a:off x="1463040" y="3639312"/>
            <a:ext cx="1691640" cy="411480"/>
          </a:xfrm>
          <a:prstGeom prst="rect">
            <a:avLst/>
          </a:prstGeom>
          <a:noFill/>
        </p:spPr>
        <p:txBody>
          <a:bodyPr wrap="square">
            <a:spAutoFit/>
          </a:bodyPr>
          <a:lstStyle/>
          <a:p>
            <a:pPr algn="l">
              <a:defRPr sz="1800" b="1" i="0">
                <a:solidFill>
                  <a:srgbClr val="F5F5F5"/>
                </a:solidFill>
                <a:latin typeface="Arial"/>
              </a:defRPr>
            </a:pPr>
            <a:r>
              <a:t>List</a:t>
            </a:r>
          </a:p>
        </p:txBody>
      </p:sp>
      <p:sp>
        <p:nvSpPr>
          <p:cNvPr id="12" name="TextBox 11"/>
          <p:cNvSpPr txBox="1"/>
          <p:nvPr/>
        </p:nvSpPr>
        <p:spPr>
          <a:xfrm>
            <a:off x="822960" y="4251960"/>
            <a:ext cx="2240280" cy="640080"/>
          </a:xfrm>
          <a:prstGeom prst="rect">
            <a:avLst/>
          </a:prstGeom>
          <a:noFill/>
        </p:spPr>
        <p:txBody>
          <a:bodyPr wrap="square">
            <a:spAutoFit/>
          </a:bodyPr>
          <a:lstStyle/>
          <a:p>
            <a:pPr algn="l">
              <a:defRPr sz="1200" b="0" i="0">
                <a:solidFill>
                  <a:srgbClr val="AAAAAA"/>
                </a:solidFill>
                <a:latin typeface="Arial"/>
              </a:defRPr>
            </a:pPr>
            <a:r>
              <a:t>Write your four rails: implementation, governance, distribution, trust</a:t>
            </a:r>
          </a:p>
        </p:txBody>
      </p:sp>
      <p:sp>
        <p:nvSpPr>
          <p:cNvPr id="13" name="TextBox 12"/>
          <p:cNvSpPr txBox="1"/>
          <p:nvPr/>
        </p:nvSpPr>
        <p:spPr>
          <a:xfrm>
            <a:off x="320497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14" name="Rounded Rectangle 13"/>
          <p:cNvSpPr/>
          <p:nvPr/>
        </p:nvSpPr>
        <p:spPr>
          <a:xfrm>
            <a:off x="333756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1188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639312"/>
            <a:ext cx="548640" cy="457200"/>
          </a:xfrm>
          <a:prstGeom prst="rect">
            <a:avLst/>
          </a:prstGeom>
          <a:noFill/>
        </p:spPr>
        <p:txBody>
          <a:bodyPr wrap="square">
            <a:spAutoFit/>
          </a:bodyPr>
          <a:lstStyle/>
          <a:p>
            <a:pPr algn="ctr">
              <a:defRPr sz="1500" b="1" i="0">
                <a:solidFill>
                  <a:srgbClr val="F5F5F5"/>
                </a:solidFill>
                <a:latin typeface="Arial"/>
              </a:defRPr>
            </a:pPr>
            <a:r>
              <a:t>02</a:t>
            </a:r>
          </a:p>
        </p:txBody>
      </p:sp>
      <p:sp>
        <p:nvSpPr>
          <p:cNvPr id="17" name="TextBox 16"/>
          <p:cNvSpPr txBox="1"/>
          <p:nvPr/>
        </p:nvSpPr>
        <p:spPr>
          <a:xfrm>
            <a:off x="4251960" y="3639312"/>
            <a:ext cx="1691640" cy="411480"/>
          </a:xfrm>
          <a:prstGeom prst="rect">
            <a:avLst/>
          </a:prstGeom>
          <a:noFill/>
        </p:spPr>
        <p:txBody>
          <a:bodyPr wrap="square">
            <a:spAutoFit/>
          </a:bodyPr>
          <a:lstStyle/>
          <a:p>
            <a:pPr algn="l">
              <a:defRPr sz="1800" b="1" i="0">
                <a:solidFill>
                  <a:srgbClr val="F5F5F5"/>
                </a:solidFill>
                <a:latin typeface="Arial"/>
              </a:defRPr>
            </a:pPr>
            <a:r>
              <a:t>Score</a:t>
            </a:r>
          </a:p>
        </p:txBody>
      </p:sp>
      <p:sp>
        <p:nvSpPr>
          <p:cNvPr id="18" name="TextBox 17"/>
          <p:cNvSpPr txBox="1"/>
          <p:nvPr/>
        </p:nvSpPr>
        <p:spPr>
          <a:xfrm>
            <a:off x="3611880" y="4251960"/>
            <a:ext cx="2240280" cy="640080"/>
          </a:xfrm>
          <a:prstGeom prst="rect">
            <a:avLst/>
          </a:prstGeom>
          <a:noFill/>
        </p:spPr>
        <p:txBody>
          <a:bodyPr wrap="square">
            <a:spAutoFit/>
          </a:bodyPr>
          <a:lstStyle/>
          <a:p>
            <a:pPr algn="l">
              <a:defRPr sz="1200" b="0" i="0">
                <a:solidFill>
                  <a:srgbClr val="AAAAAA"/>
                </a:solidFill>
                <a:latin typeface="Arial"/>
              </a:defRPr>
            </a:pPr>
            <a:r>
              <a:t>Rate each out of ten on how strong and defensible it is today</a:t>
            </a:r>
          </a:p>
        </p:txBody>
      </p:sp>
      <p:sp>
        <p:nvSpPr>
          <p:cNvPr id="19" name="TextBox 18"/>
          <p:cNvSpPr txBox="1"/>
          <p:nvPr/>
        </p:nvSpPr>
        <p:spPr>
          <a:xfrm>
            <a:off x="599389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0" name="Rounded Rectangle 19"/>
          <p:cNvSpPr/>
          <p:nvPr/>
        </p:nvSpPr>
        <p:spPr>
          <a:xfrm>
            <a:off x="612648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39312"/>
            <a:ext cx="548640" cy="457200"/>
          </a:xfrm>
          <a:prstGeom prst="rect">
            <a:avLst/>
          </a:prstGeom>
          <a:noFill/>
        </p:spPr>
        <p:txBody>
          <a:bodyPr wrap="square">
            <a:spAutoFit/>
          </a:bodyPr>
          <a:lstStyle/>
          <a:p>
            <a:pPr algn="ctr">
              <a:defRPr sz="1500" b="1" i="0">
                <a:solidFill>
                  <a:srgbClr val="F5F5F5"/>
                </a:solidFill>
                <a:latin typeface="Arial"/>
              </a:defRPr>
            </a:pPr>
            <a:r>
              <a:t>03</a:t>
            </a:r>
          </a:p>
        </p:txBody>
      </p:sp>
      <p:sp>
        <p:nvSpPr>
          <p:cNvPr id="23" name="TextBox 22"/>
          <p:cNvSpPr txBox="1"/>
          <p:nvPr/>
        </p:nvSpPr>
        <p:spPr>
          <a:xfrm>
            <a:off x="7040880" y="3639312"/>
            <a:ext cx="1691640" cy="411480"/>
          </a:xfrm>
          <a:prstGeom prst="rect">
            <a:avLst/>
          </a:prstGeom>
          <a:noFill/>
        </p:spPr>
        <p:txBody>
          <a:bodyPr wrap="square">
            <a:spAutoFit/>
          </a:bodyPr>
          <a:lstStyle/>
          <a:p>
            <a:pPr algn="l">
              <a:defRPr sz="1800" b="1" i="0">
                <a:solidFill>
                  <a:srgbClr val="F5F5F5"/>
                </a:solidFill>
                <a:latin typeface="Arial"/>
              </a:defRPr>
            </a:pPr>
            <a:r>
              <a:t>Pick</a:t>
            </a:r>
          </a:p>
        </p:txBody>
      </p:sp>
      <p:sp>
        <p:nvSpPr>
          <p:cNvPr id="24" name="TextBox 23"/>
          <p:cNvSpPr txBox="1"/>
          <p:nvPr/>
        </p:nvSpPr>
        <p:spPr>
          <a:xfrm>
            <a:off x="6400800" y="4251960"/>
            <a:ext cx="2240280" cy="640080"/>
          </a:xfrm>
          <a:prstGeom prst="rect">
            <a:avLst/>
          </a:prstGeom>
          <a:noFill/>
        </p:spPr>
        <p:txBody>
          <a:bodyPr wrap="square">
            <a:spAutoFit/>
          </a:bodyPr>
          <a:lstStyle/>
          <a:p>
            <a:pPr algn="l">
              <a:defRPr sz="1200" b="0" i="0">
                <a:solidFill>
                  <a:srgbClr val="AAAAAA"/>
                </a:solidFill>
                <a:latin typeface="Arial"/>
              </a:defRPr>
            </a:pPr>
            <a:r>
              <a:t>Take your lowest score, the rail a competitor could beat you on</a:t>
            </a:r>
          </a:p>
        </p:txBody>
      </p:sp>
      <p:sp>
        <p:nvSpPr>
          <p:cNvPr id="25" name="TextBox 24"/>
          <p:cNvSpPr txBox="1"/>
          <p:nvPr/>
        </p:nvSpPr>
        <p:spPr>
          <a:xfrm>
            <a:off x="878281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6" name="Rounded Rectangle 25"/>
          <p:cNvSpPr/>
          <p:nvPr/>
        </p:nvSpPr>
        <p:spPr>
          <a:xfrm>
            <a:off x="891540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2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639312"/>
            <a:ext cx="548640" cy="457200"/>
          </a:xfrm>
          <a:prstGeom prst="rect">
            <a:avLst/>
          </a:prstGeom>
          <a:noFill/>
        </p:spPr>
        <p:txBody>
          <a:bodyPr wrap="square">
            <a:spAutoFit/>
          </a:bodyPr>
          <a:lstStyle/>
          <a:p>
            <a:pPr algn="ctr">
              <a:defRPr sz="1500" b="1" i="0">
                <a:solidFill>
                  <a:srgbClr val="F5F5F5"/>
                </a:solidFill>
                <a:latin typeface="Arial"/>
              </a:defRPr>
            </a:pPr>
            <a:r>
              <a:t>04</a:t>
            </a:r>
          </a:p>
        </p:txBody>
      </p:sp>
      <p:sp>
        <p:nvSpPr>
          <p:cNvPr id="29" name="TextBox 28"/>
          <p:cNvSpPr txBox="1"/>
          <p:nvPr/>
        </p:nvSpPr>
        <p:spPr>
          <a:xfrm>
            <a:off x="9829800" y="3639312"/>
            <a:ext cx="1691640" cy="411480"/>
          </a:xfrm>
          <a:prstGeom prst="rect">
            <a:avLst/>
          </a:prstGeom>
          <a:noFill/>
        </p:spPr>
        <p:txBody>
          <a:bodyPr wrap="square">
            <a:spAutoFit/>
          </a:bodyPr>
          <a:lstStyle/>
          <a:p>
            <a:pPr algn="l">
              <a:defRPr sz="1800" b="1" i="0">
                <a:solidFill>
                  <a:srgbClr val="F5F5F5"/>
                </a:solidFill>
                <a:latin typeface="Arial"/>
              </a:defRPr>
            </a:pPr>
            <a:r>
              <a:t>Fix one</a:t>
            </a:r>
          </a:p>
        </p:txBody>
      </p:sp>
      <p:sp>
        <p:nvSpPr>
          <p:cNvPr id="30" name="TextBox 29"/>
          <p:cNvSpPr txBox="1"/>
          <p:nvPr/>
        </p:nvSpPr>
        <p:spPr>
          <a:xfrm>
            <a:off x="9189720" y="4251960"/>
            <a:ext cx="2240280" cy="640080"/>
          </a:xfrm>
          <a:prstGeom prst="rect">
            <a:avLst/>
          </a:prstGeom>
          <a:noFill/>
        </p:spPr>
        <p:txBody>
          <a:bodyPr wrap="square">
            <a:spAutoFit/>
          </a:bodyPr>
          <a:lstStyle/>
          <a:p>
            <a:pPr algn="l">
              <a:defRPr sz="1200" b="0" i="0">
                <a:solidFill>
                  <a:srgbClr val="AAAAAA"/>
                </a:solidFill>
                <a:latin typeface="Arial"/>
              </a:defRPr>
            </a:pPr>
            <a:r>
              <a:t>Ship a single concrete improvement to that rail this week</a:t>
            </a:r>
          </a:p>
        </p:txBody>
      </p:sp>
      <p:sp>
        <p:nvSpPr>
          <p:cNvPr id="31" name="Rounded Rectangle 30"/>
          <p:cNvSpPr/>
          <p:nvPr/>
        </p:nvSpPr>
        <p:spPr>
          <a:xfrm>
            <a:off x="731520" y="5257800"/>
            <a:ext cx="10698480" cy="11430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257800"/>
            <a:ext cx="50800" cy="11430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367528"/>
            <a:ext cx="10378440" cy="9601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model you use will be matched or beaten within weeks, on whatever is cheapest and still online. The rails around it are what compound and what a buyer actually pays for. Spend less energy on which model and more on the implementation, governance, distribution and trust that no one can copy with a download. That is the moat.</a:t>
            </a:r>
          </a:p>
        </p:txBody>
      </p:sp>
      <p:sp>
        <p:nvSpPr>
          <p:cNvPr id="34" name="TextBox 3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35" name="TextBox 3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BY TIER</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000" b="1" i="0">
                <a:solidFill>
                  <a:srgbClr val="F5F5F5"/>
                </a:solidFill>
                <a:latin typeface="Arial"/>
              </a:defRPr>
            </a:pPr>
            <a:r>
              <a:t>What To Do With This Week's News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548640"/>
          </a:xfrm>
          <a:prstGeom prst="rect">
            <a:avLst/>
          </a:prstGeom>
          <a:noFill/>
        </p:spPr>
        <p:txBody>
          <a:bodyPr wrap="square">
            <a:spAutoFit/>
          </a:bodyPr>
          <a:lstStyle/>
          <a:p>
            <a:pPr algn="l">
              <a:defRPr sz="1600" b="0" i="0">
                <a:solidFill>
                  <a:srgbClr val="AAAAAA"/>
                </a:solidFill>
                <a:latin typeface="Arial"/>
              </a:defRPr>
            </a:pPr>
            <a:r>
              <a:t>One action calibrated to where you are right now. Pick your column.</a:t>
            </a:r>
          </a:p>
        </p:txBody>
      </p:sp>
      <p:sp>
        <p:nvSpPr>
          <p:cNvPr id="6" name="Rounded Rectangle 5"/>
          <p:cNvSpPr/>
          <p:nvPr/>
        </p:nvSpPr>
        <p:spPr>
          <a:xfrm>
            <a:off x="45720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3108960" cy="274320"/>
          </a:xfrm>
          <a:prstGeom prst="rect">
            <a:avLst/>
          </a:prstGeom>
          <a:noFill/>
        </p:spPr>
        <p:txBody>
          <a:bodyPr wrap="square">
            <a:spAutoFit/>
          </a:bodyPr>
          <a:lstStyle/>
          <a:p>
            <a:pPr algn="l">
              <a:defRPr sz="1200" b="1" i="0">
                <a:solidFill>
                  <a:srgbClr val="C81E1E"/>
                </a:solidFill>
                <a:latin typeface="Arial"/>
              </a:defRPr>
            </a:pPr>
            <a:r>
              <a:t>TIER 1, EXPLORER</a:t>
            </a:r>
          </a:p>
        </p:txBody>
      </p:sp>
      <p:sp>
        <p:nvSpPr>
          <p:cNvPr id="9" name="TextBox 8"/>
          <p:cNvSpPr txBox="1"/>
          <p:nvPr/>
        </p:nvSpPr>
        <p:spPr>
          <a:xfrm>
            <a:off x="731520" y="3611880"/>
            <a:ext cx="3108960" cy="548640"/>
          </a:xfrm>
          <a:prstGeom prst="rect">
            <a:avLst/>
          </a:prstGeom>
          <a:noFill/>
        </p:spPr>
        <p:txBody>
          <a:bodyPr wrap="square">
            <a:spAutoFit/>
          </a:bodyPr>
          <a:lstStyle/>
          <a:p>
            <a:pPr algn="l">
              <a:defRPr sz="2000" b="1" i="0">
                <a:solidFill>
                  <a:srgbClr val="F5F5F5"/>
                </a:solidFill>
                <a:latin typeface="Arial"/>
              </a:defRPr>
            </a:pPr>
            <a:r>
              <a:t>Pick the cheap model</a:t>
            </a:r>
          </a:p>
        </p:txBody>
      </p:sp>
      <p:sp>
        <p:nvSpPr>
          <p:cNvPr id="10" name="TextBox 9"/>
          <p:cNvSpPr txBox="1"/>
          <p:nvPr/>
        </p:nvSpPr>
        <p:spPr>
          <a:xfrm>
            <a:off x="731520" y="4389120"/>
            <a:ext cx="3108960" cy="1645919"/>
          </a:xfrm>
          <a:prstGeom prst="rect">
            <a:avLst/>
          </a:prstGeom>
          <a:noFill/>
        </p:spPr>
        <p:txBody>
          <a:bodyPr wrap="square">
            <a:spAutoFit/>
          </a:bodyPr>
          <a:lstStyle/>
          <a:p>
            <a:pPr algn="l">
              <a:defRPr sz="1200" b="0" i="0">
                <a:solidFill>
                  <a:srgbClr val="AAAAAA"/>
                </a:solidFill>
                <a:latin typeface="Arial"/>
              </a:defRPr>
            </a:pPr>
            <a:r>
              <a:t>•  Try a low-cost frontier model through a provider you already use this week</a:t>
            </a:r>
            <a:br/>
            <a:br/>
            <a:r>
              <a:t>•  Notice you can swap models without changing how you work</a:t>
            </a:r>
            <a:br/>
            <a:br/>
            <a:r>
              <a:t>•  Stop paying premium prices for a capability that is now a commodity</a:t>
            </a:r>
          </a:p>
        </p:txBody>
      </p:sp>
      <p:sp>
        <p:nvSpPr>
          <p:cNvPr id="11" name="TextBox 10"/>
          <p:cNvSpPr txBox="1"/>
          <p:nvPr/>
        </p:nvSpPr>
        <p:spPr>
          <a:xfrm>
            <a:off x="731520" y="6126479"/>
            <a:ext cx="3108960" cy="365760"/>
          </a:xfrm>
          <a:prstGeom prst="rect">
            <a:avLst/>
          </a:prstGeom>
          <a:noFill/>
        </p:spPr>
        <p:txBody>
          <a:bodyPr wrap="square">
            <a:spAutoFit/>
          </a:bodyPr>
          <a:lstStyle/>
          <a:p>
            <a:pPr algn="l">
              <a:defRPr sz="1200" b="1" i="1">
                <a:solidFill>
                  <a:srgbClr val="C81E1E"/>
                </a:solidFill>
                <a:latin typeface="Arial"/>
              </a:defRPr>
            </a:pPr>
            <a:r>
              <a:t>Goal: feel models become interchangeable parts</a:t>
            </a:r>
          </a:p>
        </p:txBody>
      </p:sp>
      <p:sp>
        <p:nvSpPr>
          <p:cNvPr id="12" name="Rounded Rectangle 11"/>
          <p:cNvSpPr/>
          <p:nvPr/>
        </p:nvSpPr>
        <p:spPr>
          <a:xfrm>
            <a:off x="425196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246120"/>
            <a:ext cx="3108960" cy="274320"/>
          </a:xfrm>
          <a:prstGeom prst="rect">
            <a:avLst/>
          </a:prstGeom>
          <a:noFill/>
        </p:spPr>
        <p:txBody>
          <a:bodyPr wrap="square">
            <a:spAutoFit/>
          </a:bodyPr>
          <a:lstStyle/>
          <a:p>
            <a:pPr algn="l">
              <a:defRPr sz="1200" b="1" i="0">
                <a:solidFill>
                  <a:srgbClr val="C81E1E"/>
                </a:solidFill>
                <a:latin typeface="Arial"/>
              </a:defRPr>
            </a:pPr>
            <a:r>
              <a:t>TIER 2, OPERATOR</a:t>
            </a:r>
          </a:p>
        </p:txBody>
      </p:sp>
      <p:sp>
        <p:nvSpPr>
          <p:cNvPr id="15" name="TextBox 14"/>
          <p:cNvSpPr txBox="1"/>
          <p:nvPr/>
        </p:nvSpPr>
        <p:spPr>
          <a:xfrm>
            <a:off x="4526280" y="3611880"/>
            <a:ext cx="3108960" cy="548640"/>
          </a:xfrm>
          <a:prstGeom prst="rect">
            <a:avLst/>
          </a:prstGeom>
          <a:noFill/>
        </p:spPr>
        <p:txBody>
          <a:bodyPr wrap="square">
            <a:spAutoFit/>
          </a:bodyPr>
          <a:lstStyle/>
          <a:p>
            <a:pPr algn="l">
              <a:defRPr sz="2000" b="1" i="0">
                <a:solidFill>
                  <a:srgbClr val="F5F5F5"/>
                </a:solidFill>
                <a:latin typeface="Arial"/>
              </a:defRPr>
            </a:pPr>
            <a:r>
              <a:t>Sell the implementation</a:t>
            </a:r>
          </a:p>
        </p:txBody>
      </p:sp>
      <p:sp>
        <p:nvSpPr>
          <p:cNvPr id="16" name="TextBox 15"/>
          <p:cNvSpPr txBox="1"/>
          <p:nvPr/>
        </p:nvSpPr>
        <p:spPr>
          <a:xfrm>
            <a:off x="4526280" y="4389120"/>
            <a:ext cx="3108960" cy="1645919"/>
          </a:xfrm>
          <a:prstGeom prst="rect">
            <a:avLst/>
          </a:prstGeom>
          <a:noFill/>
        </p:spPr>
        <p:txBody>
          <a:bodyPr wrap="square">
            <a:spAutoFit/>
          </a:bodyPr>
          <a:lstStyle/>
          <a:p>
            <a:pPr algn="l">
              <a:defRPr sz="1200" b="0" i="0">
                <a:solidFill>
                  <a:srgbClr val="AAAAAA"/>
                </a:solidFill>
                <a:latin typeface="Arial"/>
              </a:defRPr>
            </a:pPr>
            <a:r>
              <a:t>•  Package one AI workflow you have nailed as a service you can deliver</a:t>
            </a:r>
            <a:br/>
            <a:br/>
            <a:r>
              <a:t>•  Lead with the result and the delivery, not the model underneath</a:t>
            </a:r>
            <a:br/>
            <a:br/>
            <a:r>
              <a:t>•  Treat OpenAI's 300,000-consultant bet as your market signal</a:t>
            </a:r>
          </a:p>
        </p:txBody>
      </p:sp>
      <p:sp>
        <p:nvSpPr>
          <p:cNvPr id="17" name="TextBox 16"/>
          <p:cNvSpPr txBox="1"/>
          <p:nvPr/>
        </p:nvSpPr>
        <p:spPr>
          <a:xfrm>
            <a:off x="4526280" y="6126479"/>
            <a:ext cx="3108960" cy="365760"/>
          </a:xfrm>
          <a:prstGeom prst="rect">
            <a:avLst/>
          </a:prstGeom>
          <a:noFill/>
        </p:spPr>
        <p:txBody>
          <a:bodyPr wrap="square">
            <a:spAutoFit/>
          </a:bodyPr>
          <a:lstStyle/>
          <a:p>
            <a:pPr algn="l">
              <a:defRPr sz="1200" b="1" i="1">
                <a:solidFill>
                  <a:srgbClr val="C81E1E"/>
                </a:solidFill>
                <a:latin typeface="Arial"/>
              </a:defRPr>
            </a:pPr>
            <a:r>
              <a:t>Goal: get paid for delivery, not for the model</a:t>
            </a:r>
          </a:p>
        </p:txBody>
      </p:sp>
      <p:sp>
        <p:nvSpPr>
          <p:cNvPr id="18" name="Rounded Rectangle 17"/>
          <p:cNvSpPr/>
          <p:nvPr/>
        </p:nvSpPr>
        <p:spPr>
          <a:xfrm>
            <a:off x="804672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246120"/>
            <a:ext cx="3108960" cy="274320"/>
          </a:xfrm>
          <a:prstGeom prst="rect">
            <a:avLst/>
          </a:prstGeom>
          <a:noFill/>
        </p:spPr>
        <p:txBody>
          <a:bodyPr wrap="square">
            <a:spAutoFit/>
          </a:bodyPr>
          <a:lstStyle/>
          <a:p>
            <a:pPr algn="l">
              <a:defRPr sz="1200" b="1" i="0">
                <a:solidFill>
                  <a:srgbClr val="C81E1E"/>
                </a:solidFill>
                <a:latin typeface="Arial"/>
              </a:defRPr>
            </a:pPr>
            <a:r>
              <a:t>TIER 3, BUILDER</a:t>
            </a:r>
          </a:p>
        </p:txBody>
      </p:sp>
      <p:sp>
        <p:nvSpPr>
          <p:cNvPr id="21" name="TextBox 20"/>
          <p:cNvSpPr txBox="1"/>
          <p:nvPr/>
        </p:nvSpPr>
        <p:spPr>
          <a:xfrm>
            <a:off x="8321040" y="3611880"/>
            <a:ext cx="3108960" cy="548640"/>
          </a:xfrm>
          <a:prstGeom prst="rect">
            <a:avLst/>
          </a:prstGeom>
          <a:noFill/>
        </p:spPr>
        <p:txBody>
          <a:bodyPr wrap="square">
            <a:spAutoFit/>
          </a:bodyPr>
          <a:lstStyle/>
          <a:p>
            <a:pPr algn="l">
              <a:defRPr sz="2000" b="1" i="0">
                <a:solidFill>
                  <a:srgbClr val="F5F5F5"/>
                </a:solidFill>
                <a:latin typeface="Arial"/>
              </a:defRPr>
            </a:pPr>
            <a:r>
              <a:t>Build the governance in</a:t>
            </a:r>
          </a:p>
        </p:txBody>
      </p:sp>
      <p:sp>
        <p:nvSpPr>
          <p:cNvPr id="22" name="TextBox 21"/>
          <p:cNvSpPr txBox="1"/>
          <p:nvPr/>
        </p:nvSpPr>
        <p:spPr>
          <a:xfrm>
            <a:off x="8321040" y="4389120"/>
            <a:ext cx="3108960" cy="1645919"/>
          </a:xfrm>
          <a:prstGeom prst="rect">
            <a:avLst/>
          </a:prstGeom>
          <a:noFill/>
        </p:spPr>
        <p:txBody>
          <a:bodyPr wrap="square">
            <a:spAutoFit/>
          </a:bodyPr>
          <a:lstStyle/>
          <a:p>
            <a:pPr algn="l">
              <a:defRPr sz="1200" b="0" i="0">
                <a:solidFill>
                  <a:srgbClr val="AAAAAA"/>
                </a:solidFill>
                <a:latin typeface="Arial"/>
              </a:defRPr>
            </a:pPr>
            <a:r>
              <a:t>•  Add an action log to every agent: what it did, for whom, against what</a:t>
            </a:r>
            <a:br/>
            <a:br/>
            <a:r>
              <a:t>•  Put a human approve-or-block switch on anything that touches the real world</a:t>
            </a:r>
            <a:br/>
            <a:br/>
            <a:r>
              <a:t>•  Route across two providers so no single model can take you down</a:t>
            </a:r>
          </a:p>
        </p:txBody>
      </p:sp>
      <p:sp>
        <p:nvSpPr>
          <p:cNvPr id="23" name="TextBox 22"/>
          <p:cNvSpPr txBox="1"/>
          <p:nvPr/>
        </p:nvSpPr>
        <p:spPr>
          <a:xfrm>
            <a:off x="8321040" y="6126479"/>
            <a:ext cx="3108960" cy="365760"/>
          </a:xfrm>
          <a:prstGeom prst="rect">
            <a:avLst/>
          </a:prstGeom>
          <a:noFill/>
        </p:spPr>
        <p:txBody>
          <a:bodyPr wrap="square">
            <a:spAutoFit/>
          </a:bodyPr>
          <a:lstStyle/>
          <a:p>
            <a:pPr algn="l">
              <a:defRPr sz="1200" b="1" i="1">
                <a:solidFill>
                  <a:srgbClr val="C81E1E"/>
                </a:solidFill>
                <a:latin typeface="Arial"/>
              </a:defRPr>
            </a:pPr>
            <a:r>
              <a:t>Goal: governance that lets you sell to serious buyers</a:t>
            </a:r>
          </a:p>
        </p:txBody>
      </p:sp>
      <p:sp>
        <p:nvSpPr>
          <p:cNvPr id="24" name="TextBox 2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5" name="TextBox 2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4114800" y="1828800"/>
            <a:ext cx="7315200" cy="365760"/>
          </a:xfrm>
          <a:prstGeom prst="rect">
            <a:avLst/>
          </a:prstGeom>
          <a:noFill/>
        </p:spPr>
        <p:txBody>
          <a:bodyPr wrap="square">
            <a:spAutoFit/>
          </a:bodyPr>
          <a:lstStyle/>
          <a:p>
            <a:pPr algn="l">
              <a:defRPr sz="1300" b="1" i="0">
                <a:solidFill>
                  <a:srgbClr val="C81E1E"/>
                </a:solidFill>
                <a:latin typeface="Arial"/>
              </a:defRPr>
            </a:pPr>
            <a:r>
              <a:t>7:15 PM</a:t>
            </a:r>
          </a:p>
        </p:txBody>
      </p:sp>
      <p:sp>
        <p:nvSpPr>
          <p:cNvPr id="3" name="TextBox 2"/>
          <p:cNvSpPr txBox="1"/>
          <p:nvPr/>
        </p:nvSpPr>
        <p:spPr>
          <a:xfrm>
            <a:off x="1371600" y="2560320"/>
            <a:ext cx="9144000" cy="914400"/>
          </a:xfrm>
          <a:prstGeom prst="rect">
            <a:avLst/>
          </a:prstGeom>
          <a:noFill/>
        </p:spPr>
        <p:txBody>
          <a:bodyPr wrap="square">
            <a:spAutoFit/>
          </a:bodyPr>
          <a:lstStyle/>
          <a:p>
            <a:pPr algn="ctr">
              <a:defRPr sz="6400" b="1" i="0">
                <a:solidFill>
                  <a:srgbClr val="F5F5F5"/>
                </a:solidFill>
                <a:latin typeface="Arial"/>
              </a:defRPr>
            </a:pPr>
            <a:r>
              <a:t>Dinner &amp; Drinks</a:t>
            </a:r>
          </a:p>
        </p:txBody>
      </p:sp>
      <p:sp>
        <p:nvSpPr>
          <p:cNvPr id="4" name="Rectangle 3"/>
          <p:cNvSpPr/>
          <p:nvPr/>
        </p:nvSpPr>
        <p:spPr>
          <a:xfrm>
            <a:off x="5669280" y="36576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4114800"/>
            <a:ext cx="8229600" cy="457200"/>
          </a:xfrm>
          <a:prstGeom prst="rect">
            <a:avLst/>
          </a:prstGeom>
          <a:noFill/>
        </p:spPr>
        <p:txBody>
          <a:bodyPr wrap="square">
            <a:spAutoFit/>
          </a:bodyPr>
          <a:lstStyle/>
          <a:p>
            <a:pPr algn="ctr">
              <a:defRPr sz="2200" b="0" i="0">
                <a:solidFill>
                  <a:srgbClr val="888888"/>
                </a:solidFill>
                <a:latin typeface="Arial"/>
              </a:defRPr>
            </a:pPr>
            <a:r>
              <a:t>Order up. Best conversations happen over food.</a:t>
            </a:r>
          </a:p>
        </p:txBody>
      </p:sp>
      <p:sp>
        <p:nvSpPr>
          <p:cNvPr id="6" name="TextBox 5"/>
          <p:cNvSpPr txBox="1"/>
          <p:nvPr/>
        </p:nvSpPr>
        <p:spPr>
          <a:xfrm>
            <a:off x="1828800" y="4754880"/>
            <a:ext cx="8229600" cy="365760"/>
          </a:xfrm>
          <a:prstGeom prst="rect">
            <a:avLst/>
          </a:prstGeom>
          <a:noFill/>
        </p:spPr>
        <p:txBody>
          <a:bodyPr wrap="square">
            <a:spAutoFit/>
          </a:bodyPr>
          <a:lstStyle/>
          <a:p>
            <a:pPr algn="ctr">
              <a:defRPr sz="1700" b="0" i="0">
                <a:solidFill>
                  <a:srgbClr val="888888"/>
                </a:solidFill>
                <a:latin typeface="Arial"/>
              </a:defRPr>
            </a:pPr>
            <a:r>
              <a:t>Builder Spotlights start at 7:30 sharp.</a:t>
            </a:r>
          </a:p>
        </p:txBody>
      </p:sp>
      <p:sp>
        <p:nvSpPr>
          <p:cNvPr id="7" name="TextBox 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8" name="TextBox 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4114800" y="1371600"/>
            <a:ext cx="7315200" cy="365760"/>
          </a:xfrm>
          <a:prstGeom prst="rect">
            <a:avLst/>
          </a:prstGeom>
          <a:noFill/>
        </p:spPr>
        <p:txBody>
          <a:bodyPr wrap="square">
            <a:spAutoFit/>
          </a:bodyPr>
          <a:lstStyle/>
          <a:p>
            <a:pPr algn="l">
              <a:defRPr sz="1300" b="1" i="0">
                <a:solidFill>
                  <a:srgbClr val="C81E1E"/>
                </a:solidFill>
                <a:latin typeface="Arial"/>
              </a:defRPr>
            </a:pPr>
            <a:r>
              <a:t>7:30 PM</a:t>
            </a:r>
          </a:p>
        </p:txBody>
      </p:sp>
      <p:sp>
        <p:nvSpPr>
          <p:cNvPr id="3" name="TextBox 2"/>
          <p:cNvSpPr txBox="1"/>
          <p:nvPr/>
        </p:nvSpPr>
        <p:spPr>
          <a:xfrm>
            <a:off x="1371600" y="2011680"/>
            <a:ext cx="9144000" cy="914400"/>
          </a:xfrm>
          <a:prstGeom prst="rect">
            <a:avLst/>
          </a:prstGeom>
          <a:noFill/>
        </p:spPr>
        <p:txBody>
          <a:bodyPr wrap="square">
            <a:spAutoFit/>
          </a:bodyPr>
          <a:lstStyle/>
          <a:p>
            <a:pPr algn="ctr">
              <a:defRPr sz="6400" b="1" i="0">
                <a:solidFill>
                  <a:srgbClr val="F5F5F5"/>
                </a:solidFill>
                <a:latin typeface="Arial"/>
              </a:defRPr>
            </a:pPr>
            <a:r>
              <a:t>Builder Spotlights</a:t>
            </a:r>
          </a:p>
        </p:txBody>
      </p:sp>
      <p:sp>
        <p:nvSpPr>
          <p:cNvPr id="4" name="Rectangle 3"/>
          <p:cNvSpPr/>
          <p:nvPr/>
        </p:nvSpPr>
        <p:spPr>
          <a:xfrm>
            <a:off x="5669280" y="32004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 y="3840480"/>
            <a:ext cx="2926080" cy="20116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0" y="4023360"/>
            <a:ext cx="2926080" cy="1645920"/>
          </a:xfrm>
          <a:prstGeom prst="rect">
            <a:avLst/>
          </a:prstGeom>
          <a:noFill/>
        </p:spPr>
        <p:txBody>
          <a:bodyPr wrap="square">
            <a:spAutoFit/>
          </a:bodyPr>
          <a:lstStyle/>
          <a:p>
            <a:pPr algn="ctr">
              <a:defRPr sz="4400" b="1" i="0">
                <a:solidFill>
                  <a:srgbClr val="C81E1E"/>
                </a:solidFill>
                <a:latin typeface="Arial"/>
              </a:defRPr>
            </a:pPr>
            <a:r>
              <a:t>01</a:t>
            </a:r>
          </a:p>
          <a:p>
            <a:pPr algn="ctr">
              <a:spcBef>
                <a:spcPts val="800"/>
              </a:spcBef>
              <a:defRPr sz="1600" b="1" i="0">
                <a:solidFill>
                  <a:srgbClr val="F5F5F5"/>
                </a:solidFill>
                <a:latin typeface="Arial"/>
              </a:defRPr>
            </a:pPr>
            <a:r>
              <a:t>10 min + 5 min Q&amp;A</a:t>
            </a:r>
          </a:p>
          <a:p>
            <a:pPr algn="ctr">
              <a:spcBef>
                <a:spcPts val="600"/>
              </a:spcBef>
              <a:defRPr sz="1300" b="0" i="0">
                <a:solidFill>
                  <a:srgbClr val="888888"/>
                </a:solidFill>
                <a:latin typeface="Arial"/>
              </a:defRPr>
            </a:pPr>
            <a:r>
              <a:t>[Builder name + what they built]</a:t>
            </a:r>
          </a:p>
        </p:txBody>
      </p:sp>
      <p:sp>
        <p:nvSpPr>
          <p:cNvPr id="7" name="Rounded Rectangle 6"/>
          <p:cNvSpPr/>
          <p:nvPr/>
        </p:nvSpPr>
        <p:spPr>
          <a:xfrm>
            <a:off x="6858000" y="3840480"/>
            <a:ext cx="2926080" cy="20116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4023360"/>
            <a:ext cx="2926080" cy="1645920"/>
          </a:xfrm>
          <a:prstGeom prst="rect">
            <a:avLst/>
          </a:prstGeom>
          <a:noFill/>
        </p:spPr>
        <p:txBody>
          <a:bodyPr wrap="square">
            <a:spAutoFit/>
          </a:bodyPr>
          <a:lstStyle/>
          <a:p>
            <a:pPr algn="ctr">
              <a:defRPr sz="4400" b="1" i="0">
                <a:solidFill>
                  <a:srgbClr val="C81E1E"/>
                </a:solidFill>
                <a:latin typeface="Arial"/>
              </a:defRPr>
            </a:pPr>
            <a:r>
              <a:t>02</a:t>
            </a:r>
          </a:p>
          <a:p>
            <a:pPr algn="ctr">
              <a:spcBef>
                <a:spcPts val="800"/>
              </a:spcBef>
              <a:defRPr sz="1600" b="1" i="0">
                <a:solidFill>
                  <a:srgbClr val="F5F5F5"/>
                </a:solidFill>
                <a:latin typeface="Arial"/>
              </a:defRPr>
            </a:pPr>
            <a:r>
              <a:t>10 min + 5 min Q&amp;A</a:t>
            </a:r>
          </a:p>
          <a:p>
            <a:pPr algn="ctr">
              <a:spcBef>
                <a:spcPts val="600"/>
              </a:spcBef>
              <a:defRPr sz="1300" b="0" i="0">
                <a:solidFill>
                  <a:srgbClr val="888888"/>
                </a:solidFill>
                <a:latin typeface="Arial"/>
              </a:defRPr>
            </a:pPr>
            <a:r>
              <a:t>[Builder name + what they built]</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COMMUNITY WINS</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400" b="1" i="0">
                <a:solidFill>
                  <a:srgbClr val="F5F5F5"/>
                </a:solidFill>
                <a:latin typeface="Arial"/>
              </a:defRPr>
            </a:pPr>
            <a:r>
              <a:t>Wins From The Room</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731520"/>
          </a:xfrm>
          <a:prstGeom prst="rect">
            <a:avLst/>
          </a:prstGeom>
          <a:noFill/>
        </p:spPr>
        <p:txBody>
          <a:bodyPr wrap="square">
            <a:spAutoFit/>
          </a:bodyPr>
          <a:lstStyle/>
          <a:p>
            <a:pPr algn="l">
              <a:defRPr sz="1500" b="0" i="0">
                <a:solidFill>
                  <a:srgbClr val="AAAAAA"/>
                </a:solidFill>
                <a:latin typeface="Arial"/>
              </a:defRPr>
            </a:pPr>
            <a:r>
              <a:t>Members who shipped something since last edition. This is what the community looks like when it builds in public.</a:t>
            </a:r>
          </a:p>
        </p:txBody>
      </p:sp>
      <p:sp>
        <p:nvSpPr>
          <p:cNvPr id="6" name="Rounded Rectangle 5"/>
          <p:cNvSpPr/>
          <p:nvPr/>
        </p:nvSpPr>
        <p:spPr>
          <a:xfrm>
            <a:off x="45720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8308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3730752"/>
            <a:ext cx="1005840" cy="548640"/>
          </a:xfrm>
          <a:prstGeom prst="rect">
            <a:avLst/>
          </a:prstGeom>
          <a:noFill/>
        </p:spPr>
        <p:txBody>
          <a:bodyPr wrap="square">
            <a:spAutoFit/>
          </a:bodyPr>
          <a:lstStyle/>
          <a:p>
            <a:pPr algn="ctr">
              <a:defRPr sz="2200" b="1" i="0">
                <a:solidFill>
                  <a:srgbClr val="F5F5F5"/>
                </a:solidFill>
                <a:latin typeface="Arial"/>
              </a:defRPr>
            </a:pPr>
            <a:r>
              <a:t>M1</a:t>
            </a:r>
          </a:p>
        </p:txBody>
      </p:sp>
      <p:sp>
        <p:nvSpPr>
          <p:cNvPr id="9" name="TextBox 8"/>
          <p:cNvSpPr txBox="1"/>
          <p:nvPr/>
        </p:nvSpPr>
        <p:spPr>
          <a:xfrm>
            <a:off x="731520" y="4617720"/>
            <a:ext cx="3108960" cy="365760"/>
          </a:xfrm>
          <a:prstGeom prst="rect">
            <a:avLst/>
          </a:prstGeom>
          <a:noFill/>
        </p:spPr>
        <p:txBody>
          <a:bodyPr wrap="square">
            <a:spAutoFit/>
          </a:bodyPr>
          <a:lstStyle/>
          <a:p>
            <a:pPr algn="ctr">
              <a:defRPr sz="1800" b="1" i="0">
                <a:solidFill>
                  <a:srgbClr val="F5F5F5"/>
                </a:solidFill>
                <a:latin typeface="Arial"/>
              </a:defRPr>
            </a:pPr>
            <a:r>
              <a:t>[Member name]</a:t>
            </a:r>
          </a:p>
        </p:txBody>
      </p:sp>
      <p:sp>
        <p:nvSpPr>
          <p:cNvPr id="10" name="TextBox 9"/>
          <p:cNvSpPr txBox="1"/>
          <p:nvPr/>
        </p:nvSpPr>
        <p:spPr>
          <a:xfrm>
            <a:off x="73152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1" name="TextBox 10"/>
          <p:cNvSpPr txBox="1"/>
          <p:nvPr/>
        </p:nvSpPr>
        <p:spPr>
          <a:xfrm>
            <a:off x="73152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12" name="Rounded Rectangle 11"/>
          <p:cNvSpPr/>
          <p:nvPr/>
        </p:nvSpPr>
        <p:spPr>
          <a:xfrm>
            <a:off x="425196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7784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730752"/>
            <a:ext cx="1005840" cy="548640"/>
          </a:xfrm>
          <a:prstGeom prst="rect">
            <a:avLst/>
          </a:prstGeom>
          <a:noFill/>
        </p:spPr>
        <p:txBody>
          <a:bodyPr wrap="square">
            <a:spAutoFit/>
          </a:bodyPr>
          <a:lstStyle/>
          <a:p>
            <a:pPr algn="ctr">
              <a:defRPr sz="2200" b="1" i="0">
                <a:solidFill>
                  <a:srgbClr val="F5F5F5"/>
                </a:solidFill>
                <a:latin typeface="Arial"/>
              </a:defRPr>
            </a:pPr>
            <a:r>
              <a:t>M2</a:t>
            </a:r>
          </a:p>
        </p:txBody>
      </p:sp>
      <p:sp>
        <p:nvSpPr>
          <p:cNvPr id="15" name="TextBox 14"/>
          <p:cNvSpPr txBox="1"/>
          <p:nvPr/>
        </p:nvSpPr>
        <p:spPr>
          <a:xfrm>
            <a:off x="4526280" y="4617720"/>
            <a:ext cx="3108960" cy="365760"/>
          </a:xfrm>
          <a:prstGeom prst="rect">
            <a:avLst/>
          </a:prstGeom>
          <a:noFill/>
        </p:spPr>
        <p:txBody>
          <a:bodyPr wrap="square">
            <a:spAutoFit/>
          </a:bodyPr>
          <a:lstStyle/>
          <a:p>
            <a:pPr algn="ctr">
              <a:defRPr sz="1800" b="1" i="0">
                <a:solidFill>
                  <a:srgbClr val="F5F5F5"/>
                </a:solidFill>
                <a:latin typeface="Arial"/>
              </a:defRPr>
            </a:pPr>
            <a:r>
              <a:t>[Member name]</a:t>
            </a:r>
          </a:p>
        </p:txBody>
      </p:sp>
      <p:sp>
        <p:nvSpPr>
          <p:cNvPr id="16" name="TextBox 15"/>
          <p:cNvSpPr txBox="1"/>
          <p:nvPr/>
        </p:nvSpPr>
        <p:spPr>
          <a:xfrm>
            <a:off x="452628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7" name="TextBox 16"/>
          <p:cNvSpPr txBox="1"/>
          <p:nvPr/>
        </p:nvSpPr>
        <p:spPr>
          <a:xfrm>
            <a:off x="452628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18" name="Rounded Rectangle 17"/>
          <p:cNvSpPr/>
          <p:nvPr/>
        </p:nvSpPr>
        <p:spPr>
          <a:xfrm>
            <a:off x="804672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260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3730752"/>
            <a:ext cx="1005840" cy="548640"/>
          </a:xfrm>
          <a:prstGeom prst="rect">
            <a:avLst/>
          </a:prstGeom>
          <a:noFill/>
        </p:spPr>
        <p:txBody>
          <a:bodyPr wrap="square">
            <a:spAutoFit/>
          </a:bodyPr>
          <a:lstStyle/>
          <a:p>
            <a:pPr algn="ctr">
              <a:defRPr sz="2200" b="1" i="0">
                <a:solidFill>
                  <a:srgbClr val="F5F5F5"/>
                </a:solidFill>
                <a:latin typeface="Arial"/>
              </a:defRPr>
            </a:pPr>
            <a:r>
              <a:t>M3</a:t>
            </a:r>
          </a:p>
        </p:txBody>
      </p:sp>
      <p:sp>
        <p:nvSpPr>
          <p:cNvPr id="21" name="TextBox 20"/>
          <p:cNvSpPr txBox="1"/>
          <p:nvPr/>
        </p:nvSpPr>
        <p:spPr>
          <a:xfrm>
            <a:off x="8321040" y="4617720"/>
            <a:ext cx="3108960" cy="365760"/>
          </a:xfrm>
          <a:prstGeom prst="rect">
            <a:avLst/>
          </a:prstGeom>
          <a:noFill/>
        </p:spPr>
        <p:txBody>
          <a:bodyPr wrap="square">
            <a:spAutoFit/>
          </a:bodyPr>
          <a:lstStyle/>
          <a:p>
            <a:pPr algn="ctr">
              <a:defRPr sz="1800" b="1" i="0">
                <a:solidFill>
                  <a:srgbClr val="F5F5F5"/>
                </a:solidFill>
                <a:latin typeface="Arial"/>
              </a:defRPr>
            </a:pPr>
            <a:r>
              <a:t>[Member name]</a:t>
            </a:r>
          </a:p>
        </p:txBody>
      </p:sp>
      <p:sp>
        <p:nvSpPr>
          <p:cNvPr id="22" name="TextBox 21"/>
          <p:cNvSpPr txBox="1"/>
          <p:nvPr/>
        </p:nvSpPr>
        <p:spPr>
          <a:xfrm>
            <a:off x="832104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23" name="TextBox 22"/>
          <p:cNvSpPr txBox="1"/>
          <p:nvPr/>
        </p:nvSpPr>
        <p:spPr>
          <a:xfrm>
            <a:off x="832104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24" name="TextBox 23"/>
          <p:cNvSpPr txBox="1"/>
          <p:nvPr/>
        </p:nvSpPr>
        <p:spPr>
          <a:xfrm>
            <a:off x="731520" y="6492240"/>
            <a:ext cx="10881360" cy="320040"/>
          </a:xfrm>
          <a:prstGeom prst="rect">
            <a:avLst/>
          </a:prstGeom>
          <a:noFill/>
        </p:spPr>
        <p:txBody>
          <a:bodyPr wrap="square">
            <a:spAutoFit/>
          </a:bodyPr>
          <a:lstStyle/>
          <a:p>
            <a:pPr algn="ctr">
              <a:defRPr sz="1300" b="0" i="1">
                <a:solidFill>
                  <a:srgbClr val="E0B040"/>
                </a:solidFill>
                <a:latin typeface="Arial"/>
              </a:defRPr>
            </a:pPr>
            <a:r>
              <a:t>Want to be on this slide next edition? Tell me what you shipped. No pitch needed, just a screenshot and one line.</a:t>
            </a:r>
          </a:p>
        </p:txBody>
      </p:sp>
      <p:sp>
        <p:nvSpPr>
          <p:cNvPr id="25" name="TextBox 24"/>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6" name="TextBox 25"/>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3200400" y="731520"/>
            <a:ext cx="7315200" cy="365760"/>
          </a:xfrm>
          <a:prstGeom prst="rect">
            <a:avLst/>
          </a:prstGeom>
          <a:noFill/>
        </p:spPr>
        <p:txBody>
          <a:bodyPr wrap="square">
            <a:spAutoFit/>
          </a:bodyPr>
          <a:lstStyle/>
          <a:p>
            <a:pPr algn="l">
              <a:defRPr sz="1300" b="1" i="0">
                <a:solidFill>
                  <a:srgbClr val="C81E1E"/>
                </a:solidFill>
                <a:latin typeface="Arial"/>
              </a:defRPr>
            </a:pPr>
            <a:r>
              <a:t>THANK YOU</a:t>
            </a:r>
          </a:p>
        </p:txBody>
      </p:sp>
      <p:sp>
        <p:nvSpPr>
          <p:cNvPr id="3" name="TextBox 2"/>
          <p:cNvSpPr txBox="1"/>
          <p:nvPr/>
        </p:nvSpPr>
        <p:spPr>
          <a:xfrm>
            <a:off x="1371600" y="1371600"/>
            <a:ext cx="9144000" cy="1097280"/>
          </a:xfrm>
          <a:prstGeom prst="rect">
            <a:avLst/>
          </a:prstGeom>
          <a:noFill/>
        </p:spPr>
        <p:txBody>
          <a:bodyPr wrap="square">
            <a:spAutoFit/>
          </a:bodyPr>
          <a:lstStyle/>
          <a:p>
            <a:pPr algn="ctr">
              <a:defRPr sz="5600" b="1" i="0">
                <a:solidFill>
                  <a:srgbClr val="F5F5F5"/>
                </a:solidFill>
                <a:latin typeface="Arial"/>
              </a:defRPr>
            </a:pPr>
            <a:r>
              <a:t>See You at</a:t>
            </a:r>
            <a:br/>
            <a:r>
              <a:t>Edition 12</a:t>
            </a:r>
          </a:p>
        </p:txBody>
      </p:sp>
      <p:sp>
        <p:nvSpPr>
          <p:cNvPr id="4" name="Rectangle 3"/>
          <p:cNvSpPr/>
          <p:nvPr/>
        </p:nvSpPr>
        <p:spPr>
          <a:xfrm>
            <a:off x="5669280" y="27432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2860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291840"/>
            <a:ext cx="2286000" cy="914400"/>
          </a:xfrm>
          <a:prstGeom prst="rect">
            <a:avLst/>
          </a:prstGeom>
          <a:noFill/>
        </p:spPr>
        <p:txBody>
          <a:bodyPr wrap="square">
            <a:spAutoFit/>
          </a:bodyPr>
          <a:lstStyle/>
          <a:p>
            <a:pPr algn="ctr">
              <a:defRPr sz="1200" b="1" i="0">
                <a:solidFill>
                  <a:srgbClr val="888888"/>
                </a:solidFill>
                <a:latin typeface="Arial"/>
              </a:defRPr>
            </a:pPr>
            <a:r>
              <a:t>YOUTUBE</a:t>
            </a:r>
          </a:p>
          <a:p>
            <a:pPr algn="ctr">
              <a:spcBef>
                <a:spcPts val="800"/>
              </a:spcBef>
              <a:defRPr sz="1700" b="1" i="0">
                <a:solidFill>
                  <a:srgbClr val="F5F5F5"/>
                </a:solidFill>
                <a:latin typeface="Arial"/>
              </a:defRPr>
            </a:pPr>
            <a:r>
              <a:t>@joshbuildswithai</a:t>
            </a:r>
          </a:p>
        </p:txBody>
      </p:sp>
      <p:sp>
        <p:nvSpPr>
          <p:cNvPr id="7" name="Rounded Rectangle 6"/>
          <p:cNvSpPr/>
          <p:nvPr/>
        </p:nvSpPr>
        <p:spPr>
          <a:xfrm>
            <a:off x="50292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2286000" cy="914400"/>
          </a:xfrm>
          <a:prstGeom prst="rect">
            <a:avLst/>
          </a:prstGeom>
          <a:noFill/>
        </p:spPr>
        <p:txBody>
          <a:bodyPr wrap="square">
            <a:spAutoFit/>
          </a:bodyPr>
          <a:lstStyle/>
          <a:p>
            <a:pPr algn="ctr">
              <a:defRPr sz="1200" b="1" i="0">
                <a:solidFill>
                  <a:srgbClr val="888888"/>
                </a:solidFill>
                <a:latin typeface="Arial"/>
              </a:defRPr>
            </a:pPr>
            <a:r>
              <a:t>INSTAGRAM</a:t>
            </a:r>
          </a:p>
          <a:p>
            <a:pPr algn="ctr">
              <a:spcBef>
                <a:spcPts val="800"/>
              </a:spcBef>
              <a:defRPr sz="1700" b="1" i="0">
                <a:solidFill>
                  <a:srgbClr val="F5F5F5"/>
                </a:solidFill>
                <a:latin typeface="Arial"/>
              </a:defRPr>
            </a:pPr>
            <a:r>
              <a:t>@joshbuildswithai</a:t>
            </a:r>
          </a:p>
        </p:txBody>
      </p:sp>
      <p:sp>
        <p:nvSpPr>
          <p:cNvPr id="9" name="Rounded Rectangle 8"/>
          <p:cNvSpPr/>
          <p:nvPr/>
        </p:nvSpPr>
        <p:spPr>
          <a:xfrm>
            <a:off x="77724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3291840"/>
            <a:ext cx="2286000" cy="914400"/>
          </a:xfrm>
          <a:prstGeom prst="rect">
            <a:avLst/>
          </a:prstGeom>
          <a:noFill/>
        </p:spPr>
        <p:txBody>
          <a:bodyPr wrap="square">
            <a:spAutoFit/>
          </a:bodyPr>
          <a:lstStyle/>
          <a:p>
            <a:pPr algn="ctr">
              <a:defRPr sz="1200" b="1" i="0">
                <a:solidFill>
                  <a:srgbClr val="888888"/>
                </a:solidFill>
                <a:latin typeface="Arial"/>
              </a:defRPr>
            </a:pPr>
            <a:r>
              <a:t>TIKTOK</a:t>
            </a:r>
          </a:p>
          <a:p>
            <a:pPr algn="ctr">
              <a:spcBef>
                <a:spcPts val="800"/>
              </a:spcBef>
              <a:defRPr sz="1700" b="1" i="0">
                <a:solidFill>
                  <a:srgbClr val="F5F5F5"/>
                </a:solidFill>
                <a:latin typeface="Arial"/>
              </a:defRPr>
            </a:pPr>
            <a:r>
              <a:t>@joshbuildswithai</a:t>
            </a:r>
          </a:p>
        </p:txBody>
      </p:sp>
      <p:sp>
        <p:nvSpPr>
          <p:cNvPr id="11" name="Rounded Rectangle 10"/>
          <p:cNvSpPr/>
          <p:nvPr/>
        </p:nvSpPr>
        <p:spPr>
          <a:xfrm>
            <a:off x="2286000" y="4754880"/>
            <a:ext cx="7315200" cy="1645920"/>
          </a:xfrm>
          <a:prstGeom prst="roundRect">
            <a:avLst/>
          </a:prstGeom>
          <a:solidFill>
            <a:srgbClr val="333333"/>
          </a:solidFill>
          <a:ln w="127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4937760"/>
            <a:ext cx="7315200" cy="1280160"/>
          </a:xfrm>
          <a:prstGeom prst="rect">
            <a:avLst/>
          </a:prstGeom>
          <a:noFill/>
        </p:spPr>
        <p:txBody>
          <a:bodyPr wrap="square">
            <a:spAutoFit/>
          </a:bodyPr>
          <a:lstStyle/>
          <a:p>
            <a:pPr algn="ctr">
              <a:defRPr sz="1200" b="1" i="0">
                <a:solidFill>
                  <a:srgbClr val="C81E1E"/>
                </a:solidFill>
                <a:latin typeface="Arial"/>
              </a:defRPr>
            </a:pPr>
            <a:r>
              <a:t>NEXT WEDNESDAY · EDITION 12 · 1 JULY</a:t>
            </a:r>
          </a:p>
          <a:p>
            <a:pPr algn="ctr">
              <a:spcBef>
                <a:spcPts val="800"/>
              </a:spcBef>
              <a:defRPr sz="2600" b="1" i="0">
                <a:solidFill>
                  <a:srgbClr val="F5F5F5"/>
                </a:solidFill>
                <a:latin typeface="Arial"/>
              </a:defRPr>
            </a:pPr>
            <a:r>
              <a:t>Same room. New signals. Two new builders.</a:t>
            </a:r>
          </a:p>
          <a:p>
            <a:pPr algn="ctr">
              <a:spcBef>
                <a:spcPts val="600"/>
              </a:spcBef>
              <a:defRPr sz="1500" b="0" i="0">
                <a:solidFill>
                  <a:srgbClr val="888888"/>
                </a:solidFill>
                <a:latin typeface="Arial"/>
              </a:defRPr>
            </a:pPr>
            <a:r>
              <a:t>Topic announced on MeetUp. RSVP to hold your seat.</a:t>
            </a:r>
          </a:p>
        </p:txBody>
      </p:sp>
      <p:sp>
        <p:nvSpPr>
          <p:cNvPr id="13" name="TextBox 12"/>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4" name="TextBox 13"/>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