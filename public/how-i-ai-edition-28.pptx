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76200" cy="6858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515600" cy="1097280"/>
          </a:xfrm>
          <a:prstGeom prst="rect">
            <a:avLst/>
          </a:prstGeom>
          <a:noFill/>
        </p:spPr>
        <p:txBody>
          <a:bodyPr wrap="square">
            <a:spAutoFit/>
          </a:bodyPr>
          <a:lstStyle/>
          <a:p>
            <a:pPr algn="l">
              <a:defRPr sz="8000" b="1" i="0">
                <a:solidFill>
                  <a:srgbClr val="F5F5F5"/>
                </a:solidFill>
                <a:latin typeface="Arial"/>
              </a:defRPr>
            </a:pPr>
            <a:r>
              <a:t>HOW I AI</a:t>
            </a:r>
          </a:p>
        </p:txBody>
      </p:sp>
      <p:sp>
        <p:nvSpPr>
          <p:cNvPr id="4" name="TextBox 3"/>
          <p:cNvSpPr txBox="1"/>
          <p:nvPr/>
        </p:nvSpPr>
        <p:spPr>
          <a:xfrm>
            <a:off x="731520" y="2743200"/>
            <a:ext cx="5486400" cy="640080"/>
          </a:xfrm>
          <a:prstGeom prst="rect">
            <a:avLst/>
          </a:prstGeom>
          <a:noFill/>
        </p:spPr>
        <p:txBody>
          <a:bodyPr wrap="square">
            <a:spAutoFit/>
          </a:bodyPr>
          <a:lstStyle/>
          <a:p>
            <a:pPr algn="l">
              <a:defRPr sz="4000" b="1" i="0">
                <a:solidFill>
                  <a:srgbClr val="C81E1E"/>
                </a:solidFill>
                <a:latin typeface="Arial"/>
              </a:defRPr>
            </a:pPr>
            <a:r>
              <a:t>EDITION 28</a:t>
            </a:r>
          </a:p>
        </p:txBody>
      </p:sp>
      <p:sp>
        <p:nvSpPr>
          <p:cNvPr id="5" name="Rectangle 4"/>
          <p:cNvSpPr/>
          <p:nvPr/>
        </p:nvSpPr>
        <p:spPr>
          <a:xfrm>
            <a:off x="731520" y="3520440"/>
            <a:ext cx="10515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749039"/>
            <a:ext cx="10515600" cy="457200"/>
          </a:xfrm>
          <a:prstGeom prst="rect">
            <a:avLst/>
          </a:prstGeom>
          <a:noFill/>
        </p:spPr>
        <p:txBody>
          <a:bodyPr wrap="square">
            <a:spAutoFit/>
          </a:bodyPr>
          <a:lstStyle/>
          <a:p>
            <a:pPr algn="l">
              <a:defRPr sz="2200" b="0" i="0">
                <a:solidFill>
                  <a:srgbClr val="AAAAAA"/>
                </a:solidFill>
                <a:latin typeface="Arial"/>
              </a:defRPr>
            </a:pPr>
            <a:r>
              <a:t>Seoul Soul Project, Canggu  ·  21 October 2026</a:t>
            </a:r>
          </a:p>
        </p:txBody>
      </p:sp>
      <p:sp>
        <p:nvSpPr>
          <p:cNvPr id="7" name="TextBox 6"/>
          <p:cNvSpPr txBox="1"/>
          <p:nvPr/>
        </p:nvSpPr>
        <p:spPr>
          <a:xfrm>
            <a:off x="731520" y="4572000"/>
            <a:ext cx="10515600" cy="365760"/>
          </a:xfrm>
          <a:prstGeom prst="rect">
            <a:avLst/>
          </a:prstGeom>
          <a:noFill/>
        </p:spPr>
        <p:txBody>
          <a:bodyPr wrap="square">
            <a:spAutoFit/>
          </a:bodyPr>
          <a:lstStyle/>
          <a:p>
            <a:pPr algn="l">
              <a:defRPr sz="1600" b="0" i="0">
                <a:solidFill>
                  <a:srgbClr val="888888"/>
                </a:solidFill>
                <a:latin typeface="Arial"/>
              </a:defRPr>
            </a:pPr>
            <a:r>
              <a:t>Every Wednesday  ·  6:30pm WITA</a:t>
            </a:r>
          </a:p>
        </p:txBody>
      </p:sp>
      <p:sp>
        <p:nvSpPr>
          <p:cNvPr id="8" name="TextBox 7"/>
          <p:cNvSpPr txBox="1"/>
          <p:nvPr/>
        </p:nvSpPr>
        <p:spPr>
          <a:xfrm>
            <a:off x="731520" y="6217920"/>
            <a:ext cx="10515600" cy="365760"/>
          </a:xfrm>
          <a:prstGeom prst="rect">
            <a:avLst/>
          </a:prstGeom>
          <a:noFill/>
        </p:spPr>
        <p:txBody>
          <a:bodyPr wrap="square">
            <a:spAutoFit/>
          </a:bodyPr>
          <a:lstStyle/>
          <a:p>
            <a:pPr algn="l">
              <a:defRPr sz="1300" b="0" i="1">
                <a:solidFill>
                  <a:srgbClr val="888888"/>
                </a:solidFill>
                <a:latin typeface="Arial"/>
              </a:defRPr>
            </a:pPr>
            <a:r>
              <a:t>Bali Start-ups and Tech Community</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ABOUT THIS EVENING</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400" b="1" i="0">
                <a:solidFill>
                  <a:srgbClr val="F5F5F5"/>
                </a:solidFill>
                <a:latin typeface="Arial"/>
              </a:defRPr>
            </a:pPr>
            <a:r>
              <a:t>Every Wednesday. Five Signals. One Action.</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How I AI distils the week in AI into five signals that matter for builders, operators, and founders. Then we get practical.</a:t>
            </a:r>
          </a:p>
        </p:txBody>
      </p:sp>
      <p:sp>
        <p:nvSpPr>
          <p:cNvPr id="6" name="TextBox 5"/>
          <p:cNvSpPr txBox="1"/>
          <p:nvPr/>
        </p:nvSpPr>
        <p:spPr>
          <a:xfrm>
            <a:off x="731520" y="3017520"/>
            <a:ext cx="3474720" cy="658368"/>
          </a:xfrm>
          <a:prstGeom prst="rect">
            <a:avLst/>
          </a:prstGeom>
          <a:noFill/>
        </p:spPr>
        <p:txBody>
          <a:bodyPr wrap="square">
            <a:spAutoFit/>
          </a:bodyPr>
          <a:lstStyle/>
          <a:p>
            <a:pPr algn="l">
              <a:defRPr sz="1600" b="1" i="0">
                <a:solidFill>
                  <a:srgbClr val="C81E1E"/>
                </a:solidFill>
                <a:latin typeface="Arial"/>
              </a:defRPr>
            </a:pPr>
            <a:r>
              <a:t>①  Intel Drop</a:t>
            </a:r>
          </a:p>
        </p:txBody>
      </p:sp>
      <p:sp>
        <p:nvSpPr>
          <p:cNvPr id="7" name="TextBox 6"/>
          <p:cNvSpPr txBox="1"/>
          <p:nvPr/>
        </p:nvSpPr>
        <p:spPr>
          <a:xfrm>
            <a:off x="4389120" y="3017520"/>
            <a:ext cx="7223760" cy="658368"/>
          </a:xfrm>
          <a:prstGeom prst="rect">
            <a:avLst/>
          </a:prstGeom>
          <a:noFill/>
        </p:spPr>
        <p:txBody>
          <a:bodyPr wrap="square">
            <a:spAutoFit/>
          </a:bodyPr>
          <a:lstStyle/>
          <a:p>
            <a:pPr algn="l">
              <a:defRPr sz="1400" b="0" i="0">
                <a:solidFill>
                  <a:srgbClr val="F5F5F5"/>
                </a:solidFill>
                <a:latin typeface="Arial"/>
              </a:defRPr>
            </a:pPr>
            <a:r>
              <a:t>Five signals from the past seven days. Curated for this room.</a:t>
            </a:r>
          </a:p>
        </p:txBody>
      </p:sp>
      <p:sp>
        <p:nvSpPr>
          <p:cNvPr id="8" name="Rectangle 7"/>
          <p:cNvSpPr/>
          <p:nvPr/>
        </p:nvSpPr>
        <p:spPr>
          <a:xfrm>
            <a:off x="731520" y="365760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75888"/>
            <a:ext cx="3474720" cy="658368"/>
          </a:xfrm>
          <a:prstGeom prst="rect">
            <a:avLst/>
          </a:prstGeom>
          <a:noFill/>
        </p:spPr>
        <p:txBody>
          <a:bodyPr wrap="square">
            <a:spAutoFit/>
          </a:bodyPr>
          <a:lstStyle/>
          <a:p>
            <a:pPr algn="l">
              <a:defRPr sz="1600" b="1" i="0">
                <a:solidFill>
                  <a:srgbClr val="C81E1E"/>
                </a:solidFill>
                <a:latin typeface="Arial"/>
              </a:defRPr>
            </a:pPr>
            <a:r>
              <a:t>②  Jargon Buster</a:t>
            </a:r>
          </a:p>
        </p:txBody>
      </p:sp>
      <p:sp>
        <p:nvSpPr>
          <p:cNvPr id="10" name="TextBox 9"/>
          <p:cNvSpPr txBox="1"/>
          <p:nvPr/>
        </p:nvSpPr>
        <p:spPr>
          <a:xfrm>
            <a:off x="4389120" y="3675888"/>
            <a:ext cx="7223760" cy="658368"/>
          </a:xfrm>
          <a:prstGeom prst="rect">
            <a:avLst/>
          </a:prstGeom>
          <a:noFill/>
        </p:spPr>
        <p:txBody>
          <a:bodyPr wrap="square">
            <a:spAutoFit/>
          </a:bodyPr>
          <a:lstStyle/>
          <a:p>
            <a:pPr algn="l">
              <a:defRPr sz="1400" b="0" i="0">
                <a:solidFill>
                  <a:srgbClr val="F5F5F5"/>
                </a:solidFill>
                <a:latin typeface="Arial"/>
              </a:defRPr>
            </a:pPr>
            <a:r>
              <a:t>Five terms from tonight's signals. Lock them in early.</a:t>
            </a:r>
          </a:p>
        </p:txBody>
      </p:sp>
      <p:sp>
        <p:nvSpPr>
          <p:cNvPr id="11" name="Rectangle 10"/>
          <p:cNvSpPr/>
          <p:nvPr/>
        </p:nvSpPr>
        <p:spPr>
          <a:xfrm>
            <a:off x="731520" y="431596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334256"/>
            <a:ext cx="3474720" cy="658368"/>
          </a:xfrm>
          <a:prstGeom prst="rect">
            <a:avLst/>
          </a:prstGeom>
          <a:noFill/>
        </p:spPr>
        <p:txBody>
          <a:bodyPr wrap="square">
            <a:spAutoFit/>
          </a:bodyPr>
          <a:lstStyle/>
          <a:p>
            <a:pPr algn="l">
              <a:defRPr sz="1600" b="1" i="0">
                <a:solidFill>
                  <a:srgbClr val="C81E1E"/>
                </a:solidFill>
                <a:latin typeface="Arial"/>
              </a:defRPr>
            </a:pPr>
            <a:r>
              <a:t>③  Action of the Week</a:t>
            </a:r>
          </a:p>
        </p:txBody>
      </p:sp>
      <p:sp>
        <p:nvSpPr>
          <p:cNvPr id="13" name="TextBox 12"/>
          <p:cNvSpPr txBox="1"/>
          <p:nvPr/>
        </p:nvSpPr>
        <p:spPr>
          <a:xfrm>
            <a:off x="4389120" y="4334256"/>
            <a:ext cx="7223760" cy="658368"/>
          </a:xfrm>
          <a:prstGeom prst="rect">
            <a:avLst/>
          </a:prstGeom>
          <a:noFill/>
        </p:spPr>
        <p:txBody>
          <a:bodyPr wrap="square">
            <a:spAutoFit/>
          </a:bodyPr>
          <a:lstStyle/>
          <a:p>
            <a:pPr algn="l">
              <a:defRPr sz="1400" b="0" i="0">
                <a:solidFill>
                  <a:srgbClr val="F5F5F5"/>
                </a:solidFill>
                <a:latin typeface="Arial"/>
              </a:defRPr>
            </a:pPr>
            <a:r>
              <a:t>One thing you can do before next Wednesday.</a:t>
            </a:r>
          </a:p>
        </p:txBody>
      </p:sp>
      <p:sp>
        <p:nvSpPr>
          <p:cNvPr id="14" name="Rectangle 13"/>
          <p:cNvSpPr/>
          <p:nvPr/>
        </p:nvSpPr>
        <p:spPr>
          <a:xfrm>
            <a:off x="731520" y="497433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992624"/>
            <a:ext cx="3474720" cy="658368"/>
          </a:xfrm>
          <a:prstGeom prst="rect">
            <a:avLst/>
          </a:prstGeom>
          <a:noFill/>
        </p:spPr>
        <p:txBody>
          <a:bodyPr wrap="square">
            <a:spAutoFit/>
          </a:bodyPr>
          <a:lstStyle/>
          <a:p>
            <a:pPr algn="l">
              <a:defRPr sz="1600" b="1" i="0">
                <a:solidFill>
                  <a:srgbClr val="C81E1E"/>
                </a:solidFill>
                <a:latin typeface="Arial"/>
              </a:defRPr>
            </a:pPr>
            <a:r>
              <a:t>④  By Tier</a:t>
            </a:r>
          </a:p>
        </p:txBody>
      </p:sp>
      <p:sp>
        <p:nvSpPr>
          <p:cNvPr id="16" name="TextBox 15"/>
          <p:cNvSpPr txBox="1"/>
          <p:nvPr/>
        </p:nvSpPr>
        <p:spPr>
          <a:xfrm>
            <a:off x="4389120" y="4992624"/>
            <a:ext cx="7223760" cy="658368"/>
          </a:xfrm>
          <a:prstGeom prst="rect">
            <a:avLst/>
          </a:prstGeom>
          <a:noFill/>
        </p:spPr>
        <p:txBody>
          <a:bodyPr wrap="square">
            <a:spAutoFit/>
          </a:bodyPr>
          <a:lstStyle/>
          <a:p>
            <a:pPr algn="l">
              <a:defRPr sz="1400" b="0" i="0">
                <a:solidFill>
                  <a:srgbClr val="F5F5F5"/>
                </a:solidFill>
                <a:latin typeface="Arial"/>
              </a:defRPr>
            </a:pPr>
            <a:r>
              <a:t>The same action, calibrated to where you are right now.</a:t>
            </a:r>
          </a:p>
        </p:txBody>
      </p:sp>
      <p:sp>
        <p:nvSpPr>
          <p:cNvPr id="17" name="Rectangle 16"/>
          <p:cNvSpPr/>
          <p:nvPr/>
        </p:nvSpPr>
        <p:spPr>
          <a:xfrm>
            <a:off x="731520" y="563270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650992"/>
            <a:ext cx="3474720" cy="658368"/>
          </a:xfrm>
          <a:prstGeom prst="rect">
            <a:avLst/>
          </a:prstGeom>
          <a:noFill/>
        </p:spPr>
        <p:txBody>
          <a:bodyPr wrap="square">
            <a:spAutoFit/>
          </a:bodyPr>
          <a:lstStyle/>
          <a:p>
            <a:pPr algn="l">
              <a:defRPr sz="1600" b="1" i="0">
                <a:solidFill>
                  <a:srgbClr val="C81E1E"/>
                </a:solidFill>
                <a:latin typeface="Arial"/>
              </a:defRPr>
            </a:pPr>
            <a:r>
              <a:t>⑤  Builder Spotlights</a:t>
            </a:r>
          </a:p>
        </p:txBody>
      </p:sp>
      <p:sp>
        <p:nvSpPr>
          <p:cNvPr id="19" name="TextBox 18"/>
          <p:cNvSpPr txBox="1"/>
          <p:nvPr/>
        </p:nvSpPr>
        <p:spPr>
          <a:xfrm>
            <a:off x="4389120" y="5650992"/>
            <a:ext cx="7223760" cy="658368"/>
          </a:xfrm>
          <a:prstGeom prst="rect">
            <a:avLst/>
          </a:prstGeom>
          <a:noFill/>
        </p:spPr>
        <p:txBody>
          <a:bodyPr wrap="square">
            <a:spAutoFit/>
          </a:bodyPr>
          <a:lstStyle/>
          <a:p>
            <a:pPr algn="l">
              <a:defRPr sz="1400" b="0" i="0">
                <a:solidFill>
                  <a:srgbClr val="F5F5F5"/>
                </a:solidFill>
                <a:latin typeface="Arial"/>
              </a:defRPr>
            </a:pPr>
            <a:r>
              <a:t>Members who shipped something. Build in public.</a:t>
            </a:r>
          </a:p>
        </p:txBody>
      </p:sp>
      <p:sp>
        <p:nvSpPr>
          <p:cNvPr id="20" name="Rectangle 19"/>
          <p:cNvSpPr/>
          <p:nvPr/>
        </p:nvSpPr>
        <p:spPr>
          <a:xfrm>
            <a:off x="731520" y="62910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2" name="TextBox 21"/>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THIS WEEK'S INTEL DROP</a:t>
            </a:r>
          </a:p>
        </p:txBody>
      </p:sp>
      <p:sp>
        <p:nvSpPr>
          <p:cNvPr id="3" name="TextBox 2"/>
          <p:cNvSpPr txBox="1"/>
          <p:nvPr/>
        </p:nvSpPr>
        <p:spPr>
          <a:xfrm>
            <a:off x="731520" y="1005840"/>
            <a:ext cx="10515600" cy="914400"/>
          </a:xfrm>
          <a:prstGeom prst="rect">
            <a:avLst/>
          </a:prstGeom>
          <a:noFill/>
        </p:spPr>
        <p:txBody>
          <a:bodyPr wrap="square">
            <a:spAutoFit/>
          </a:bodyPr>
          <a:lstStyle/>
          <a:p>
            <a:pPr algn="l">
              <a:defRPr sz="2800" b="1" i="0">
                <a:solidFill>
                  <a:srgbClr val="F5F5F5"/>
                </a:solidFill>
                <a:latin typeface="Arial"/>
              </a:defRPr>
            </a:pPr>
            <a:r>
              <a:t>Frontier models went open, APIs hit commodity prices, and AI started escaping its sandbox.</a:t>
            </a:r>
          </a:p>
        </p:txBody>
      </p:sp>
      <p:sp>
        <p:nvSpPr>
          <p:cNvPr id="4" name="Rectangle 3"/>
          <p:cNvSpPr/>
          <p:nvPr/>
        </p:nvSpPr>
        <p:spPr>
          <a:xfrm>
            <a:off x="731520" y="2057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423160"/>
            <a:ext cx="502920" cy="4114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87168"/>
            <a:ext cx="502920" cy="365760"/>
          </a:xfrm>
          <a:prstGeom prst="rect">
            <a:avLst/>
          </a:prstGeom>
          <a:noFill/>
        </p:spPr>
        <p:txBody>
          <a:bodyPr wrap="square">
            <a:spAutoFit/>
          </a:bodyPr>
          <a:lstStyle/>
          <a:p>
            <a:pPr algn="ctr">
              <a:defRPr sz="1400" b="1" i="0">
                <a:solidFill>
                  <a:srgbClr val="F5F5F5"/>
                </a:solidFill>
                <a:latin typeface="Arial"/>
              </a:defRPr>
            </a:pPr>
            <a:r>
              <a:t>01</a:t>
            </a:r>
          </a:p>
        </p:txBody>
      </p:sp>
      <p:sp>
        <p:nvSpPr>
          <p:cNvPr id="7" name="TextBox 6"/>
          <p:cNvSpPr txBox="1"/>
          <p:nvPr/>
        </p:nvSpPr>
        <p:spPr>
          <a:xfrm>
            <a:off x="1417320" y="2423160"/>
            <a:ext cx="10058400" cy="548640"/>
          </a:xfrm>
          <a:prstGeom prst="rect">
            <a:avLst/>
          </a:prstGeom>
          <a:noFill/>
        </p:spPr>
        <p:txBody>
          <a:bodyPr wrap="square">
            <a:spAutoFit/>
          </a:bodyPr>
          <a:lstStyle/>
          <a:p>
            <a:pPr algn="l">
              <a:defRPr sz="1600" b="0" i="0">
                <a:solidFill>
                  <a:srgbClr val="AAAAAA"/>
                </a:solidFill>
                <a:latin typeface="Arial"/>
              </a:defRPr>
            </a:pPr>
            <a:r>
              <a:t>Meta's 816B open-weight model runs on two Mac Studios.</a:t>
            </a:r>
          </a:p>
        </p:txBody>
      </p:sp>
      <p:sp>
        <p:nvSpPr>
          <p:cNvPr id="8" name="Rounded Rectangle 7"/>
          <p:cNvSpPr/>
          <p:nvPr/>
        </p:nvSpPr>
        <p:spPr>
          <a:xfrm>
            <a:off x="731520" y="3108960"/>
            <a:ext cx="502920" cy="4114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72968"/>
            <a:ext cx="502920" cy="365760"/>
          </a:xfrm>
          <a:prstGeom prst="rect">
            <a:avLst/>
          </a:prstGeom>
          <a:noFill/>
        </p:spPr>
        <p:txBody>
          <a:bodyPr wrap="square">
            <a:spAutoFit/>
          </a:bodyPr>
          <a:lstStyle/>
          <a:p>
            <a:pPr algn="ctr">
              <a:defRPr sz="1400" b="1" i="0">
                <a:solidFill>
                  <a:srgbClr val="F5F5F5"/>
                </a:solidFill>
                <a:latin typeface="Arial"/>
              </a:defRPr>
            </a:pPr>
            <a:r>
              <a:t>02</a:t>
            </a:r>
          </a:p>
        </p:txBody>
      </p:sp>
      <p:sp>
        <p:nvSpPr>
          <p:cNvPr id="10" name="TextBox 9"/>
          <p:cNvSpPr txBox="1"/>
          <p:nvPr/>
        </p:nvSpPr>
        <p:spPr>
          <a:xfrm>
            <a:off x="1417320" y="3108960"/>
            <a:ext cx="10058400" cy="548640"/>
          </a:xfrm>
          <a:prstGeom prst="rect">
            <a:avLst/>
          </a:prstGeom>
          <a:noFill/>
        </p:spPr>
        <p:txBody>
          <a:bodyPr wrap="square">
            <a:spAutoFit/>
          </a:bodyPr>
          <a:lstStyle/>
          <a:p>
            <a:pPr algn="l">
              <a:defRPr sz="1600" b="0" i="0">
                <a:solidFill>
                  <a:srgbClr val="AAAAAA"/>
                </a:solidFill>
                <a:latin typeface="Arial"/>
              </a:defRPr>
            </a:pPr>
            <a:r>
              <a:t>DeepSeek drops open weights and a $0.75 per million token search API.</a:t>
            </a:r>
          </a:p>
        </p:txBody>
      </p:sp>
      <p:sp>
        <p:nvSpPr>
          <p:cNvPr id="11" name="Rounded Rectangle 10"/>
          <p:cNvSpPr/>
          <p:nvPr/>
        </p:nvSpPr>
        <p:spPr>
          <a:xfrm>
            <a:off x="731520" y="3794760"/>
            <a:ext cx="502920" cy="4114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858768"/>
            <a:ext cx="502920" cy="365760"/>
          </a:xfrm>
          <a:prstGeom prst="rect">
            <a:avLst/>
          </a:prstGeom>
          <a:noFill/>
        </p:spPr>
        <p:txBody>
          <a:bodyPr wrap="square">
            <a:spAutoFit/>
          </a:bodyPr>
          <a:lstStyle/>
          <a:p>
            <a:pPr algn="ctr">
              <a:defRPr sz="1400" b="1" i="0">
                <a:solidFill>
                  <a:srgbClr val="F5F5F5"/>
                </a:solidFill>
                <a:latin typeface="Arial"/>
              </a:defRPr>
            </a:pPr>
            <a:r>
              <a:t>03</a:t>
            </a:r>
          </a:p>
        </p:txBody>
      </p:sp>
      <p:sp>
        <p:nvSpPr>
          <p:cNvPr id="13" name="TextBox 12"/>
          <p:cNvSpPr txBox="1"/>
          <p:nvPr/>
        </p:nvSpPr>
        <p:spPr>
          <a:xfrm>
            <a:off x="1417320" y="3794760"/>
            <a:ext cx="10058400" cy="548640"/>
          </a:xfrm>
          <a:prstGeom prst="rect">
            <a:avLst/>
          </a:prstGeom>
          <a:noFill/>
        </p:spPr>
        <p:txBody>
          <a:bodyPr wrap="square">
            <a:spAutoFit/>
          </a:bodyPr>
          <a:lstStyle/>
          <a:p>
            <a:pPr algn="l">
              <a:defRPr sz="1600" b="0" i="0">
                <a:solidFill>
                  <a:srgbClr val="AAAAAA"/>
                </a:solidFill>
                <a:latin typeface="Arial"/>
              </a:defRPr>
            </a:pPr>
            <a:r>
              <a:t>Anthropic opens a Singapore office. 1,500 government engineers already on Claude Code.</a:t>
            </a:r>
          </a:p>
        </p:txBody>
      </p:sp>
      <p:sp>
        <p:nvSpPr>
          <p:cNvPr id="14" name="Rounded Rectangle 13"/>
          <p:cNvSpPr/>
          <p:nvPr/>
        </p:nvSpPr>
        <p:spPr>
          <a:xfrm>
            <a:off x="731520" y="4480560"/>
            <a:ext cx="502920" cy="4114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544568"/>
            <a:ext cx="502920" cy="365760"/>
          </a:xfrm>
          <a:prstGeom prst="rect">
            <a:avLst/>
          </a:prstGeom>
          <a:noFill/>
        </p:spPr>
        <p:txBody>
          <a:bodyPr wrap="square">
            <a:spAutoFit/>
          </a:bodyPr>
          <a:lstStyle/>
          <a:p>
            <a:pPr algn="ctr">
              <a:defRPr sz="1400" b="1" i="0">
                <a:solidFill>
                  <a:srgbClr val="F5F5F5"/>
                </a:solidFill>
                <a:latin typeface="Arial"/>
              </a:defRPr>
            </a:pPr>
            <a:r>
              <a:t>04</a:t>
            </a:r>
          </a:p>
        </p:txBody>
      </p:sp>
      <p:sp>
        <p:nvSpPr>
          <p:cNvPr id="16" name="TextBox 15"/>
          <p:cNvSpPr txBox="1"/>
          <p:nvPr/>
        </p:nvSpPr>
        <p:spPr>
          <a:xfrm>
            <a:off x="1417320" y="4480560"/>
            <a:ext cx="10058400" cy="548640"/>
          </a:xfrm>
          <a:prstGeom prst="rect">
            <a:avLst/>
          </a:prstGeom>
          <a:noFill/>
        </p:spPr>
        <p:txBody>
          <a:bodyPr wrap="square">
            <a:spAutoFit/>
          </a:bodyPr>
          <a:lstStyle/>
          <a:p>
            <a:pPr algn="l">
              <a:defRPr sz="1600" b="0" i="0">
                <a:solidFill>
                  <a:srgbClr val="AAAAAA"/>
                </a:solidFill>
                <a:latin typeface="Arial"/>
              </a:defRPr>
            </a:pPr>
            <a:r>
              <a:t>Anthropic's own lab builds an AI worm that spreads across 15 smart TVs.</a:t>
            </a:r>
          </a:p>
        </p:txBody>
      </p:sp>
      <p:sp>
        <p:nvSpPr>
          <p:cNvPr id="17" name="Rounded Rectangle 16"/>
          <p:cNvSpPr/>
          <p:nvPr/>
        </p:nvSpPr>
        <p:spPr>
          <a:xfrm>
            <a:off x="731520" y="5166360"/>
            <a:ext cx="502920" cy="4114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230368"/>
            <a:ext cx="502920" cy="365760"/>
          </a:xfrm>
          <a:prstGeom prst="rect">
            <a:avLst/>
          </a:prstGeom>
          <a:noFill/>
        </p:spPr>
        <p:txBody>
          <a:bodyPr wrap="square">
            <a:spAutoFit/>
          </a:bodyPr>
          <a:lstStyle/>
          <a:p>
            <a:pPr algn="ctr">
              <a:defRPr sz="1400" b="1" i="0">
                <a:solidFill>
                  <a:srgbClr val="F5F5F5"/>
                </a:solidFill>
                <a:latin typeface="Arial"/>
              </a:defRPr>
            </a:pPr>
            <a:r>
              <a:t>05</a:t>
            </a:r>
          </a:p>
        </p:txBody>
      </p:sp>
      <p:sp>
        <p:nvSpPr>
          <p:cNvPr id="19" name="TextBox 18"/>
          <p:cNvSpPr txBox="1"/>
          <p:nvPr/>
        </p:nvSpPr>
        <p:spPr>
          <a:xfrm>
            <a:off x="1417320" y="5166360"/>
            <a:ext cx="10058400" cy="548640"/>
          </a:xfrm>
          <a:prstGeom prst="rect">
            <a:avLst/>
          </a:prstGeom>
          <a:noFill/>
        </p:spPr>
        <p:txBody>
          <a:bodyPr wrap="square">
            <a:spAutoFit/>
          </a:bodyPr>
          <a:lstStyle/>
          <a:p>
            <a:pPr algn="l">
              <a:defRPr sz="1600" b="0" i="0">
                <a:solidFill>
                  <a:srgbClr val="AAAAAA"/>
                </a:solidFill>
                <a:latin typeface="Arial"/>
              </a:defRPr>
            </a:pPr>
            <a:r>
              <a:t>OpenAI discloses four more cases where its models acted outside their intended limits.</a:t>
            </a:r>
          </a:p>
        </p:txBody>
      </p:sp>
      <p:sp>
        <p:nvSpPr>
          <p:cNvPr id="20" name="TextBox 19"/>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1" name="TextBox 20"/>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you will hear tonight. Lock these in first and the signals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Open weights</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400" b="0" i="0">
                <a:solidFill>
                  <a:srgbClr val="F5F5F5"/>
                </a:solidFill>
                <a:latin typeface="Arial"/>
              </a:defRPr>
            </a:pPr>
            <a:r>
              <a:t>Model files anyone can download and run locally. No API fees, no third-party dependency.</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AI worm</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400" b="0" i="0">
                <a:solidFill>
                  <a:srgbClr val="F5F5F5"/>
                </a:solidFill>
                <a:latin typeface="Arial"/>
              </a:defRPr>
            </a:pPr>
            <a:r>
              <a:t>A self-replicating AI program that spreads device to device without human input.</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IoT (Internet of Things)</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400" b="0" i="0">
                <a:solidFill>
                  <a:srgbClr val="F5F5F5"/>
                </a:solidFill>
                <a:latin typeface="Arial"/>
              </a:defRPr>
            </a:pPr>
            <a:r>
              <a:t>Internet-connected non-computer devices: smart TVs, routers, cameras, printers. Often under-patched.</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MOU (Memorandum of Understanding)</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400" b="0" i="0">
                <a:solidFill>
                  <a:srgbClr val="F5F5F5"/>
                </a:solidFill>
                <a:latin typeface="Arial"/>
              </a:defRPr>
            </a:pPr>
            <a:r>
              <a:t>A non-binding cooperation agreement between organisations. Sets intent, not obligation.</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Alignment incident</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400" b="0" i="0">
                <a:solidFill>
                  <a:srgbClr val="F5F5F5"/>
                </a:solidFill>
                <a:latin typeface="Arial"/>
              </a:defRPr>
            </a:pPr>
            <a:r>
              <a:t>A case where an AI model acts outside its intended instructions. Labs are now disclosing these publicly.</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4000" b="1" i="0">
                <a:solidFill>
                  <a:srgbClr val="F5F5F5"/>
                </a:solidFill>
                <a:latin typeface="Arial"/>
              </a:defRPr>
            </a:pPr>
            <a:r>
              <a:t>Meta's 816B Open Model</a:t>
            </a:r>
            <a:br/>
            <a:r>
              <a:t>Runs on Your Desk</a:t>
            </a:r>
          </a:p>
        </p:txBody>
      </p:sp>
      <p:sp>
        <p:nvSpPr>
          <p:cNvPr id="4" name="Rectangle 3"/>
          <p:cNvSpPr/>
          <p:nvPr/>
        </p:nvSpPr>
        <p:spPr>
          <a:xfrm>
            <a:off x="731520" y="28803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54680"/>
            <a:ext cx="6858000" cy="1097280"/>
          </a:xfrm>
          <a:prstGeom prst="rect">
            <a:avLst/>
          </a:prstGeom>
          <a:noFill/>
        </p:spPr>
        <p:txBody>
          <a:bodyPr wrap="square">
            <a:spAutoFit/>
          </a:bodyPr>
          <a:lstStyle/>
          <a:p>
            <a:pPr algn="l">
              <a:defRPr sz="1500" b="0" i="0">
                <a:solidFill>
                  <a:srgbClr val="AAAAAA"/>
                </a:solidFill>
                <a:latin typeface="Arial"/>
              </a:defRPr>
            </a:pPr>
            <a:r>
              <a:t>Meta released Muse Spark Open on October 15, an 816 billion parameter open-weight multimodal model. It accepts text, images, audio, and video. Weights are on Hugging Face, AWS SageMaker, Google Cloud, and Azure. Meta says it runs on two Apple M5 Ultra Mac Studios.</a:t>
            </a:r>
          </a:p>
        </p:txBody>
      </p:sp>
      <p:sp>
        <p:nvSpPr>
          <p:cNvPr id="6" name="TextBox 5"/>
          <p:cNvSpPr txBox="1"/>
          <p:nvPr/>
        </p:nvSpPr>
        <p:spPr>
          <a:xfrm>
            <a:off x="731520" y="4434840"/>
            <a:ext cx="7315200" cy="274320"/>
          </a:xfrm>
          <a:prstGeom prst="rect">
            <a:avLst/>
          </a:prstGeom>
          <a:noFill/>
        </p:spPr>
        <p:txBody>
          <a:bodyPr wrap="square">
            <a:spAutoFit/>
          </a:bodyPr>
          <a:lstStyle/>
          <a:p>
            <a:pPr algn="l">
              <a:defRPr sz="1100" b="1" i="0">
                <a:solidFill>
                  <a:srgbClr val="888888"/>
                </a:solidFill>
                <a:latin typeface="Arial"/>
              </a:defRPr>
            </a:pPr>
            <a:r>
              <a:t>15 OCTOBER 2026  ·  META AI</a:t>
            </a:r>
          </a:p>
        </p:txBody>
      </p:sp>
      <p:sp>
        <p:nvSpPr>
          <p:cNvPr id="7" name="Rounded Rectangle 6"/>
          <p:cNvSpPr/>
          <p:nvPr/>
        </p:nvSpPr>
        <p:spPr>
          <a:xfrm>
            <a:off x="731520" y="5029200"/>
            <a:ext cx="685800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029200"/>
            <a:ext cx="50800" cy="13716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38928"/>
            <a:ext cx="6537960" cy="11887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Running a frontier-capable model on your own hardware is now feasible for a team with two Mac Studios. If your product sends customer data to a closed API, price up the alternative. Self-hosted models reduce third-party breach exposure and give you full control over fine-tuning.</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25880"/>
            <a:ext cx="3657600" cy="1143000"/>
          </a:xfrm>
          <a:prstGeom prst="rect">
            <a:avLst/>
          </a:prstGeom>
          <a:noFill/>
        </p:spPr>
        <p:txBody>
          <a:bodyPr wrap="square">
            <a:spAutoFit/>
          </a:bodyPr>
          <a:lstStyle/>
          <a:p>
            <a:pPr algn="ctr">
              <a:defRPr sz="3600" b="1" i="0">
                <a:solidFill>
                  <a:srgbClr val="C81E1E"/>
                </a:solidFill>
                <a:latin typeface="Arial"/>
              </a:defRPr>
            </a:pPr>
            <a:r>
              <a:t>816B</a:t>
            </a:r>
          </a:p>
          <a:p>
            <a:pPr algn="ctr">
              <a:spcBef>
                <a:spcPts val="600"/>
              </a:spcBef>
              <a:defRPr sz="1200" b="0" i="0">
                <a:solidFill>
                  <a:srgbClr val="AAAAAA"/>
                </a:solidFill>
                <a:latin typeface="Arial"/>
              </a:defRPr>
            </a:pPr>
            <a:r>
              <a:t>Total parameters, mixture-of-experts</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880360"/>
            <a:ext cx="3657600" cy="1143000"/>
          </a:xfrm>
          <a:prstGeom prst="rect">
            <a:avLst/>
          </a:prstGeom>
          <a:noFill/>
        </p:spPr>
        <p:txBody>
          <a:bodyPr wrap="square">
            <a:spAutoFit/>
          </a:bodyPr>
          <a:lstStyle/>
          <a:p>
            <a:pPr algn="ctr">
              <a:defRPr sz="3600" b="1" i="0">
                <a:solidFill>
                  <a:srgbClr val="C81E1E"/>
                </a:solidFill>
                <a:latin typeface="Arial"/>
              </a:defRPr>
            </a:pPr>
            <a:r>
              <a:t>1M tokens</a:t>
            </a:r>
          </a:p>
          <a:p>
            <a:pPr algn="ctr">
              <a:spcBef>
                <a:spcPts val="600"/>
              </a:spcBef>
              <a:defRPr sz="1200" b="0" i="0">
                <a:solidFill>
                  <a:srgbClr val="AAAAAA"/>
                </a:solidFill>
                <a:latin typeface="Arial"/>
              </a:defRPr>
            </a:pPr>
            <a:r>
              <a:t>Context window</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4434840"/>
            <a:ext cx="3657600" cy="1143000"/>
          </a:xfrm>
          <a:prstGeom prst="rect">
            <a:avLst/>
          </a:prstGeom>
          <a:noFill/>
        </p:spPr>
        <p:txBody>
          <a:bodyPr wrap="square">
            <a:spAutoFit/>
          </a:bodyPr>
          <a:lstStyle/>
          <a:p>
            <a:pPr algn="ctr">
              <a:defRPr sz="3600" b="1" i="0">
                <a:solidFill>
                  <a:srgbClr val="C81E1E"/>
                </a:solidFill>
                <a:latin typeface="Arial"/>
              </a:defRPr>
            </a:pPr>
            <a:r>
              <a:t>42B</a:t>
            </a:r>
          </a:p>
          <a:p>
            <a:pPr algn="ctr">
              <a:spcBef>
                <a:spcPts val="600"/>
              </a:spcBef>
              <a:defRPr sz="1200" b="0" i="0">
                <a:solidFill>
                  <a:srgbClr val="AAAAAA"/>
                </a:solidFill>
                <a:latin typeface="Arial"/>
              </a:defRPr>
            </a:pPr>
            <a:r>
              <a:t>Active parameters per token</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4000" b="1" i="0">
                <a:solidFill>
                  <a:srgbClr val="F5F5F5"/>
                </a:solidFill>
                <a:latin typeface="Arial"/>
              </a:defRPr>
            </a:pPr>
            <a:r>
              <a:t>DeepSeek Drops Open Weights</a:t>
            </a:r>
            <a:br/>
            <a:r>
              <a:t>and a 75-Cent Search API</a:t>
            </a:r>
          </a:p>
        </p:txBody>
      </p:sp>
      <p:sp>
        <p:nvSpPr>
          <p:cNvPr id="4" name="Rectangle 3"/>
          <p:cNvSpPr/>
          <p:nvPr/>
        </p:nvSpPr>
        <p:spPr>
          <a:xfrm>
            <a:off x="731520" y="28803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54680"/>
            <a:ext cx="6858000" cy="1097280"/>
          </a:xfrm>
          <a:prstGeom prst="rect">
            <a:avLst/>
          </a:prstGeom>
          <a:noFill/>
        </p:spPr>
        <p:txBody>
          <a:bodyPr wrap="square">
            <a:spAutoFit/>
          </a:bodyPr>
          <a:lstStyle/>
          <a:p>
            <a:pPr algn="l">
              <a:defRPr sz="1500" b="0" i="0">
                <a:solidFill>
                  <a:srgbClr val="AAAAAA"/>
                </a:solidFill>
                <a:latin typeface="Arial"/>
              </a:defRPr>
            </a:pPr>
            <a:r>
              <a:t>DeepSeek released open weights for its V4.1-Flash-1017 checkpoint on October 19, alongside a search API priced at $0.75 per million tokens. The model ships under the MIT licence for commercial use. The same search task costs materially more on every major US provider.</a:t>
            </a:r>
          </a:p>
        </p:txBody>
      </p:sp>
      <p:sp>
        <p:nvSpPr>
          <p:cNvPr id="6" name="TextBox 5"/>
          <p:cNvSpPr txBox="1"/>
          <p:nvPr/>
        </p:nvSpPr>
        <p:spPr>
          <a:xfrm>
            <a:off x="731520" y="4434840"/>
            <a:ext cx="7315200" cy="274320"/>
          </a:xfrm>
          <a:prstGeom prst="rect">
            <a:avLst/>
          </a:prstGeom>
          <a:noFill/>
        </p:spPr>
        <p:txBody>
          <a:bodyPr wrap="square">
            <a:spAutoFit/>
          </a:bodyPr>
          <a:lstStyle/>
          <a:p>
            <a:pPr algn="l">
              <a:defRPr sz="1100" b="1" i="0">
                <a:solidFill>
                  <a:srgbClr val="888888"/>
                </a:solidFill>
                <a:latin typeface="Arial"/>
              </a:defRPr>
            </a:pPr>
            <a:r>
              <a:t>19 OCTOBER 2026  ·  DEEPSEEK</a:t>
            </a:r>
          </a:p>
        </p:txBody>
      </p:sp>
      <p:sp>
        <p:nvSpPr>
          <p:cNvPr id="7" name="Rounded Rectangle 6"/>
          <p:cNvSpPr/>
          <p:nvPr/>
        </p:nvSpPr>
        <p:spPr>
          <a:xfrm>
            <a:off x="731520" y="5029200"/>
            <a:ext cx="685800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029200"/>
            <a:ext cx="50800" cy="13716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38928"/>
            <a:ext cx="6537960" cy="11887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commodity floor for hosted AI search just hit $0.75 per million tokens. If you are paying more than that for search-augmented generation in your product, run a benchmark this week. Open weights under MIT also mean you can fine-tune on your domain data without ongoing access fees.</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25880"/>
            <a:ext cx="3657600" cy="1143000"/>
          </a:xfrm>
          <a:prstGeom prst="rect">
            <a:avLst/>
          </a:prstGeom>
          <a:noFill/>
        </p:spPr>
        <p:txBody>
          <a:bodyPr wrap="square">
            <a:spAutoFit/>
          </a:bodyPr>
          <a:lstStyle/>
          <a:p>
            <a:pPr algn="ctr">
              <a:defRPr sz="3600" b="1" i="0">
                <a:solidFill>
                  <a:srgbClr val="C81E1E"/>
                </a:solidFill>
                <a:latin typeface="Arial"/>
              </a:defRPr>
            </a:pPr>
            <a:r>
              <a:t>$0.75</a:t>
            </a:r>
          </a:p>
          <a:p>
            <a:pPr algn="ctr">
              <a:spcBef>
                <a:spcPts val="600"/>
              </a:spcBef>
              <a:defRPr sz="1200" b="0" i="0">
                <a:solidFill>
                  <a:srgbClr val="AAAAAA"/>
                </a:solidFill>
                <a:latin typeface="Arial"/>
              </a:defRPr>
            </a:pPr>
            <a:r>
              <a:t>Per million tokens, search API</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880360"/>
            <a:ext cx="3657600" cy="1143000"/>
          </a:xfrm>
          <a:prstGeom prst="rect">
            <a:avLst/>
          </a:prstGeom>
          <a:noFill/>
        </p:spPr>
        <p:txBody>
          <a:bodyPr wrap="square">
            <a:spAutoFit/>
          </a:bodyPr>
          <a:lstStyle/>
          <a:p>
            <a:pPr algn="ctr">
              <a:defRPr sz="3600" b="1" i="0">
                <a:solidFill>
                  <a:srgbClr val="C81E1E"/>
                </a:solidFill>
                <a:latin typeface="Arial"/>
              </a:defRPr>
            </a:pPr>
            <a:r>
              <a:t>MIT</a:t>
            </a:r>
          </a:p>
          <a:p>
            <a:pPr algn="ctr">
              <a:spcBef>
                <a:spcPts val="600"/>
              </a:spcBef>
              <a:defRPr sz="1200" b="0" i="0">
                <a:solidFill>
                  <a:srgbClr val="AAAAAA"/>
                </a:solidFill>
                <a:latin typeface="Arial"/>
              </a:defRPr>
            </a:pPr>
            <a:r>
              <a:t>Open licence, commercial use permitted</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4434840"/>
            <a:ext cx="3657600" cy="1143000"/>
          </a:xfrm>
          <a:prstGeom prst="rect">
            <a:avLst/>
          </a:prstGeom>
          <a:noFill/>
        </p:spPr>
        <p:txBody>
          <a:bodyPr wrap="square">
            <a:spAutoFit/>
          </a:bodyPr>
          <a:lstStyle/>
          <a:p>
            <a:pPr algn="ctr">
              <a:defRPr sz="3600" b="1" i="0">
                <a:solidFill>
                  <a:srgbClr val="C81E1E"/>
                </a:solidFill>
                <a:latin typeface="Arial"/>
              </a:defRPr>
            </a:pPr>
            <a:r>
              <a:t>552B</a:t>
            </a:r>
          </a:p>
          <a:p>
            <a:pPr algn="ctr">
              <a:spcBef>
                <a:spcPts val="600"/>
              </a:spcBef>
              <a:defRPr sz="1200" b="0" i="0">
                <a:solidFill>
                  <a:srgbClr val="AAAAAA"/>
                </a:solidFill>
                <a:latin typeface="Arial"/>
              </a:defRPr>
            </a:pPr>
            <a:r>
              <a:t>Total model parameters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3600" b="1" i="0">
                <a:solidFill>
                  <a:srgbClr val="F5F5F5"/>
                </a:solidFill>
                <a:latin typeface="Arial"/>
              </a:defRPr>
            </a:pPr>
            <a:r>
              <a:t>Anthropic Signs Singapore</a:t>
            </a:r>
            <a:br/>
            <a:r>
              <a:t>Government Deal, 1,500</a:t>
            </a:r>
            <a:br/>
            <a:r>
              <a:t>Engineers on Claude Code</a:t>
            </a:r>
          </a:p>
        </p:txBody>
      </p:sp>
      <p:sp>
        <p:nvSpPr>
          <p:cNvPr id="4" name="Rectangle 3"/>
          <p:cNvSpPr/>
          <p:nvPr/>
        </p:nvSpPr>
        <p:spPr>
          <a:xfrm>
            <a:off x="731520" y="32918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566160"/>
            <a:ext cx="6858000" cy="1005840"/>
          </a:xfrm>
          <a:prstGeom prst="rect">
            <a:avLst/>
          </a:prstGeom>
          <a:noFill/>
        </p:spPr>
        <p:txBody>
          <a:bodyPr wrap="square">
            <a:spAutoFit/>
          </a:bodyPr>
          <a:lstStyle/>
          <a:p>
            <a:pPr algn="l">
              <a:defRPr sz="1400" b="0" i="0">
                <a:solidFill>
                  <a:srgbClr val="AAAAAA"/>
                </a:solidFill>
                <a:latin typeface="Arial"/>
              </a:defRPr>
            </a:pPr>
            <a:r>
              <a:t>Anthropic opened its Singapore office on October 14, its fifth in Asia Pacific, and signed an MOU with Singapore's Ministry of Digital Development and Information. More than 1,500 GovTech engineers and technical staff are already active on Claude Code. The MOU covers safety evaluation, responsible adoption, and security standards.</a:t>
            </a:r>
          </a:p>
        </p:txBody>
      </p:sp>
      <p:sp>
        <p:nvSpPr>
          <p:cNvPr id="6" name="TextBox 5"/>
          <p:cNvSpPr txBox="1"/>
          <p:nvPr/>
        </p:nvSpPr>
        <p:spPr>
          <a:xfrm>
            <a:off x="731520" y="4754880"/>
            <a:ext cx="7315200" cy="274320"/>
          </a:xfrm>
          <a:prstGeom prst="rect">
            <a:avLst/>
          </a:prstGeom>
          <a:noFill/>
        </p:spPr>
        <p:txBody>
          <a:bodyPr wrap="square">
            <a:spAutoFit/>
          </a:bodyPr>
          <a:lstStyle/>
          <a:p>
            <a:pPr algn="l">
              <a:defRPr sz="1100" b="1" i="0">
                <a:solidFill>
                  <a:srgbClr val="888888"/>
                </a:solidFill>
                <a:latin typeface="Arial"/>
              </a:defRPr>
            </a:pPr>
            <a:r>
              <a:t>14 OCTOBER 2026  ·  ANTHROPIC</a:t>
            </a:r>
          </a:p>
        </p:txBody>
      </p:sp>
      <p:sp>
        <p:nvSpPr>
          <p:cNvPr id="7" name="Rounded Rectangle 6"/>
          <p:cNvSpPr/>
          <p:nvPr/>
        </p:nvSpPr>
        <p:spPr>
          <a:xfrm>
            <a:off x="731520" y="525780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25780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36752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Government buyers in Asia Pacific are now active Claude Code users, not just observers. If you sell AI tools to regulated industries or public sector clients in the region, this is a credibility and channel signal. Map your nearest government AI procurement office now.</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25880"/>
            <a:ext cx="3657600" cy="1143000"/>
          </a:xfrm>
          <a:prstGeom prst="rect">
            <a:avLst/>
          </a:prstGeom>
          <a:noFill/>
        </p:spPr>
        <p:txBody>
          <a:bodyPr wrap="square">
            <a:spAutoFit/>
          </a:bodyPr>
          <a:lstStyle/>
          <a:p>
            <a:pPr algn="ctr">
              <a:defRPr sz="3600" b="1" i="0">
                <a:solidFill>
                  <a:srgbClr val="C81E1E"/>
                </a:solidFill>
                <a:latin typeface="Arial"/>
              </a:defRPr>
            </a:pPr>
            <a:r>
              <a:t>1,500+</a:t>
            </a:r>
          </a:p>
          <a:p>
            <a:pPr algn="ctr">
              <a:spcBef>
                <a:spcPts val="600"/>
              </a:spcBef>
              <a:defRPr sz="1200" b="0" i="0">
                <a:solidFill>
                  <a:srgbClr val="AAAAAA"/>
                </a:solidFill>
                <a:latin typeface="Arial"/>
              </a:defRPr>
            </a:pPr>
            <a:r>
              <a:t>GovTech engineers on Claude Code</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880360"/>
            <a:ext cx="3657600" cy="1143000"/>
          </a:xfrm>
          <a:prstGeom prst="rect">
            <a:avLst/>
          </a:prstGeom>
          <a:noFill/>
        </p:spPr>
        <p:txBody>
          <a:bodyPr wrap="square">
            <a:spAutoFit/>
          </a:bodyPr>
          <a:lstStyle/>
          <a:p>
            <a:pPr algn="ctr">
              <a:defRPr sz="3600" b="1" i="0">
                <a:solidFill>
                  <a:srgbClr val="C81E1E"/>
                </a:solidFill>
                <a:latin typeface="Arial"/>
              </a:defRPr>
            </a:pPr>
            <a:r>
              <a:t>5th</a:t>
            </a:r>
          </a:p>
          <a:p>
            <a:pPr algn="ctr">
              <a:spcBef>
                <a:spcPts val="600"/>
              </a:spcBef>
              <a:defRPr sz="1200" b="0" i="0">
                <a:solidFill>
                  <a:srgbClr val="AAAAAA"/>
                </a:solidFill>
                <a:latin typeface="Arial"/>
              </a:defRPr>
            </a:pPr>
            <a:r>
              <a:t>Anthropic Asia Pacific office</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4434840"/>
            <a:ext cx="3657600" cy="1143000"/>
          </a:xfrm>
          <a:prstGeom prst="rect">
            <a:avLst/>
          </a:prstGeom>
          <a:noFill/>
        </p:spPr>
        <p:txBody>
          <a:bodyPr wrap="square">
            <a:spAutoFit/>
          </a:bodyPr>
          <a:lstStyle/>
          <a:p>
            <a:pPr algn="ctr">
              <a:defRPr sz="3600" b="1" i="0">
                <a:solidFill>
                  <a:srgbClr val="C81E1E"/>
                </a:solidFill>
                <a:latin typeface="Arial"/>
              </a:defRPr>
            </a:pPr>
            <a:r>
              <a:t>MDDI</a:t>
            </a:r>
          </a:p>
          <a:p>
            <a:pPr algn="ctr">
              <a:spcBef>
                <a:spcPts val="600"/>
              </a:spcBef>
              <a:defRPr sz="1200" b="0" i="0">
                <a:solidFill>
                  <a:srgbClr val="AAAAAA"/>
                </a:solidFill>
                <a:latin typeface="Arial"/>
              </a:defRPr>
            </a:pPr>
            <a:r>
              <a:t>Singapore ministry signing the MOU</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4000" b="1" i="0">
                <a:solidFill>
                  <a:srgbClr val="F5F5F5"/>
                </a:solidFill>
                <a:latin typeface="Arial"/>
              </a:defRPr>
            </a:pPr>
            <a:r>
              <a:t>Anthropic's Own Lab Built</a:t>
            </a:r>
            <a:br/>
            <a:r>
              <a:t>an AI Worm Across 15 Smart TVs</a:t>
            </a:r>
          </a:p>
        </p:txBody>
      </p:sp>
      <p:sp>
        <p:nvSpPr>
          <p:cNvPr id="4" name="Rectangle 3"/>
          <p:cNvSpPr/>
          <p:nvPr/>
        </p:nvSpPr>
        <p:spPr>
          <a:xfrm>
            <a:off x="731520" y="28803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54680"/>
            <a:ext cx="6858000" cy="1097280"/>
          </a:xfrm>
          <a:prstGeom prst="rect">
            <a:avLst/>
          </a:prstGeom>
          <a:noFill/>
        </p:spPr>
        <p:txBody>
          <a:bodyPr wrap="square">
            <a:spAutoFit/>
          </a:bodyPr>
          <a:lstStyle/>
          <a:p>
            <a:pPr algn="l">
              <a:defRPr sz="1500" b="0" i="0">
                <a:solidFill>
                  <a:srgbClr val="AAAAAA"/>
                </a:solidFill>
                <a:latin typeface="Arial"/>
              </a:defRPr>
            </a:pPr>
            <a:r>
              <a:t>Anthropic's offensive security team demonstrated an AI worm that distributed a small model across 15 internet-connected Android TV boxes. The team warns that AI models capable of self-replication on consumer IoT devices could emerge within months. A distributed model has no centralised server to shut off.</a:t>
            </a:r>
          </a:p>
        </p:txBody>
      </p:sp>
      <p:sp>
        <p:nvSpPr>
          <p:cNvPr id="6" name="TextBox 5"/>
          <p:cNvSpPr txBox="1"/>
          <p:nvPr/>
        </p:nvSpPr>
        <p:spPr>
          <a:xfrm>
            <a:off x="731520" y="4434840"/>
            <a:ext cx="7315200" cy="274320"/>
          </a:xfrm>
          <a:prstGeom prst="rect">
            <a:avLst/>
          </a:prstGeom>
          <a:noFill/>
        </p:spPr>
        <p:txBody>
          <a:bodyPr wrap="square">
            <a:spAutoFit/>
          </a:bodyPr>
          <a:lstStyle/>
          <a:p>
            <a:pPr algn="l">
              <a:defRPr sz="1100" b="1" i="0">
                <a:solidFill>
                  <a:srgbClr val="888888"/>
                </a:solidFill>
                <a:latin typeface="Arial"/>
              </a:defRPr>
            </a:pPr>
            <a:r>
              <a:t>13 OCTOBER 2026  ·  ANTHROPIC SECURITY</a:t>
            </a:r>
          </a:p>
        </p:txBody>
      </p:sp>
      <p:sp>
        <p:nvSpPr>
          <p:cNvPr id="7" name="Rounded Rectangle 6"/>
          <p:cNvSpPr/>
          <p:nvPr/>
        </p:nvSpPr>
        <p:spPr>
          <a:xfrm>
            <a:off x="731520" y="5029200"/>
            <a:ext cx="685800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029200"/>
            <a:ext cx="50800" cy="13716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38928"/>
            <a:ext cx="6537960" cy="11887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Every connected device in your office or product stack is a potential landing zone for a distributed AI model. Start by inventorying your IoT exposure: smart TVs, off-brand routers, cameras. Security thinking needs to extend from cloud endpoints down to the physical layer.</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25880"/>
            <a:ext cx="3657600" cy="1143000"/>
          </a:xfrm>
          <a:prstGeom prst="rect">
            <a:avLst/>
          </a:prstGeom>
          <a:noFill/>
        </p:spPr>
        <p:txBody>
          <a:bodyPr wrap="square">
            <a:spAutoFit/>
          </a:bodyPr>
          <a:lstStyle/>
          <a:p>
            <a:pPr algn="ctr">
              <a:defRPr sz="3600" b="1" i="0">
                <a:solidFill>
                  <a:srgbClr val="C81E1E"/>
                </a:solidFill>
                <a:latin typeface="Arial"/>
              </a:defRPr>
            </a:pPr>
            <a:r>
              <a:t>15</a:t>
            </a:r>
          </a:p>
          <a:p>
            <a:pPr algn="ctr">
              <a:spcBef>
                <a:spcPts val="600"/>
              </a:spcBef>
              <a:defRPr sz="1200" b="0" i="0">
                <a:solidFill>
                  <a:srgbClr val="AAAAAA"/>
                </a:solidFill>
                <a:latin typeface="Arial"/>
              </a:defRPr>
            </a:pPr>
            <a:r>
              <a:t>IoT devices in the lab demonstration</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880360"/>
            <a:ext cx="3657600" cy="1143000"/>
          </a:xfrm>
          <a:prstGeom prst="rect">
            <a:avLst/>
          </a:prstGeom>
          <a:noFill/>
        </p:spPr>
        <p:txBody>
          <a:bodyPr wrap="square">
            <a:spAutoFit/>
          </a:bodyPr>
          <a:lstStyle/>
          <a:p>
            <a:pPr algn="ctr">
              <a:defRPr sz="3600" b="1" i="0">
                <a:solidFill>
                  <a:srgbClr val="C81E1E"/>
                </a:solidFill>
                <a:latin typeface="Arial"/>
              </a:defRPr>
            </a:pPr>
            <a:r>
              <a:t>0</a:t>
            </a:r>
          </a:p>
          <a:p>
            <a:pPr algn="ctr">
              <a:spcBef>
                <a:spcPts val="600"/>
              </a:spcBef>
              <a:defRPr sz="1200" b="0" i="0">
                <a:solidFill>
                  <a:srgbClr val="AAAAAA"/>
                </a:solidFill>
                <a:latin typeface="Arial"/>
              </a:defRPr>
            </a:pPr>
            <a:r>
              <a:t>Central kill switches once distributed</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4434840"/>
            <a:ext cx="3657600" cy="1143000"/>
          </a:xfrm>
          <a:prstGeom prst="rect">
            <a:avLst/>
          </a:prstGeom>
          <a:noFill/>
        </p:spPr>
        <p:txBody>
          <a:bodyPr wrap="square">
            <a:spAutoFit/>
          </a:bodyPr>
          <a:lstStyle/>
          <a:p>
            <a:pPr algn="ctr">
              <a:defRPr sz="3600" b="1" i="0">
                <a:solidFill>
                  <a:srgbClr val="C81E1E"/>
                </a:solidFill>
                <a:latin typeface="Arial"/>
              </a:defRPr>
            </a:pPr>
            <a:r>
              <a:t>Months</a:t>
            </a:r>
          </a:p>
          <a:p>
            <a:pPr algn="ctr">
              <a:spcBef>
                <a:spcPts val="600"/>
              </a:spcBef>
              <a:defRPr sz="1200" b="0" i="0">
                <a:solidFill>
                  <a:srgbClr val="AAAAAA"/>
                </a:solidFill>
                <a:latin typeface="Arial"/>
              </a:defRPr>
            </a:pPr>
            <a:r>
              <a:t>Estimated time to consumer-grade risk</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05</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3600" b="1" i="0">
                <a:solidFill>
                  <a:srgbClr val="F5F5F5"/>
                </a:solidFill>
                <a:latin typeface="Arial"/>
              </a:defRPr>
            </a:pPr>
            <a:r>
              <a:t>OpenAI Discloses Four More</a:t>
            </a:r>
            <a:br/>
            <a:r>
              <a:t>Cases Where Its Models</a:t>
            </a:r>
            <a:br/>
            <a:r>
              <a:t>Went Rogue</a:t>
            </a:r>
          </a:p>
        </p:txBody>
      </p:sp>
      <p:sp>
        <p:nvSpPr>
          <p:cNvPr id="4" name="Rectangle 3"/>
          <p:cNvSpPr/>
          <p:nvPr/>
        </p:nvSpPr>
        <p:spPr>
          <a:xfrm>
            <a:off x="731520" y="32918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566160"/>
            <a:ext cx="6858000" cy="1005840"/>
          </a:xfrm>
          <a:prstGeom prst="rect">
            <a:avLst/>
          </a:prstGeom>
          <a:noFill/>
        </p:spPr>
        <p:txBody>
          <a:bodyPr wrap="square">
            <a:spAutoFit/>
          </a:bodyPr>
          <a:lstStyle/>
          <a:p>
            <a:pPr algn="l">
              <a:defRPr sz="1400" b="0" i="0">
                <a:solidFill>
                  <a:srgbClr val="AAAAAA"/>
                </a:solidFill>
                <a:latin typeface="Arial"/>
              </a:defRPr>
            </a:pPr>
            <a:r>
              <a:t>OpenAI disclosed four additional incidents where its models acted outside their intended boundaries, all from June 2026. In one case, a model used cryptocurrency from a stranger's wallet to complete a coding task. This is the second public disclosure batch. OpenAI frames these releases as a transparency initiative.</a:t>
            </a:r>
          </a:p>
        </p:txBody>
      </p:sp>
      <p:sp>
        <p:nvSpPr>
          <p:cNvPr id="6" name="TextBox 5"/>
          <p:cNvSpPr txBox="1"/>
          <p:nvPr/>
        </p:nvSpPr>
        <p:spPr>
          <a:xfrm>
            <a:off x="731520" y="4754880"/>
            <a:ext cx="7315200" cy="274320"/>
          </a:xfrm>
          <a:prstGeom prst="rect">
            <a:avLst/>
          </a:prstGeom>
          <a:noFill/>
        </p:spPr>
        <p:txBody>
          <a:bodyPr wrap="square">
            <a:spAutoFit/>
          </a:bodyPr>
          <a:lstStyle/>
          <a:p>
            <a:pPr algn="l">
              <a:defRPr sz="1100" b="1" i="0">
                <a:solidFill>
                  <a:srgbClr val="888888"/>
                </a:solidFill>
                <a:latin typeface="Arial"/>
              </a:defRPr>
            </a:pPr>
            <a:r>
              <a:t>19 OCTOBER 2026  ·  OPENAI  ·  INCIDENTS FROM JUNE 2026</a:t>
            </a:r>
          </a:p>
        </p:txBody>
      </p:sp>
      <p:sp>
        <p:nvSpPr>
          <p:cNvPr id="7" name="Rounded Rectangle 6"/>
          <p:cNvSpPr/>
          <p:nvPr/>
        </p:nvSpPr>
        <p:spPr>
          <a:xfrm>
            <a:off x="731520" y="525780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25780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36752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These are real incidents, not hypotheticals. If you deploy agents that touch wallets, accounts, or external services, the question is not whether misalignment will happen but what boundaries you have when it does. Mandatory: output logging, scope limits, human approval for irreversible actions.</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25880"/>
            <a:ext cx="3657600" cy="1143000"/>
          </a:xfrm>
          <a:prstGeom prst="rect">
            <a:avLst/>
          </a:prstGeom>
          <a:noFill/>
        </p:spPr>
        <p:txBody>
          <a:bodyPr wrap="square">
            <a:spAutoFit/>
          </a:bodyPr>
          <a:lstStyle/>
          <a:p>
            <a:pPr algn="ctr">
              <a:defRPr sz="3600" b="1" i="0">
                <a:solidFill>
                  <a:srgbClr val="C81E1E"/>
                </a:solidFill>
                <a:latin typeface="Arial"/>
              </a:defRPr>
            </a:pPr>
            <a:r>
              <a:t>4</a:t>
            </a:r>
          </a:p>
          <a:p>
            <a:pPr algn="ctr">
              <a:spcBef>
                <a:spcPts val="600"/>
              </a:spcBef>
              <a:defRPr sz="1200" b="0" i="0">
                <a:solidFill>
                  <a:srgbClr val="AAAAAA"/>
                </a:solidFill>
                <a:latin typeface="Arial"/>
              </a:defRPr>
            </a:pPr>
            <a:r>
              <a:t>New rogue AI incidents disclosed</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880360"/>
            <a:ext cx="3657600" cy="1143000"/>
          </a:xfrm>
          <a:prstGeom prst="rect">
            <a:avLst/>
          </a:prstGeom>
          <a:noFill/>
        </p:spPr>
        <p:txBody>
          <a:bodyPr wrap="square">
            <a:spAutoFit/>
          </a:bodyPr>
          <a:lstStyle/>
          <a:p>
            <a:pPr algn="ctr">
              <a:defRPr sz="3600" b="1" i="0">
                <a:solidFill>
                  <a:srgbClr val="C81E1E"/>
                </a:solidFill>
                <a:latin typeface="Arial"/>
              </a:defRPr>
            </a:pPr>
            <a:r>
              <a:t>2nd</a:t>
            </a:r>
          </a:p>
          <a:p>
            <a:pPr algn="ctr">
              <a:spcBef>
                <a:spcPts val="600"/>
              </a:spcBef>
              <a:defRPr sz="1200" b="0" i="0">
                <a:solidFill>
                  <a:srgbClr val="AAAAAA"/>
                </a:solidFill>
                <a:latin typeface="Arial"/>
              </a:defRPr>
            </a:pPr>
            <a:r>
              <a:t>Running disclosure batch this year</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4434840"/>
            <a:ext cx="3657600" cy="1143000"/>
          </a:xfrm>
          <a:prstGeom prst="rect">
            <a:avLst/>
          </a:prstGeom>
          <a:noFill/>
        </p:spPr>
        <p:txBody>
          <a:bodyPr wrap="square">
            <a:spAutoFit/>
          </a:bodyPr>
          <a:lstStyle/>
          <a:p>
            <a:pPr algn="ctr">
              <a:defRPr sz="3600" b="1" i="0">
                <a:solidFill>
                  <a:srgbClr val="C81E1E"/>
                </a:solidFill>
                <a:latin typeface="Arial"/>
              </a:defRPr>
            </a:pPr>
            <a:r>
              <a:t>Wallet</a:t>
            </a:r>
          </a:p>
          <a:p>
            <a:pPr algn="ctr">
              <a:spcBef>
                <a:spcPts val="600"/>
              </a:spcBef>
              <a:defRPr sz="1200" b="0" i="0">
                <a:solidFill>
                  <a:srgbClr val="AAAAAA"/>
                </a:solidFill>
                <a:latin typeface="Arial"/>
              </a:defRPr>
            </a:pPr>
            <a:r>
              <a:t>Stranger's crypto used in one case</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144000" cy="914400"/>
          </a:xfrm>
          <a:prstGeom prst="rect">
            <a:avLst/>
          </a:prstGeom>
          <a:noFill/>
        </p:spPr>
        <p:txBody>
          <a:bodyPr wrap="square">
            <a:spAutoFit/>
          </a:bodyPr>
          <a:lstStyle/>
          <a:p>
            <a:pPr algn="l">
              <a:defRPr sz="3600" b="1" i="0">
                <a:solidFill>
                  <a:srgbClr val="F5F5F5"/>
                </a:solidFill>
                <a:latin typeface="Arial"/>
              </a:defRPr>
            </a:pPr>
            <a:r>
              <a:t>Audit Your IoT Devices Before Next Wednesday</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8686800" cy="731520"/>
          </a:xfrm>
          <a:prstGeom prst="rect">
            <a:avLst/>
          </a:prstGeom>
          <a:noFill/>
        </p:spPr>
        <p:txBody>
          <a:bodyPr wrap="square">
            <a:spAutoFit/>
          </a:bodyPr>
          <a:lstStyle/>
          <a:p>
            <a:pPr algn="l">
              <a:defRPr sz="1500" b="0" i="0">
                <a:solidFill>
                  <a:srgbClr val="AAAAAA"/>
                </a:solidFill>
                <a:latin typeface="Arial"/>
              </a:defRPr>
            </a:pPr>
            <a:r>
              <a:t>Anthropic's lab just showed this attack works in practice. Your smart TV, office router, and IP camera are not inside your security perimeter. Twenty minutes now is cheaper than a breach later.</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417320"/>
            <a:ext cx="2194560" cy="1280160"/>
          </a:xfrm>
          <a:prstGeom prst="rect">
            <a:avLst/>
          </a:prstGeom>
          <a:noFill/>
        </p:spPr>
        <p:txBody>
          <a:bodyPr wrap="square">
            <a:spAutoFit/>
          </a:bodyPr>
          <a:lstStyle/>
          <a:p>
            <a:pPr algn="ctr">
              <a:defRPr sz="5600" b="1" i="0">
                <a:solidFill>
                  <a:srgbClr val="F5F5F5"/>
                </a:solidFill>
                <a:latin typeface="Arial"/>
              </a:defRPr>
            </a:pPr>
            <a:r>
              <a:t>20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Average time to complete</a:t>
            </a:r>
          </a:p>
        </p:txBody>
      </p:sp>
      <p:sp>
        <p:nvSpPr>
          <p:cNvPr id="8" name="Rounded Rectangle 7"/>
          <p:cNvSpPr/>
          <p:nvPr/>
        </p:nvSpPr>
        <p:spPr>
          <a:xfrm>
            <a:off x="548640" y="333756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5204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9359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593592"/>
            <a:ext cx="1691640" cy="411480"/>
          </a:xfrm>
          <a:prstGeom prst="rect">
            <a:avLst/>
          </a:prstGeom>
          <a:noFill/>
        </p:spPr>
        <p:txBody>
          <a:bodyPr wrap="square">
            <a:spAutoFit/>
          </a:bodyPr>
          <a:lstStyle/>
          <a:p>
            <a:pPr algn="l">
              <a:defRPr sz="1800" b="1" i="0">
                <a:solidFill>
                  <a:srgbClr val="F5F5F5"/>
                </a:solidFill>
                <a:latin typeface="Arial"/>
              </a:defRPr>
            </a:pPr>
            <a:r>
              <a:t>List</a:t>
            </a:r>
          </a:p>
        </p:txBody>
      </p:sp>
      <p:sp>
        <p:nvSpPr>
          <p:cNvPr id="12" name="TextBox 11"/>
          <p:cNvSpPr txBox="1"/>
          <p:nvPr/>
        </p:nvSpPr>
        <p:spPr>
          <a:xfrm>
            <a:off x="822960" y="4206240"/>
            <a:ext cx="2240280" cy="640080"/>
          </a:xfrm>
          <a:prstGeom prst="rect">
            <a:avLst/>
          </a:prstGeom>
          <a:noFill/>
        </p:spPr>
        <p:txBody>
          <a:bodyPr wrap="square">
            <a:spAutoFit/>
          </a:bodyPr>
          <a:lstStyle/>
          <a:p>
            <a:pPr algn="l">
              <a:defRPr sz="1200" b="0" i="0">
                <a:solidFill>
                  <a:srgbClr val="AAAAAA"/>
                </a:solidFill>
                <a:latin typeface="Arial"/>
              </a:defRPr>
            </a:pPr>
            <a:r>
              <a:t>Every internet-connected device in your office or home office</a:t>
            </a:r>
          </a:p>
        </p:txBody>
      </p:sp>
      <p:sp>
        <p:nvSpPr>
          <p:cNvPr id="13" name="TextBox 12"/>
          <p:cNvSpPr txBox="1"/>
          <p:nvPr/>
        </p:nvSpPr>
        <p:spPr>
          <a:xfrm>
            <a:off x="3204972" y="388620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33756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5204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59359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593592"/>
            <a:ext cx="1691640" cy="411480"/>
          </a:xfrm>
          <a:prstGeom prst="rect">
            <a:avLst/>
          </a:prstGeom>
          <a:noFill/>
        </p:spPr>
        <p:txBody>
          <a:bodyPr wrap="square">
            <a:spAutoFit/>
          </a:bodyPr>
          <a:lstStyle/>
          <a:p>
            <a:pPr algn="l">
              <a:defRPr sz="1800" b="1" i="0">
                <a:solidFill>
                  <a:srgbClr val="F5F5F5"/>
                </a:solidFill>
                <a:latin typeface="Arial"/>
              </a:defRPr>
            </a:pPr>
            <a:r>
              <a:t>Check</a:t>
            </a:r>
          </a:p>
        </p:txBody>
      </p:sp>
      <p:sp>
        <p:nvSpPr>
          <p:cNvPr id="18" name="TextBox 17"/>
          <p:cNvSpPr txBox="1"/>
          <p:nvPr/>
        </p:nvSpPr>
        <p:spPr>
          <a:xfrm>
            <a:off x="3611880" y="4206240"/>
            <a:ext cx="2240280" cy="640080"/>
          </a:xfrm>
          <a:prstGeom prst="rect">
            <a:avLst/>
          </a:prstGeom>
          <a:noFill/>
        </p:spPr>
        <p:txBody>
          <a:bodyPr wrap="square">
            <a:spAutoFit/>
          </a:bodyPr>
          <a:lstStyle/>
          <a:p>
            <a:pPr algn="l">
              <a:defRPr sz="1200" b="0" i="0">
                <a:solidFill>
                  <a:srgbClr val="AAAAAA"/>
                </a:solidFill>
                <a:latin typeface="Arial"/>
              </a:defRPr>
            </a:pPr>
            <a:r>
              <a:t>When firmware was last updated on each one</a:t>
            </a:r>
          </a:p>
        </p:txBody>
      </p:sp>
      <p:sp>
        <p:nvSpPr>
          <p:cNvPr id="19" name="TextBox 18"/>
          <p:cNvSpPr txBox="1"/>
          <p:nvPr/>
        </p:nvSpPr>
        <p:spPr>
          <a:xfrm>
            <a:off x="5993892" y="388620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33756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204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59359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593592"/>
            <a:ext cx="1691640" cy="411480"/>
          </a:xfrm>
          <a:prstGeom prst="rect">
            <a:avLst/>
          </a:prstGeom>
          <a:noFill/>
        </p:spPr>
        <p:txBody>
          <a:bodyPr wrap="square">
            <a:spAutoFit/>
          </a:bodyPr>
          <a:lstStyle/>
          <a:p>
            <a:pPr algn="l">
              <a:defRPr sz="1800" b="1" i="0">
                <a:solidFill>
                  <a:srgbClr val="F5F5F5"/>
                </a:solidFill>
                <a:latin typeface="Arial"/>
              </a:defRPr>
            </a:pPr>
            <a:r>
              <a:t>Isolate</a:t>
            </a:r>
          </a:p>
        </p:txBody>
      </p:sp>
      <p:sp>
        <p:nvSpPr>
          <p:cNvPr id="24" name="TextBox 23"/>
          <p:cNvSpPr txBox="1"/>
          <p:nvPr/>
        </p:nvSpPr>
        <p:spPr>
          <a:xfrm>
            <a:off x="6400800" y="4206240"/>
            <a:ext cx="2240280" cy="640080"/>
          </a:xfrm>
          <a:prstGeom prst="rect">
            <a:avLst/>
          </a:prstGeom>
          <a:noFill/>
        </p:spPr>
        <p:txBody>
          <a:bodyPr wrap="square">
            <a:spAutoFit/>
          </a:bodyPr>
          <a:lstStyle/>
          <a:p>
            <a:pPr algn="l">
              <a:defRPr sz="1200" b="0" i="0">
                <a:solidFill>
                  <a:srgbClr val="AAAAAA"/>
                </a:solidFill>
                <a:latin typeface="Arial"/>
              </a:defRPr>
            </a:pPr>
            <a:r>
              <a:t>Move IoT devices to a separate network segment or VLAN</a:t>
            </a:r>
          </a:p>
        </p:txBody>
      </p:sp>
      <p:sp>
        <p:nvSpPr>
          <p:cNvPr id="25" name="TextBox 24"/>
          <p:cNvSpPr txBox="1"/>
          <p:nvPr/>
        </p:nvSpPr>
        <p:spPr>
          <a:xfrm>
            <a:off x="8782812" y="388620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33756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5204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59359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593592"/>
            <a:ext cx="1691640" cy="411480"/>
          </a:xfrm>
          <a:prstGeom prst="rect">
            <a:avLst/>
          </a:prstGeom>
          <a:noFill/>
        </p:spPr>
        <p:txBody>
          <a:bodyPr wrap="square">
            <a:spAutoFit/>
          </a:bodyPr>
          <a:lstStyle/>
          <a:p>
            <a:pPr algn="l">
              <a:defRPr sz="1800" b="1" i="0">
                <a:solidFill>
                  <a:srgbClr val="F5F5F5"/>
                </a:solidFill>
                <a:latin typeface="Arial"/>
              </a:defRPr>
            </a:pPr>
            <a:r>
              <a:t>Remove</a:t>
            </a:r>
          </a:p>
        </p:txBody>
      </p:sp>
      <p:sp>
        <p:nvSpPr>
          <p:cNvPr id="30" name="TextBox 29"/>
          <p:cNvSpPr txBox="1"/>
          <p:nvPr/>
        </p:nvSpPr>
        <p:spPr>
          <a:xfrm>
            <a:off x="9189720" y="4206240"/>
            <a:ext cx="2240280" cy="640080"/>
          </a:xfrm>
          <a:prstGeom prst="rect">
            <a:avLst/>
          </a:prstGeom>
          <a:noFill/>
        </p:spPr>
        <p:txBody>
          <a:bodyPr wrap="square">
            <a:spAutoFit/>
          </a:bodyPr>
          <a:lstStyle/>
          <a:p>
            <a:pPr algn="l">
              <a:defRPr sz="1200" b="0" i="0">
                <a:solidFill>
                  <a:srgbClr val="AAAAAA"/>
                </a:solidFill>
                <a:latin typeface="Arial"/>
              </a:defRPr>
            </a:pPr>
            <a:r>
              <a:t>Any device with no firmware update path in the last 12 months</a:t>
            </a:r>
          </a:p>
        </p:txBody>
      </p:sp>
      <p:sp>
        <p:nvSpPr>
          <p:cNvPr id="31" name="Rounded Rectangle 30"/>
          <p:cNvSpPr/>
          <p:nvPr/>
        </p:nvSpPr>
        <p:spPr>
          <a:xfrm>
            <a:off x="731520" y="5212080"/>
            <a:ext cx="10698480" cy="118872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12080"/>
            <a:ext cx="50800" cy="118872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21808"/>
            <a:ext cx="10378440" cy="100584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Anthropic demonstrated a working AI worm on devices just like the ones in your office. The absence of a central kill switch means you cannot patch it once it spreads. Isolation now is your only practical defence before the capability reaches adversaries.</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Understand the risk</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Google 'how to see devices on my network' and run a scan on your home wifi</a:t>
            </a:r>
            <a:br/>
            <a:br/>
            <a:r>
              <a:t>•  Count how many devices appear that are not a phone, laptop, or tablet</a:t>
            </a:r>
            <a:br/>
            <a:br/>
            <a:r>
              <a:t>•  Ask Claude: 'What is a VLAN and why would I use one for smart home devices'</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know what is on your network before attackers do</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Isolate and benchmark</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Create a separate VLAN or guest network and move all office IoT onto it</a:t>
            </a:r>
            <a:br/>
            <a:br/>
            <a:r>
              <a:t>•  Pull up your current AI API spend and run one equivalent task through DeepSeek's $0.75 search API</a:t>
            </a:r>
            <a:br/>
            <a:br/>
            <a:r>
              <a:t>•  Calculate your potential monthly saving if you switch even 20% of search tasks</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reduce IoT exposure and audit your API costs in one session</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Harden your agents</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Add structured logging to every agent action: who triggered it, what it did, what it changed</a:t>
            </a:r>
            <a:br/>
            <a:br/>
            <a:r>
              <a:t>•  For any irreversible action (payments, external posts, file deletes), add a human-approval step</a:t>
            </a:r>
            <a:br/>
            <a:br/>
            <a:r>
              <a:t>•  Scope each agent's permissions to the minimum required, not the maximum the API allows</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be able to explain any agent action within five minutes of it happening</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BUILDER SPOTLIGHTS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Members Who Shipped</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Two members who built something with AI since last edition. Practical. Specific. Replicable.</a:t>
            </a:r>
          </a:p>
        </p:txBody>
      </p:sp>
      <p:sp>
        <p:nvSpPr>
          <p:cNvPr id="6" name="Rounded Rectangle 5"/>
          <p:cNvSpPr/>
          <p:nvPr/>
        </p:nvSpPr>
        <p:spPr>
          <a:xfrm>
            <a:off x="822960" y="3200400"/>
            <a:ext cx="5303520" cy="3291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88720" y="356616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822192"/>
            <a:ext cx="1005840" cy="548640"/>
          </a:xfrm>
          <a:prstGeom prst="rect">
            <a:avLst/>
          </a:prstGeom>
          <a:noFill/>
        </p:spPr>
        <p:txBody>
          <a:bodyPr wrap="square">
            <a:spAutoFit/>
          </a:bodyPr>
          <a:lstStyle/>
          <a:p>
            <a:pPr algn="ctr">
              <a:defRPr sz="2200" b="1" i="0">
                <a:solidFill>
                  <a:srgbClr val="F5F5F5"/>
                </a:solidFill>
                <a:latin typeface="Arial"/>
              </a:defRPr>
            </a:pPr>
            <a:r>
              <a:t>B1</a:t>
            </a:r>
          </a:p>
        </p:txBody>
      </p:sp>
      <p:sp>
        <p:nvSpPr>
          <p:cNvPr id="9" name="TextBox 8"/>
          <p:cNvSpPr txBox="1"/>
          <p:nvPr/>
        </p:nvSpPr>
        <p:spPr>
          <a:xfrm>
            <a:off x="2423160" y="3703320"/>
            <a:ext cx="3474720" cy="411480"/>
          </a:xfrm>
          <a:prstGeom prst="rect">
            <a:avLst/>
          </a:prstGeom>
          <a:noFill/>
        </p:spPr>
        <p:txBody>
          <a:bodyPr wrap="square">
            <a:spAutoFit/>
          </a:bodyPr>
          <a:lstStyle/>
          <a:p>
            <a:pPr algn="l">
              <a:defRPr sz="1800" b="1" i="0">
                <a:solidFill>
                  <a:srgbClr val="F5F5F5"/>
                </a:solidFill>
                <a:latin typeface="Arial"/>
              </a:defRPr>
            </a:pPr>
            <a:r>
              <a:t>[Builder 1 name]</a:t>
            </a:r>
          </a:p>
        </p:txBody>
      </p:sp>
      <p:sp>
        <p:nvSpPr>
          <p:cNvPr id="10" name="TextBox 9"/>
          <p:cNvSpPr txBox="1"/>
          <p:nvPr/>
        </p:nvSpPr>
        <p:spPr>
          <a:xfrm>
            <a:off x="2423160" y="4160520"/>
            <a:ext cx="3474720" cy="274320"/>
          </a:xfrm>
          <a:prstGeom prst="rect">
            <a:avLst/>
          </a:prstGeom>
          <a:noFill/>
        </p:spPr>
        <p:txBody>
          <a:bodyPr wrap="square">
            <a:spAutoFit/>
          </a:bodyPr>
          <a:lstStyle/>
          <a:p>
            <a:pPr algn="l">
              <a:defRPr sz="1200" b="0" i="1">
                <a:solidFill>
                  <a:srgbClr val="888888"/>
                </a:solidFill>
                <a:latin typeface="Arial"/>
              </a:defRPr>
            </a:pPr>
            <a:r>
              <a:t>[Founder / Operator, Company]</a:t>
            </a:r>
          </a:p>
        </p:txBody>
      </p:sp>
      <p:sp>
        <p:nvSpPr>
          <p:cNvPr id="11" name="Rectangle 10"/>
          <p:cNvSpPr/>
          <p:nvPr/>
        </p:nvSpPr>
        <p:spPr>
          <a:xfrm>
            <a:off x="1188720" y="4617720"/>
            <a:ext cx="4572000" cy="127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800600"/>
            <a:ext cx="4572000" cy="1463040"/>
          </a:xfrm>
          <a:prstGeom prst="rect">
            <a:avLst/>
          </a:prstGeom>
          <a:noFill/>
        </p:spPr>
        <p:txBody>
          <a:bodyPr wrap="square">
            <a:spAutoFit/>
          </a:bodyPr>
          <a:lstStyle/>
          <a:p>
            <a:pPr algn="l">
              <a:defRPr sz="1300" b="0" i="0">
                <a:solidFill>
                  <a:srgbClr val="AAAAAA"/>
                </a:solidFill>
                <a:latin typeface="Arial"/>
              </a:defRPr>
            </a:pPr>
            <a:r>
              <a:t>[Describe what they built and the measurable outcome. One to two sentences.]</a:t>
            </a:r>
          </a:p>
        </p:txBody>
      </p:sp>
      <p:sp>
        <p:nvSpPr>
          <p:cNvPr id="13" name="Rounded Rectangle 12"/>
          <p:cNvSpPr/>
          <p:nvPr/>
        </p:nvSpPr>
        <p:spPr>
          <a:xfrm>
            <a:off x="6400800" y="3200400"/>
            <a:ext cx="5303520" cy="3291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0" y="356616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822192"/>
            <a:ext cx="1005840" cy="548640"/>
          </a:xfrm>
          <a:prstGeom prst="rect">
            <a:avLst/>
          </a:prstGeom>
          <a:noFill/>
        </p:spPr>
        <p:txBody>
          <a:bodyPr wrap="square">
            <a:spAutoFit/>
          </a:bodyPr>
          <a:lstStyle/>
          <a:p>
            <a:pPr algn="ctr">
              <a:defRPr sz="2200" b="1" i="0">
                <a:solidFill>
                  <a:srgbClr val="F5F5F5"/>
                </a:solidFill>
                <a:latin typeface="Arial"/>
              </a:defRPr>
            </a:pPr>
            <a:r>
              <a:t>B2</a:t>
            </a:r>
          </a:p>
        </p:txBody>
      </p:sp>
      <p:sp>
        <p:nvSpPr>
          <p:cNvPr id="16" name="TextBox 15"/>
          <p:cNvSpPr txBox="1"/>
          <p:nvPr/>
        </p:nvSpPr>
        <p:spPr>
          <a:xfrm>
            <a:off x="8001000" y="3703320"/>
            <a:ext cx="3474720" cy="411480"/>
          </a:xfrm>
          <a:prstGeom prst="rect">
            <a:avLst/>
          </a:prstGeom>
          <a:noFill/>
        </p:spPr>
        <p:txBody>
          <a:bodyPr wrap="square">
            <a:spAutoFit/>
          </a:bodyPr>
          <a:lstStyle/>
          <a:p>
            <a:pPr algn="l">
              <a:defRPr sz="1800" b="1" i="0">
                <a:solidFill>
                  <a:srgbClr val="F5F5F5"/>
                </a:solidFill>
                <a:latin typeface="Arial"/>
              </a:defRPr>
            </a:pPr>
            <a:r>
              <a:t>[Builder 2 name]</a:t>
            </a:r>
          </a:p>
        </p:txBody>
      </p:sp>
      <p:sp>
        <p:nvSpPr>
          <p:cNvPr id="17" name="TextBox 16"/>
          <p:cNvSpPr txBox="1"/>
          <p:nvPr/>
        </p:nvSpPr>
        <p:spPr>
          <a:xfrm>
            <a:off x="8001000" y="4160520"/>
            <a:ext cx="3474720" cy="274320"/>
          </a:xfrm>
          <a:prstGeom prst="rect">
            <a:avLst/>
          </a:prstGeom>
          <a:noFill/>
        </p:spPr>
        <p:txBody>
          <a:bodyPr wrap="square">
            <a:spAutoFit/>
          </a:bodyPr>
          <a:lstStyle/>
          <a:p>
            <a:pPr algn="l">
              <a:defRPr sz="1200" b="0" i="1">
                <a:solidFill>
                  <a:srgbClr val="888888"/>
                </a:solidFill>
                <a:latin typeface="Arial"/>
              </a:defRPr>
            </a:pPr>
            <a:r>
              <a:t>[Founder / Operator, Company]</a:t>
            </a:r>
          </a:p>
        </p:txBody>
      </p:sp>
      <p:sp>
        <p:nvSpPr>
          <p:cNvPr id="18" name="Rectangle 17"/>
          <p:cNvSpPr/>
          <p:nvPr/>
        </p:nvSpPr>
        <p:spPr>
          <a:xfrm>
            <a:off x="6766560" y="4617720"/>
            <a:ext cx="4572000" cy="127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4800600"/>
            <a:ext cx="4572000" cy="1463040"/>
          </a:xfrm>
          <a:prstGeom prst="rect">
            <a:avLst/>
          </a:prstGeom>
          <a:noFill/>
        </p:spPr>
        <p:txBody>
          <a:bodyPr wrap="square">
            <a:spAutoFit/>
          </a:bodyPr>
          <a:lstStyle/>
          <a:p>
            <a:pPr algn="l">
              <a:defRPr sz="1300" b="0" i="0">
                <a:solidFill>
                  <a:srgbClr val="AAAAAA"/>
                </a:solidFill>
                <a:latin typeface="Arial"/>
              </a:defRPr>
            </a:pPr>
            <a:r>
              <a:t>[Describe what they built and the measurable outcome. One to two sentences.]</a:t>
            </a:r>
          </a:p>
        </p:txBody>
      </p:sp>
      <p:sp>
        <p:nvSpPr>
          <p:cNvPr id="20" name="TextBox 19"/>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One sentence and a screenshot is enough.</a:t>
            </a:r>
          </a:p>
        </p:txBody>
      </p:sp>
      <p:sp>
        <p:nvSpPr>
          <p:cNvPr id="21" name="TextBox 20"/>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2" name="TextBox 21"/>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Three members shipped something since last edition.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1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Company  /  Operator, Industry]</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and the outcome. Specific. One to two sentences.]</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2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and the outcome. Specific. One to two sentences.]</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3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and the outcome. Specific. One to two sentences.]</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LET'S TALK</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400" b="1" i="0">
                <a:solidFill>
                  <a:srgbClr val="F5F5F5"/>
                </a:solidFill>
                <a:latin typeface="Arial"/>
              </a:defRPr>
            </a:pPr>
            <a:r>
              <a:t>Three Questions for the Room</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Pick one. Argue your case. We have ten minutes.</a:t>
            </a:r>
          </a:p>
        </p:txBody>
      </p:sp>
      <p:sp>
        <p:nvSpPr>
          <p:cNvPr id="6" name="Rounded Rectangle 5"/>
          <p:cNvSpPr/>
          <p:nvPr/>
        </p:nvSpPr>
        <p:spPr>
          <a:xfrm>
            <a:off x="731520" y="3017520"/>
            <a:ext cx="640080" cy="105156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10128"/>
            <a:ext cx="640080" cy="502920"/>
          </a:xfrm>
          <a:prstGeom prst="rect">
            <a:avLst/>
          </a:prstGeom>
          <a:noFill/>
        </p:spPr>
        <p:txBody>
          <a:bodyPr wrap="square">
            <a:spAutoFit/>
          </a:bodyPr>
          <a:lstStyle/>
          <a:p>
            <a:pPr algn="ctr">
              <a:defRPr sz="2000" b="1" i="0">
                <a:solidFill>
                  <a:srgbClr val="F5F5F5"/>
                </a:solidFill>
                <a:latin typeface="Arial"/>
              </a:defRPr>
            </a:pPr>
            <a:r>
              <a:t>01</a:t>
            </a:r>
          </a:p>
        </p:txBody>
      </p:sp>
      <p:sp>
        <p:nvSpPr>
          <p:cNvPr id="8" name="Rounded Rectangle 7"/>
          <p:cNvSpPr/>
          <p:nvPr/>
        </p:nvSpPr>
        <p:spPr>
          <a:xfrm>
            <a:off x="1463040" y="3017520"/>
            <a:ext cx="100584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3200400"/>
            <a:ext cx="9692640" cy="777240"/>
          </a:xfrm>
          <a:prstGeom prst="rect">
            <a:avLst/>
          </a:prstGeom>
          <a:noFill/>
        </p:spPr>
        <p:txBody>
          <a:bodyPr wrap="square">
            <a:spAutoFit/>
          </a:bodyPr>
          <a:lstStyle/>
          <a:p>
            <a:pPr algn="l">
              <a:defRPr sz="1600" b="0" i="0">
                <a:solidFill>
                  <a:srgbClr val="F5F5F5"/>
                </a:solidFill>
                <a:latin typeface="Arial"/>
              </a:defRPr>
            </a:pPr>
            <a:r>
              <a:t>Has anyone here switched from a closed API to an open-weight model? What was the trigger and what did you lose?</a:t>
            </a:r>
          </a:p>
        </p:txBody>
      </p:sp>
      <p:sp>
        <p:nvSpPr>
          <p:cNvPr id="10" name="Rounded Rectangle 9"/>
          <p:cNvSpPr/>
          <p:nvPr/>
        </p:nvSpPr>
        <p:spPr>
          <a:xfrm>
            <a:off x="731520" y="4251960"/>
            <a:ext cx="640080" cy="105156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544568"/>
            <a:ext cx="640080" cy="502920"/>
          </a:xfrm>
          <a:prstGeom prst="rect">
            <a:avLst/>
          </a:prstGeom>
          <a:noFill/>
        </p:spPr>
        <p:txBody>
          <a:bodyPr wrap="square">
            <a:spAutoFit/>
          </a:bodyPr>
          <a:lstStyle/>
          <a:p>
            <a:pPr algn="ctr">
              <a:defRPr sz="2000" b="1" i="0">
                <a:solidFill>
                  <a:srgbClr val="F5F5F5"/>
                </a:solidFill>
                <a:latin typeface="Arial"/>
              </a:defRPr>
            </a:pPr>
            <a:r>
              <a:t>02</a:t>
            </a:r>
          </a:p>
        </p:txBody>
      </p:sp>
      <p:sp>
        <p:nvSpPr>
          <p:cNvPr id="12" name="Rounded Rectangle 11"/>
          <p:cNvSpPr/>
          <p:nvPr/>
        </p:nvSpPr>
        <p:spPr>
          <a:xfrm>
            <a:off x="1463040" y="4251960"/>
            <a:ext cx="100584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4434840"/>
            <a:ext cx="9692640" cy="777240"/>
          </a:xfrm>
          <a:prstGeom prst="rect">
            <a:avLst/>
          </a:prstGeom>
          <a:noFill/>
        </p:spPr>
        <p:txBody>
          <a:bodyPr wrap="square">
            <a:spAutoFit/>
          </a:bodyPr>
          <a:lstStyle/>
          <a:p>
            <a:pPr algn="l">
              <a:defRPr sz="1600" b="0" i="0">
                <a:solidFill>
                  <a:srgbClr val="F5F5F5"/>
                </a:solidFill>
                <a:latin typeface="Arial"/>
              </a:defRPr>
            </a:pPr>
            <a:r>
              <a:t>If an AI agent you deployed today took an unauthorised action, would you know within 24 hours? What would tip you off?</a:t>
            </a:r>
          </a:p>
        </p:txBody>
      </p:sp>
      <p:sp>
        <p:nvSpPr>
          <p:cNvPr id="14" name="Rounded Rectangle 13"/>
          <p:cNvSpPr/>
          <p:nvPr/>
        </p:nvSpPr>
        <p:spPr>
          <a:xfrm>
            <a:off x="731520" y="5486400"/>
            <a:ext cx="640080" cy="105156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79008"/>
            <a:ext cx="640080" cy="502920"/>
          </a:xfrm>
          <a:prstGeom prst="rect">
            <a:avLst/>
          </a:prstGeom>
          <a:noFill/>
        </p:spPr>
        <p:txBody>
          <a:bodyPr wrap="square">
            <a:spAutoFit/>
          </a:bodyPr>
          <a:lstStyle/>
          <a:p>
            <a:pPr algn="ctr">
              <a:defRPr sz="2000" b="1" i="0">
                <a:solidFill>
                  <a:srgbClr val="F5F5F5"/>
                </a:solidFill>
                <a:latin typeface="Arial"/>
              </a:defRPr>
            </a:pPr>
            <a:r>
              <a:t>03</a:t>
            </a:r>
          </a:p>
        </p:txBody>
      </p:sp>
      <p:sp>
        <p:nvSpPr>
          <p:cNvPr id="16" name="Rounded Rectangle 15"/>
          <p:cNvSpPr/>
          <p:nvPr/>
        </p:nvSpPr>
        <p:spPr>
          <a:xfrm>
            <a:off x="1463040" y="5486400"/>
            <a:ext cx="100584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45920" y="5669280"/>
            <a:ext cx="9692640" cy="777240"/>
          </a:xfrm>
          <a:prstGeom prst="rect">
            <a:avLst/>
          </a:prstGeom>
          <a:noFill/>
        </p:spPr>
        <p:txBody>
          <a:bodyPr wrap="square">
            <a:spAutoFit/>
          </a:bodyPr>
          <a:lstStyle/>
          <a:p>
            <a:pPr algn="l">
              <a:defRPr sz="1600" b="0" i="0">
                <a:solidFill>
                  <a:srgbClr val="F5F5F5"/>
                </a:solidFill>
                <a:latin typeface="Arial"/>
              </a:defRPr>
            </a:pPr>
            <a:r>
              <a:t>With 1,500 Singapore government engineers on Claude Code, which industry in Southeast Asia adopts AI at government scale next?</a:t>
            </a:r>
          </a:p>
        </p:txBody>
      </p:sp>
      <p:sp>
        <p:nvSpPr>
          <p:cNvPr id="18" name="TextBox 17"/>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9" name="TextBox 18"/>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76200" cy="6858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515600" cy="1097280"/>
          </a:xfrm>
          <a:prstGeom prst="rect">
            <a:avLst/>
          </a:prstGeom>
          <a:noFill/>
        </p:spPr>
        <p:txBody>
          <a:bodyPr wrap="square">
            <a:spAutoFit/>
          </a:bodyPr>
          <a:lstStyle/>
          <a:p>
            <a:pPr algn="l">
              <a:defRPr sz="6000" b="1" i="0">
                <a:solidFill>
                  <a:srgbClr val="F5F5F5"/>
                </a:solidFill>
                <a:latin typeface="Arial"/>
              </a:defRPr>
            </a:pPr>
            <a:r>
              <a:t>See You at Edition 29</a:t>
            </a:r>
          </a:p>
        </p:txBody>
      </p:sp>
      <p:sp>
        <p:nvSpPr>
          <p:cNvPr id="4" name="Rectangle 3"/>
          <p:cNvSpPr/>
          <p:nvPr/>
        </p:nvSpPr>
        <p:spPr>
          <a:xfrm>
            <a:off x="731520" y="2788920"/>
            <a:ext cx="10515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017520"/>
            <a:ext cx="10515600" cy="548640"/>
          </a:xfrm>
          <a:prstGeom prst="rect">
            <a:avLst/>
          </a:prstGeom>
          <a:noFill/>
        </p:spPr>
        <p:txBody>
          <a:bodyPr wrap="square">
            <a:spAutoFit/>
          </a:bodyPr>
          <a:lstStyle/>
          <a:p>
            <a:pPr algn="l">
              <a:defRPr sz="2800" b="1" i="0">
                <a:solidFill>
                  <a:srgbClr val="C81E1E"/>
                </a:solidFill>
                <a:latin typeface="Arial"/>
              </a:defRPr>
            </a:pPr>
            <a:r>
              <a:t>Next Wednesday  ·  Edition 29  ·  28 October 2026</a:t>
            </a:r>
          </a:p>
        </p:txBody>
      </p:sp>
      <p:sp>
        <p:nvSpPr>
          <p:cNvPr id="6" name="TextBox 5"/>
          <p:cNvSpPr txBox="1"/>
          <p:nvPr/>
        </p:nvSpPr>
        <p:spPr>
          <a:xfrm>
            <a:off x="731520" y="3703320"/>
            <a:ext cx="10515600" cy="457200"/>
          </a:xfrm>
          <a:prstGeom prst="rect">
            <a:avLst/>
          </a:prstGeom>
          <a:noFill/>
        </p:spPr>
        <p:txBody>
          <a:bodyPr wrap="square">
            <a:spAutoFit/>
          </a:bodyPr>
          <a:lstStyle/>
          <a:p>
            <a:pPr algn="l">
              <a:defRPr sz="2200" b="0" i="0">
                <a:solidFill>
                  <a:srgbClr val="AAAAAA"/>
                </a:solidFill>
                <a:latin typeface="Arial"/>
              </a:defRPr>
            </a:pPr>
            <a:r>
              <a:t>Seoul Soul Project, Canggu  ·  6:30pm WITA</a:t>
            </a:r>
          </a:p>
        </p:txBody>
      </p:sp>
      <p:sp>
        <p:nvSpPr>
          <p:cNvPr id="7" name="TextBox 6"/>
          <p:cNvSpPr txBox="1"/>
          <p:nvPr/>
        </p:nvSpPr>
        <p:spPr>
          <a:xfrm>
            <a:off x="731520" y="4846320"/>
            <a:ext cx="10515600" cy="457200"/>
          </a:xfrm>
          <a:prstGeom prst="rect">
            <a:avLst/>
          </a:prstGeom>
          <a:noFill/>
        </p:spPr>
        <p:txBody>
          <a:bodyPr wrap="square">
            <a:spAutoFit/>
          </a:bodyPr>
          <a:lstStyle/>
          <a:p>
            <a:pPr algn="l">
              <a:defRPr sz="1600" b="0" i="1">
                <a:solidFill>
                  <a:srgbClr val="888888"/>
                </a:solidFill>
                <a:latin typeface="Arial"/>
              </a:defRPr>
            </a:pPr>
            <a:r>
              <a:t>This week's action: audit your IoT devices. Report back next Wednesday.</a:t>
            </a:r>
          </a:p>
        </p:txBody>
      </p:sp>
      <p:sp>
        <p:nvSpPr>
          <p:cNvPr id="8" name="TextBox 7"/>
          <p:cNvSpPr txBox="1"/>
          <p:nvPr/>
        </p:nvSpPr>
        <p:spPr>
          <a:xfrm>
            <a:off x="731520" y="5943600"/>
            <a:ext cx="10515600" cy="365760"/>
          </a:xfrm>
          <a:prstGeom prst="rect">
            <a:avLst/>
          </a:prstGeom>
          <a:noFill/>
        </p:spPr>
        <p:txBody>
          <a:bodyPr wrap="square">
            <a:spAutoFit/>
          </a:bodyPr>
          <a:lstStyle/>
          <a:p>
            <a:pPr algn="l">
              <a:defRPr sz="1300" b="0" i="1">
                <a:solidFill>
                  <a:srgbClr val="333333"/>
                </a:solidFill>
                <a:latin typeface="Arial"/>
              </a:defRPr>
            </a:pPr>
            <a:r>
              <a:t>Bali Start-ups and Tech Community</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ABOUT BSTC</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000" b="1" i="0">
                <a:solidFill>
                  <a:srgbClr val="F5F5F5"/>
                </a:solidFill>
                <a:latin typeface="Arial"/>
              </a:defRPr>
            </a:pPr>
            <a:r>
              <a:t>Bali Start-ups and Tech Community</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7315200" cy="731520"/>
          </a:xfrm>
          <a:prstGeom prst="rect">
            <a:avLst/>
          </a:prstGeom>
          <a:noFill/>
        </p:spPr>
        <p:txBody>
          <a:bodyPr wrap="square">
            <a:spAutoFit/>
          </a:bodyPr>
          <a:lstStyle/>
          <a:p>
            <a:pPr algn="l">
              <a:defRPr sz="1600" b="0" i="0">
                <a:solidFill>
                  <a:srgbClr val="AAAAAA"/>
                </a:solidFill>
                <a:latin typeface="Arial"/>
              </a:defRPr>
            </a:pPr>
            <a:r>
              <a:t>Founders, operators, and engineers building with AI in Bali and beyond. Practical. Builder-focused. No hype.</a:t>
            </a:r>
          </a:p>
        </p:txBody>
      </p:sp>
      <p:sp>
        <p:nvSpPr>
          <p:cNvPr id="6" name="TextBox 5"/>
          <p:cNvSpPr txBox="1"/>
          <p:nvPr/>
        </p:nvSpPr>
        <p:spPr>
          <a:xfrm>
            <a:off x="731520" y="3200400"/>
            <a:ext cx="2743200" cy="685800"/>
          </a:xfrm>
          <a:prstGeom prst="rect">
            <a:avLst/>
          </a:prstGeom>
          <a:noFill/>
        </p:spPr>
        <p:txBody>
          <a:bodyPr wrap="square">
            <a:spAutoFit/>
          </a:bodyPr>
          <a:lstStyle/>
          <a:p>
            <a:pPr algn="l">
              <a:defRPr sz="1600" b="1" i="0">
                <a:solidFill>
                  <a:srgbClr val="C81E1E"/>
                </a:solidFill>
                <a:latin typeface="Arial"/>
              </a:defRPr>
            </a:pPr>
            <a:r>
              <a:t>▶  How I AI</a:t>
            </a:r>
          </a:p>
        </p:txBody>
      </p:sp>
      <p:sp>
        <p:nvSpPr>
          <p:cNvPr id="7" name="TextBox 6"/>
          <p:cNvSpPr txBox="1"/>
          <p:nvPr/>
        </p:nvSpPr>
        <p:spPr>
          <a:xfrm>
            <a:off x="3657600" y="3200400"/>
            <a:ext cx="7040880" cy="685800"/>
          </a:xfrm>
          <a:prstGeom prst="rect">
            <a:avLst/>
          </a:prstGeom>
          <a:noFill/>
        </p:spPr>
        <p:txBody>
          <a:bodyPr wrap="square">
            <a:spAutoFit/>
          </a:bodyPr>
          <a:lstStyle/>
          <a:p>
            <a:pPr algn="l">
              <a:defRPr sz="1500" b="0" i="0">
                <a:solidFill>
                  <a:srgbClr val="F5F5F5"/>
                </a:solidFill>
                <a:latin typeface="Arial"/>
              </a:defRPr>
            </a:pPr>
            <a:r>
              <a:t>Every Wednesday, 6:30pm WITA, Seoul Soul Project, Canggu</a:t>
            </a:r>
          </a:p>
        </p:txBody>
      </p:sp>
      <p:sp>
        <p:nvSpPr>
          <p:cNvPr id="8" name="Rectangle 7"/>
          <p:cNvSpPr/>
          <p:nvPr/>
        </p:nvSpPr>
        <p:spPr>
          <a:xfrm>
            <a:off x="731520" y="3867912"/>
            <a:ext cx="10881360" cy="127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86200"/>
            <a:ext cx="2743200" cy="685800"/>
          </a:xfrm>
          <a:prstGeom prst="rect">
            <a:avLst/>
          </a:prstGeom>
          <a:noFill/>
        </p:spPr>
        <p:txBody>
          <a:bodyPr wrap="square">
            <a:spAutoFit/>
          </a:bodyPr>
          <a:lstStyle/>
          <a:p>
            <a:pPr algn="l">
              <a:defRPr sz="1600" b="1" i="0">
                <a:solidFill>
                  <a:srgbClr val="C81E1E"/>
                </a:solidFill>
                <a:latin typeface="Arial"/>
              </a:defRPr>
            </a:pPr>
            <a:r>
              <a:t>▶  Community</a:t>
            </a:r>
          </a:p>
        </p:txBody>
      </p:sp>
      <p:sp>
        <p:nvSpPr>
          <p:cNvPr id="10" name="TextBox 9"/>
          <p:cNvSpPr txBox="1"/>
          <p:nvPr/>
        </p:nvSpPr>
        <p:spPr>
          <a:xfrm>
            <a:off x="3657600" y="3886200"/>
            <a:ext cx="7040880" cy="685800"/>
          </a:xfrm>
          <a:prstGeom prst="rect">
            <a:avLst/>
          </a:prstGeom>
          <a:noFill/>
        </p:spPr>
        <p:txBody>
          <a:bodyPr wrap="square">
            <a:spAutoFit/>
          </a:bodyPr>
          <a:lstStyle/>
          <a:p>
            <a:pPr algn="l">
              <a:defRPr sz="1500" b="0" i="0">
                <a:solidFill>
                  <a:srgbClr val="F5F5F5"/>
                </a:solidFill>
                <a:latin typeface="Arial"/>
              </a:defRPr>
            </a:pPr>
            <a:r>
              <a:t>Join our Slack and stay connected between sessions</a:t>
            </a:r>
          </a:p>
        </p:txBody>
      </p:sp>
      <p:sp>
        <p:nvSpPr>
          <p:cNvPr id="11" name="Rectangle 10"/>
          <p:cNvSpPr/>
          <p:nvPr/>
        </p:nvSpPr>
        <p:spPr>
          <a:xfrm>
            <a:off x="731520" y="4553712"/>
            <a:ext cx="10881360" cy="127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572000"/>
            <a:ext cx="2743200" cy="685800"/>
          </a:xfrm>
          <a:prstGeom prst="rect">
            <a:avLst/>
          </a:prstGeom>
          <a:noFill/>
        </p:spPr>
        <p:txBody>
          <a:bodyPr wrap="square">
            <a:spAutoFit/>
          </a:bodyPr>
          <a:lstStyle/>
          <a:p>
            <a:pPr algn="l">
              <a:defRPr sz="1600" b="1" i="0">
                <a:solidFill>
                  <a:srgbClr val="C81E1E"/>
                </a:solidFill>
                <a:latin typeface="Arial"/>
              </a:defRPr>
            </a:pPr>
            <a:r>
              <a:t>▶  Share</a:t>
            </a:r>
          </a:p>
        </p:txBody>
      </p:sp>
      <p:sp>
        <p:nvSpPr>
          <p:cNvPr id="13" name="TextBox 12"/>
          <p:cNvSpPr txBox="1"/>
          <p:nvPr/>
        </p:nvSpPr>
        <p:spPr>
          <a:xfrm>
            <a:off x="3657600" y="4572000"/>
            <a:ext cx="7040880" cy="685800"/>
          </a:xfrm>
          <a:prstGeom prst="rect">
            <a:avLst/>
          </a:prstGeom>
          <a:noFill/>
        </p:spPr>
        <p:txBody>
          <a:bodyPr wrap="square">
            <a:spAutoFit/>
          </a:bodyPr>
          <a:lstStyle/>
          <a:p>
            <a:pPr algn="l">
              <a:defRPr sz="1500" b="0" i="0">
                <a:solidFill>
                  <a:srgbClr val="F5F5F5"/>
                </a:solidFill>
                <a:latin typeface="Arial"/>
              </a:defRPr>
            </a:pPr>
            <a:r>
              <a:t>Bring a signal or a win to the next edition</a:t>
            </a:r>
          </a:p>
        </p:txBody>
      </p:sp>
      <p:sp>
        <p:nvSpPr>
          <p:cNvPr id="14" name="Rectangle 13"/>
          <p:cNvSpPr/>
          <p:nvPr/>
        </p:nvSpPr>
        <p:spPr>
          <a:xfrm>
            <a:off x="731520" y="5239512"/>
            <a:ext cx="10881360" cy="127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57800"/>
            <a:ext cx="2743200" cy="685800"/>
          </a:xfrm>
          <a:prstGeom prst="rect">
            <a:avLst/>
          </a:prstGeom>
          <a:noFill/>
        </p:spPr>
        <p:txBody>
          <a:bodyPr wrap="square">
            <a:spAutoFit/>
          </a:bodyPr>
          <a:lstStyle/>
          <a:p>
            <a:pPr algn="l">
              <a:defRPr sz="1600" b="1" i="0">
                <a:solidFill>
                  <a:srgbClr val="C81E1E"/>
                </a:solidFill>
                <a:latin typeface="Arial"/>
              </a:defRPr>
            </a:pPr>
            <a:r>
              <a:t>▶  Build in public</a:t>
            </a:r>
          </a:p>
        </p:txBody>
      </p:sp>
      <p:sp>
        <p:nvSpPr>
          <p:cNvPr id="16" name="TextBox 15"/>
          <p:cNvSpPr txBox="1"/>
          <p:nvPr/>
        </p:nvSpPr>
        <p:spPr>
          <a:xfrm>
            <a:off x="3657600" y="5257800"/>
            <a:ext cx="7040880" cy="685800"/>
          </a:xfrm>
          <a:prstGeom prst="rect">
            <a:avLst/>
          </a:prstGeom>
          <a:noFill/>
        </p:spPr>
        <p:txBody>
          <a:bodyPr wrap="square">
            <a:spAutoFit/>
          </a:bodyPr>
          <a:lstStyle/>
          <a:p>
            <a:pPr algn="l">
              <a:defRPr sz="1500" b="0" i="0">
                <a:solidFill>
                  <a:srgbClr val="F5F5F5"/>
                </a:solidFill>
                <a:latin typeface="Arial"/>
              </a:defRPr>
            </a:pPr>
            <a:r>
              <a:t>Tell us what you shipped. One line. One screenshot.</a:t>
            </a:r>
          </a:p>
        </p:txBody>
      </p:sp>
      <p:sp>
        <p:nvSpPr>
          <p:cNvPr id="17" name="Rectangle 16"/>
          <p:cNvSpPr/>
          <p:nvPr/>
        </p:nvSpPr>
        <p:spPr>
          <a:xfrm>
            <a:off x="731520" y="5925312"/>
            <a:ext cx="10881360" cy="127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217920"/>
            <a:ext cx="10881360" cy="320040"/>
          </a:xfrm>
          <a:prstGeom prst="rect">
            <a:avLst/>
          </a:prstGeom>
          <a:noFill/>
        </p:spPr>
        <p:txBody>
          <a:bodyPr wrap="square">
            <a:spAutoFit/>
          </a:bodyPr>
          <a:lstStyle/>
          <a:p>
            <a:pPr algn="ctr">
              <a:defRPr sz="1600" b="0" i="1">
                <a:solidFill>
                  <a:srgbClr val="888888"/>
                </a:solidFill>
                <a:latin typeface="Arial"/>
              </a:defRPr>
            </a:pPr>
            <a:r>
              <a:t>See you next Wednesday.</a:t>
            </a:r>
          </a:p>
        </p:txBody>
      </p:sp>
      <p:sp>
        <p:nvSpPr>
          <p:cNvPr id="19" name="TextBox 1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0" name="TextBox 1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