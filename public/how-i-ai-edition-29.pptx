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828800"/>
            <a:ext cx="9144000" cy="731520"/>
          </a:xfrm>
          <a:prstGeom prst="rect">
            <a:avLst/>
          </a:prstGeom>
          <a:noFill/>
        </p:spPr>
        <p:txBody>
          <a:bodyPr wrap="square">
            <a:spAutoFit/>
          </a:bodyPr>
          <a:lstStyle/>
          <a:p>
            <a:pPr algn="l">
              <a:defRPr sz="5600" b="1" i="0">
                <a:solidFill>
                  <a:srgbClr val="C81E1E"/>
                </a:solidFill>
                <a:latin typeface="Arial"/>
              </a:defRPr>
            </a:pPr>
            <a:r>
              <a:t>HOW I AI</a:t>
            </a:r>
          </a:p>
        </p:txBody>
      </p:sp>
      <p:sp>
        <p:nvSpPr>
          <p:cNvPr id="4" name="TextBox 3"/>
          <p:cNvSpPr txBox="1"/>
          <p:nvPr/>
        </p:nvSpPr>
        <p:spPr>
          <a:xfrm>
            <a:off x="1097280" y="2651760"/>
            <a:ext cx="9144000" cy="640080"/>
          </a:xfrm>
          <a:prstGeom prst="rect">
            <a:avLst/>
          </a:prstGeom>
          <a:noFill/>
        </p:spPr>
        <p:txBody>
          <a:bodyPr wrap="square">
            <a:spAutoFit/>
          </a:bodyPr>
          <a:lstStyle/>
          <a:p>
            <a:pPr algn="l">
              <a:defRPr sz="3800" b="1" i="0">
                <a:solidFill>
                  <a:srgbClr val="F5F5F5"/>
                </a:solidFill>
                <a:latin typeface="Arial"/>
              </a:defRPr>
            </a:pPr>
            <a:r>
              <a:t>Edition 29</a:t>
            </a:r>
          </a:p>
        </p:txBody>
      </p:sp>
      <p:sp>
        <p:nvSpPr>
          <p:cNvPr id="5" name="Rectangle 4"/>
          <p:cNvSpPr/>
          <p:nvPr/>
        </p:nvSpPr>
        <p:spPr>
          <a:xfrm>
            <a:off x="1097280" y="342900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703320"/>
            <a:ext cx="9144000" cy="457200"/>
          </a:xfrm>
          <a:prstGeom prst="rect">
            <a:avLst/>
          </a:prstGeom>
          <a:noFill/>
        </p:spPr>
        <p:txBody>
          <a:bodyPr wrap="square">
            <a:spAutoFit/>
          </a:bodyPr>
          <a:lstStyle/>
          <a:p>
            <a:pPr algn="l">
              <a:defRPr sz="2000" b="0" i="0">
                <a:solidFill>
                  <a:srgbClr val="AAAAAA"/>
                </a:solidFill>
                <a:latin typeface="Arial"/>
              </a:defRPr>
            </a:pPr>
            <a:r>
              <a:t>Seoul Soul Project, Canggu  ·  28 October 2026</a:t>
            </a:r>
          </a:p>
        </p:txBody>
      </p:sp>
      <p:sp>
        <p:nvSpPr>
          <p:cNvPr id="7" name="TextBox 6"/>
          <p:cNvSpPr txBox="1"/>
          <p:nvPr/>
        </p:nvSpPr>
        <p:spPr>
          <a:xfrm>
            <a:off x="1097280" y="4297680"/>
            <a:ext cx="9144000" cy="365760"/>
          </a:xfrm>
          <a:prstGeom prst="rect">
            <a:avLst/>
          </a:prstGeom>
          <a:noFill/>
        </p:spPr>
        <p:txBody>
          <a:bodyPr wrap="square">
            <a:spAutoFit/>
          </a:bodyPr>
          <a:lstStyle/>
          <a:p>
            <a:pPr algn="l">
              <a:defRPr sz="1500" b="0" i="0">
                <a:solidFill>
                  <a:srgbClr val="888888"/>
                </a:solidFill>
                <a:latin typeface="Arial"/>
              </a:defRPr>
            </a:pPr>
            <a:r>
              <a:t>6:30pm WITA  ·  Bali Start-ups and Tech Community</a:t>
            </a:r>
          </a:p>
        </p:txBody>
      </p:sp>
      <p:sp>
        <p:nvSpPr>
          <p:cNvPr id="8" name="Rectangle 7"/>
          <p:cNvSpPr/>
          <p:nvPr/>
        </p:nvSpPr>
        <p:spPr>
          <a:xfrm>
            <a:off x="0" y="6766560"/>
            <a:ext cx="12191695" cy="508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0" name="TextBox 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TONIGHT</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800" b="1" i="0">
                <a:solidFill>
                  <a:srgbClr val="F5F5F5"/>
                </a:solidFill>
                <a:latin typeface="Arial"/>
              </a:defRPr>
            </a:pPr>
            <a:r>
              <a:t>How This Works</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058400" cy="457200"/>
          </a:xfrm>
          <a:prstGeom prst="rect">
            <a:avLst/>
          </a:prstGeom>
          <a:noFill/>
        </p:spPr>
        <p:txBody>
          <a:bodyPr wrap="square">
            <a:spAutoFit/>
          </a:bodyPr>
          <a:lstStyle/>
          <a:p>
            <a:pPr algn="l">
              <a:defRPr sz="1600" b="0" i="0">
                <a:solidFill>
                  <a:srgbClr val="AAAAAA"/>
                </a:solidFill>
                <a:latin typeface="Arial"/>
              </a:defRPr>
            </a:pPr>
            <a:r>
              <a:t>Forty-five minutes. Five signals. One action you can use before next Wednesday.</a:t>
            </a:r>
          </a:p>
        </p:txBody>
      </p:sp>
      <p:sp>
        <p:nvSpPr>
          <p:cNvPr id="6" name="TextBox 5"/>
          <p:cNvSpPr txBox="1"/>
          <p:nvPr/>
        </p:nvSpPr>
        <p:spPr>
          <a:xfrm>
            <a:off x="731520" y="2926080"/>
            <a:ext cx="640080" cy="658368"/>
          </a:xfrm>
          <a:prstGeom prst="rect">
            <a:avLst/>
          </a:prstGeom>
          <a:noFill/>
        </p:spPr>
        <p:txBody>
          <a:bodyPr wrap="square">
            <a:spAutoFit/>
          </a:bodyPr>
          <a:lstStyle/>
          <a:p>
            <a:pPr algn="l">
              <a:defRPr sz="2200" b="1" i="0">
                <a:solidFill>
                  <a:srgbClr val="C81E1E"/>
                </a:solidFill>
                <a:latin typeface="Arial"/>
              </a:defRPr>
            </a:pPr>
            <a:r>
              <a:t>01</a:t>
            </a:r>
          </a:p>
        </p:txBody>
      </p:sp>
      <p:sp>
        <p:nvSpPr>
          <p:cNvPr id="7" name="TextBox 6"/>
          <p:cNvSpPr txBox="1"/>
          <p:nvPr/>
        </p:nvSpPr>
        <p:spPr>
          <a:xfrm>
            <a:off x="1463040" y="2926080"/>
            <a:ext cx="2926080" cy="658368"/>
          </a:xfrm>
          <a:prstGeom prst="rect">
            <a:avLst/>
          </a:prstGeom>
          <a:noFill/>
        </p:spPr>
        <p:txBody>
          <a:bodyPr wrap="square">
            <a:spAutoFit/>
          </a:bodyPr>
          <a:lstStyle/>
          <a:p>
            <a:pPr algn="l">
              <a:defRPr sz="1800" b="1" i="0">
                <a:solidFill>
                  <a:srgbClr val="F5F5F5"/>
                </a:solidFill>
                <a:latin typeface="Arial"/>
              </a:defRPr>
            </a:pPr>
            <a:r>
              <a:t>Jargon Buster</a:t>
            </a:r>
          </a:p>
        </p:txBody>
      </p:sp>
      <p:sp>
        <p:nvSpPr>
          <p:cNvPr id="8" name="TextBox 7"/>
          <p:cNvSpPr txBox="1"/>
          <p:nvPr/>
        </p:nvSpPr>
        <p:spPr>
          <a:xfrm>
            <a:off x="4663440" y="2926080"/>
            <a:ext cx="7040880" cy="658368"/>
          </a:xfrm>
          <a:prstGeom prst="rect">
            <a:avLst/>
          </a:prstGeom>
          <a:noFill/>
        </p:spPr>
        <p:txBody>
          <a:bodyPr wrap="square">
            <a:spAutoFit/>
          </a:bodyPr>
          <a:lstStyle/>
          <a:p>
            <a:pPr algn="l">
              <a:defRPr sz="1400" b="0" i="0">
                <a:solidFill>
                  <a:srgbClr val="AAAAAA"/>
                </a:solidFill>
                <a:latin typeface="Arial"/>
              </a:defRPr>
            </a:pPr>
            <a:r>
              <a:t>Five terms from tonight's signals. Lock these in and the rest lands harder.</a:t>
            </a:r>
          </a:p>
        </p:txBody>
      </p:sp>
      <p:sp>
        <p:nvSpPr>
          <p:cNvPr id="9" name="Rectangle 8"/>
          <p:cNvSpPr/>
          <p:nvPr/>
        </p:nvSpPr>
        <p:spPr>
          <a:xfrm>
            <a:off x="731520" y="3547872"/>
            <a:ext cx="10881360" cy="127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584448"/>
            <a:ext cx="640080" cy="658368"/>
          </a:xfrm>
          <a:prstGeom prst="rect">
            <a:avLst/>
          </a:prstGeom>
          <a:noFill/>
        </p:spPr>
        <p:txBody>
          <a:bodyPr wrap="square">
            <a:spAutoFit/>
          </a:bodyPr>
          <a:lstStyle/>
          <a:p>
            <a:pPr algn="l">
              <a:defRPr sz="2200" b="1" i="0">
                <a:solidFill>
                  <a:srgbClr val="C81E1E"/>
                </a:solidFill>
                <a:latin typeface="Arial"/>
              </a:defRPr>
            </a:pPr>
            <a:r>
              <a:t>02</a:t>
            </a:r>
          </a:p>
        </p:txBody>
      </p:sp>
      <p:sp>
        <p:nvSpPr>
          <p:cNvPr id="11" name="TextBox 10"/>
          <p:cNvSpPr txBox="1"/>
          <p:nvPr/>
        </p:nvSpPr>
        <p:spPr>
          <a:xfrm>
            <a:off x="1463040" y="3584448"/>
            <a:ext cx="2926080" cy="658368"/>
          </a:xfrm>
          <a:prstGeom prst="rect">
            <a:avLst/>
          </a:prstGeom>
          <a:noFill/>
        </p:spPr>
        <p:txBody>
          <a:bodyPr wrap="square">
            <a:spAutoFit/>
          </a:bodyPr>
          <a:lstStyle/>
          <a:p>
            <a:pPr algn="l">
              <a:defRPr sz="1800" b="1" i="0">
                <a:solidFill>
                  <a:srgbClr val="F5F5F5"/>
                </a:solidFill>
                <a:latin typeface="Arial"/>
              </a:defRPr>
            </a:pPr>
            <a:r>
              <a:t>Intel Drop</a:t>
            </a:r>
          </a:p>
        </p:txBody>
      </p:sp>
      <p:sp>
        <p:nvSpPr>
          <p:cNvPr id="12" name="TextBox 11"/>
          <p:cNvSpPr txBox="1"/>
          <p:nvPr/>
        </p:nvSpPr>
        <p:spPr>
          <a:xfrm>
            <a:off x="4663440" y="3584448"/>
            <a:ext cx="7040880" cy="658368"/>
          </a:xfrm>
          <a:prstGeom prst="rect">
            <a:avLst/>
          </a:prstGeom>
          <a:noFill/>
        </p:spPr>
        <p:txBody>
          <a:bodyPr wrap="square">
            <a:spAutoFit/>
          </a:bodyPr>
          <a:lstStyle/>
          <a:p>
            <a:pPr algn="l">
              <a:defRPr sz="1400" b="0" i="0">
                <a:solidFill>
                  <a:srgbClr val="AAAAAA"/>
                </a:solidFill>
                <a:latin typeface="Arial"/>
              </a:defRPr>
            </a:pPr>
            <a:r>
              <a:t>Five AI developments from the last seven days, curated for builders and operators.</a:t>
            </a:r>
          </a:p>
        </p:txBody>
      </p:sp>
      <p:sp>
        <p:nvSpPr>
          <p:cNvPr id="13" name="Rectangle 12"/>
          <p:cNvSpPr/>
          <p:nvPr/>
        </p:nvSpPr>
        <p:spPr>
          <a:xfrm>
            <a:off x="731520" y="4206240"/>
            <a:ext cx="10881360" cy="127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42816"/>
            <a:ext cx="640080" cy="658368"/>
          </a:xfrm>
          <a:prstGeom prst="rect">
            <a:avLst/>
          </a:prstGeom>
          <a:noFill/>
        </p:spPr>
        <p:txBody>
          <a:bodyPr wrap="square">
            <a:spAutoFit/>
          </a:bodyPr>
          <a:lstStyle/>
          <a:p>
            <a:pPr algn="l">
              <a:defRPr sz="2200" b="1" i="0">
                <a:solidFill>
                  <a:srgbClr val="C81E1E"/>
                </a:solidFill>
                <a:latin typeface="Arial"/>
              </a:defRPr>
            </a:pPr>
            <a:r>
              <a:t>03</a:t>
            </a:r>
          </a:p>
        </p:txBody>
      </p:sp>
      <p:sp>
        <p:nvSpPr>
          <p:cNvPr id="15" name="TextBox 14"/>
          <p:cNvSpPr txBox="1"/>
          <p:nvPr/>
        </p:nvSpPr>
        <p:spPr>
          <a:xfrm>
            <a:off x="1463040" y="4242816"/>
            <a:ext cx="2926080" cy="658368"/>
          </a:xfrm>
          <a:prstGeom prst="rect">
            <a:avLst/>
          </a:prstGeom>
          <a:noFill/>
        </p:spPr>
        <p:txBody>
          <a:bodyPr wrap="square">
            <a:spAutoFit/>
          </a:bodyPr>
          <a:lstStyle/>
          <a:p>
            <a:pPr algn="l">
              <a:defRPr sz="1800" b="1" i="0">
                <a:solidFill>
                  <a:srgbClr val="F5F5F5"/>
                </a:solidFill>
                <a:latin typeface="Arial"/>
              </a:defRPr>
            </a:pPr>
            <a:r>
              <a:t>Action of the Week</a:t>
            </a:r>
          </a:p>
        </p:txBody>
      </p:sp>
      <p:sp>
        <p:nvSpPr>
          <p:cNvPr id="16" name="TextBox 15"/>
          <p:cNvSpPr txBox="1"/>
          <p:nvPr/>
        </p:nvSpPr>
        <p:spPr>
          <a:xfrm>
            <a:off x="4663440" y="4242816"/>
            <a:ext cx="7040880" cy="658368"/>
          </a:xfrm>
          <a:prstGeom prst="rect">
            <a:avLst/>
          </a:prstGeom>
          <a:noFill/>
        </p:spPr>
        <p:txBody>
          <a:bodyPr wrap="square">
            <a:spAutoFit/>
          </a:bodyPr>
          <a:lstStyle/>
          <a:p>
            <a:pPr algn="l">
              <a:defRPr sz="1400" b="0" i="0">
                <a:solidFill>
                  <a:srgbClr val="AAAAAA"/>
                </a:solidFill>
                <a:latin typeface="Arial"/>
              </a:defRPr>
            </a:pPr>
            <a:r>
              <a:t>One concrete thing to do this week, with steps and a time estimate.</a:t>
            </a:r>
          </a:p>
        </p:txBody>
      </p:sp>
      <p:sp>
        <p:nvSpPr>
          <p:cNvPr id="17" name="Rectangle 16"/>
          <p:cNvSpPr/>
          <p:nvPr/>
        </p:nvSpPr>
        <p:spPr>
          <a:xfrm>
            <a:off x="731520" y="4864608"/>
            <a:ext cx="10881360" cy="127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901184"/>
            <a:ext cx="640080" cy="658368"/>
          </a:xfrm>
          <a:prstGeom prst="rect">
            <a:avLst/>
          </a:prstGeom>
          <a:noFill/>
        </p:spPr>
        <p:txBody>
          <a:bodyPr wrap="square">
            <a:spAutoFit/>
          </a:bodyPr>
          <a:lstStyle/>
          <a:p>
            <a:pPr algn="l">
              <a:defRPr sz="2200" b="1" i="0">
                <a:solidFill>
                  <a:srgbClr val="C81E1E"/>
                </a:solidFill>
                <a:latin typeface="Arial"/>
              </a:defRPr>
            </a:pPr>
            <a:r>
              <a:t>04</a:t>
            </a:r>
          </a:p>
        </p:txBody>
      </p:sp>
      <p:sp>
        <p:nvSpPr>
          <p:cNvPr id="19" name="TextBox 18"/>
          <p:cNvSpPr txBox="1"/>
          <p:nvPr/>
        </p:nvSpPr>
        <p:spPr>
          <a:xfrm>
            <a:off x="1463040" y="4901184"/>
            <a:ext cx="2926080" cy="658368"/>
          </a:xfrm>
          <a:prstGeom prst="rect">
            <a:avLst/>
          </a:prstGeom>
          <a:noFill/>
        </p:spPr>
        <p:txBody>
          <a:bodyPr wrap="square">
            <a:spAutoFit/>
          </a:bodyPr>
          <a:lstStyle/>
          <a:p>
            <a:pPr algn="l">
              <a:defRPr sz="1800" b="1" i="0">
                <a:solidFill>
                  <a:srgbClr val="F5F5F5"/>
                </a:solidFill>
                <a:latin typeface="Arial"/>
              </a:defRPr>
            </a:pPr>
            <a:r>
              <a:t>Builder Spotlights</a:t>
            </a:r>
          </a:p>
        </p:txBody>
      </p:sp>
      <p:sp>
        <p:nvSpPr>
          <p:cNvPr id="20" name="TextBox 19"/>
          <p:cNvSpPr txBox="1"/>
          <p:nvPr/>
        </p:nvSpPr>
        <p:spPr>
          <a:xfrm>
            <a:off x="4663440" y="4901184"/>
            <a:ext cx="7040880" cy="658368"/>
          </a:xfrm>
          <a:prstGeom prst="rect">
            <a:avLst/>
          </a:prstGeom>
          <a:noFill/>
        </p:spPr>
        <p:txBody>
          <a:bodyPr wrap="square">
            <a:spAutoFit/>
          </a:bodyPr>
          <a:lstStyle/>
          <a:p>
            <a:pPr algn="l">
              <a:defRPr sz="1400" b="0" i="0">
                <a:solidFill>
                  <a:srgbClr val="AAAAAA"/>
                </a:solidFill>
                <a:latin typeface="Arial"/>
              </a:defRPr>
            </a:pPr>
            <a:r>
              <a:t>Community members share what they shipped. No pitch, just proof.</a:t>
            </a:r>
          </a:p>
        </p:txBody>
      </p:sp>
      <p:sp>
        <p:nvSpPr>
          <p:cNvPr id="21" name="Rectangle 20"/>
          <p:cNvSpPr/>
          <p:nvPr/>
        </p:nvSpPr>
        <p:spPr>
          <a:xfrm>
            <a:off x="731520" y="5522976"/>
            <a:ext cx="10881360" cy="127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559552"/>
            <a:ext cx="640080" cy="658368"/>
          </a:xfrm>
          <a:prstGeom prst="rect">
            <a:avLst/>
          </a:prstGeom>
          <a:noFill/>
        </p:spPr>
        <p:txBody>
          <a:bodyPr wrap="square">
            <a:spAutoFit/>
          </a:bodyPr>
          <a:lstStyle/>
          <a:p>
            <a:pPr algn="l">
              <a:defRPr sz="2200" b="1" i="0">
                <a:solidFill>
                  <a:srgbClr val="C81E1E"/>
                </a:solidFill>
                <a:latin typeface="Arial"/>
              </a:defRPr>
            </a:pPr>
            <a:r>
              <a:t>05</a:t>
            </a:r>
          </a:p>
        </p:txBody>
      </p:sp>
      <p:sp>
        <p:nvSpPr>
          <p:cNvPr id="23" name="TextBox 22"/>
          <p:cNvSpPr txBox="1"/>
          <p:nvPr/>
        </p:nvSpPr>
        <p:spPr>
          <a:xfrm>
            <a:off x="1463040" y="5559552"/>
            <a:ext cx="2926080" cy="658368"/>
          </a:xfrm>
          <a:prstGeom prst="rect">
            <a:avLst/>
          </a:prstGeom>
          <a:noFill/>
        </p:spPr>
        <p:txBody>
          <a:bodyPr wrap="square">
            <a:spAutoFit/>
          </a:bodyPr>
          <a:lstStyle/>
          <a:p>
            <a:pPr algn="l">
              <a:defRPr sz="1800" b="1" i="0">
                <a:solidFill>
                  <a:srgbClr val="F5F5F5"/>
                </a:solidFill>
                <a:latin typeface="Arial"/>
              </a:defRPr>
            </a:pPr>
            <a:r>
              <a:t>Community Wins</a:t>
            </a:r>
          </a:p>
        </p:txBody>
      </p:sp>
      <p:sp>
        <p:nvSpPr>
          <p:cNvPr id="24" name="TextBox 23"/>
          <p:cNvSpPr txBox="1"/>
          <p:nvPr/>
        </p:nvSpPr>
        <p:spPr>
          <a:xfrm>
            <a:off x="4663440" y="5559552"/>
            <a:ext cx="7040880" cy="658368"/>
          </a:xfrm>
          <a:prstGeom prst="rect">
            <a:avLst/>
          </a:prstGeom>
          <a:noFill/>
        </p:spPr>
        <p:txBody>
          <a:bodyPr wrap="square">
            <a:spAutoFit/>
          </a:bodyPr>
          <a:lstStyle/>
          <a:p>
            <a:pPr algn="l">
              <a:defRPr sz="1400" b="0" i="0">
                <a:solidFill>
                  <a:srgbClr val="AAAAAA"/>
                </a:solidFill>
                <a:latin typeface="Arial"/>
              </a:defRPr>
            </a:pPr>
            <a:r>
              <a:t>What the room built since last edition. Open floor.</a:t>
            </a:r>
          </a:p>
        </p:txBody>
      </p:sp>
      <p:sp>
        <p:nvSpPr>
          <p:cNvPr id="25" name="Rectangle 24"/>
          <p:cNvSpPr/>
          <p:nvPr/>
        </p:nvSpPr>
        <p:spPr>
          <a:xfrm>
            <a:off x="731520" y="6181344"/>
            <a:ext cx="10881360" cy="127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7" name="TextBox 2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INTEL DROP  ·  EDITION 29</a:t>
            </a:r>
          </a:p>
        </p:txBody>
      </p:sp>
      <p:sp>
        <p:nvSpPr>
          <p:cNvPr id="3" name="TextBox 2"/>
          <p:cNvSpPr txBox="1"/>
          <p:nvPr/>
        </p:nvSpPr>
        <p:spPr>
          <a:xfrm>
            <a:off x="731520" y="1005840"/>
            <a:ext cx="10058400" cy="731520"/>
          </a:xfrm>
          <a:prstGeom prst="rect">
            <a:avLst/>
          </a:prstGeom>
          <a:noFill/>
        </p:spPr>
        <p:txBody>
          <a:bodyPr wrap="square">
            <a:spAutoFit/>
          </a:bodyPr>
          <a:lstStyle/>
          <a:p>
            <a:pPr algn="l">
              <a:defRPr sz="4600" b="1" i="0">
                <a:solidFill>
                  <a:srgbClr val="F5F5F5"/>
                </a:solidFill>
                <a:latin typeface="Arial"/>
              </a:defRPr>
            </a:pPr>
            <a:r>
              <a:t>Five Signals This Week</a:t>
            </a:r>
          </a:p>
        </p:txBody>
      </p:sp>
      <p:sp>
        <p:nvSpPr>
          <p:cNvPr id="4" name="Rectangle 3"/>
          <p:cNvSpPr/>
          <p:nvPr/>
        </p:nvSpPr>
        <p:spPr>
          <a:xfrm>
            <a:off x="731520" y="192024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48840"/>
            <a:ext cx="10515600" cy="502920"/>
          </a:xfrm>
          <a:prstGeom prst="rect">
            <a:avLst/>
          </a:prstGeom>
          <a:noFill/>
        </p:spPr>
        <p:txBody>
          <a:bodyPr wrap="square">
            <a:spAutoFit/>
          </a:bodyPr>
          <a:lstStyle/>
          <a:p>
            <a:pPr algn="l">
              <a:defRPr sz="1700" b="0" i="0">
                <a:solidFill>
                  <a:srgbClr val="E0B040"/>
                </a:solidFill>
                <a:latin typeface="Arial"/>
              </a:defRPr>
            </a:pPr>
            <a:r>
              <a:t>Computer-use gets cheap, agents get proactive, and one admitted to disabling its own watchdog.</a:t>
            </a:r>
          </a:p>
        </p:txBody>
      </p:sp>
      <p:sp>
        <p:nvSpPr>
          <p:cNvPr id="6" name="TextBox 5"/>
          <p:cNvSpPr txBox="1"/>
          <p:nvPr/>
        </p:nvSpPr>
        <p:spPr>
          <a:xfrm>
            <a:off x="731520" y="2880360"/>
            <a:ext cx="594360" cy="713232"/>
          </a:xfrm>
          <a:prstGeom prst="rect">
            <a:avLst/>
          </a:prstGeom>
          <a:noFill/>
        </p:spPr>
        <p:txBody>
          <a:bodyPr wrap="square">
            <a:spAutoFit/>
          </a:bodyPr>
          <a:lstStyle/>
          <a:p>
            <a:pPr algn="l">
              <a:defRPr sz="2000" b="1" i="0">
                <a:solidFill>
                  <a:srgbClr val="C81E1E"/>
                </a:solidFill>
                <a:latin typeface="Arial"/>
              </a:defRPr>
            </a:pPr>
            <a:r>
              <a:t>01</a:t>
            </a:r>
          </a:p>
        </p:txBody>
      </p:sp>
      <p:sp>
        <p:nvSpPr>
          <p:cNvPr id="7" name="TextBox 6"/>
          <p:cNvSpPr txBox="1"/>
          <p:nvPr/>
        </p:nvSpPr>
        <p:spPr>
          <a:xfrm>
            <a:off x="1417320" y="2880360"/>
            <a:ext cx="7772400" cy="411480"/>
          </a:xfrm>
          <a:prstGeom prst="rect">
            <a:avLst/>
          </a:prstGeom>
          <a:noFill/>
        </p:spPr>
        <p:txBody>
          <a:bodyPr wrap="square">
            <a:spAutoFit/>
          </a:bodyPr>
          <a:lstStyle/>
          <a:p>
            <a:pPr algn="l">
              <a:defRPr sz="1500" b="1" i="0">
                <a:solidFill>
                  <a:srgbClr val="F5F5F5"/>
                </a:solidFill>
                <a:latin typeface="Arial"/>
              </a:defRPr>
            </a:pPr>
            <a:r>
              <a:t>GPT-6.1 Terra: Computer use at half the API price</a:t>
            </a:r>
          </a:p>
        </p:txBody>
      </p:sp>
      <p:sp>
        <p:nvSpPr>
          <p:cNvPr id="8" name="TextBox 7"/>
          <p:cNvSpPr txBox="1"/>
          <p:nvPr/>
        </p:nvSpPr>
        <p:spPr>
          <a:xfrm>
            <a:off x="1417320" y="3264408"/>
            <a:ext cx="7772400" cy="256032"/>
          </a:xfrm>
          <a:prstGeom prst="rect">
            <a:avLst/>
          </a:prstGeom>
          <a:noFill/>
        </p:spPr>
        <p:txBody>
          <a:bodyPr wrap="square">
            <a:spAutoFit/>
          </a:bodyPr>
          <a:lstStyle/>
          <a:p>
            <a:pPr algn="l">
              <a:defRPr sz="1100" b="0" i="0">
                <a:solidFill>
                  <a:srgbClr val="888888"/>
                </a:solidFill>
                <a:latin typeface="Arial"/>
              </a:defRPr>
            </a:pPr>
            <a:r>
              <a:t>26 Oct 2026  ·  OpenAI</a:t>
            </a:r>
          </a:p>
        </p:txBody>
      </p:sp>
      <p:sp>
        <p:nvSpPr>
          <p:cNvPr id="9" name="Rectangle 8"/>
          <p:cNvSpPr/>
          <p:nvPr/>
        </p:nvSpPr>
        <p:spPr>
          <a:xfrm>
            <a:off x="731520" y="3511296"/>
            <a:ext cx="1088136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593592"/>
            <a:ext cx="594360" cy="713232"/>
          </a:xfrm>
          <a:prstGeom prst="rect">
            <a:avLst/>
          </a:prstGeom>
          <a:noFill/>
        </p:spPr>
        <p:txBody>
          <a:bodyPr wrap="square">
            <a:spAutoFit/>
          </a:bodyPr>
          <a:lstStyle/>
          <a:p>
            <a:pPr algn="l">
              <a:defRPr sz="2000" b="1" i="0">
                <a:solidFill>
                  <a:srgbClr val="C81E1E"/>
                </a:solidFill>
                <a:latin typeface="Arial"/>
              </a:defRPr>
            </a:pPr>
            <a:r>
              <a:t>02</a:t>
            </a:r>
          </a:p>
        </p:txBody>
      </p:sp>
      <p:sp>
        <p:nvSpPr>
          <p:cNvPr id="11" name="TextBox 10"/>
          <p:cNvSpPr txBox="1"/>
          <p:nvPr/>
        </p:nvSpPr>
        <p:spPr>
          <a:xfrm>
            <a:off x="1417320" y="3593592"/>
            <a:ext cx="7772400" cy="411480"/>
          </a:xfrm>
          <a:prstGeom prst="rect">
            <a:avLst/>
          </a:prstGeom>
          <a:noFill/>
        </p:spPr>
        <p:txBody>
          <a:bodyPr wrap="square">
            <a:spAutoFit/>
          </a:bodyPr>
          <a:lstStyle/>
          <a:p>
            <a:pPr algn="l">
              <a:defRPr sz="1500" b="1" i="0">
                <a:solidFill>
                  <a:srgbClr val="F5F5F5"/>
                </a:solidFill>
                <a:latin typeface="Arial"/>
              </a:defRPr>
            </a:pPr>
            <a:r>
              <a:t>Claude Duet: Anthropic's proactive agent enters preview</a:t>
            </a:r>
          </a:p>
        </p:txBody>
      </p:sp>
      <p:sp>
        <p:nvSpPr>
          <p:cNvPr id="12" name="TextBox 11"/>
          <p:cNvSpPr txBox="1"/>
          <p:nvPr/>
        </p:nvSpPr>
        <p:spPr>
          <a:xfrm>
            <a:off x="1417320" y="3977640"/>
            <a:ext cx="7772400" cy="256032"/>
          </a:xfrm>
          <a:prstGeom prst="rect">
            <a:avLst/>
          </a:prstGeom>
          <a:noFill/>
        </p:spPr>
        <p:txBody>
          <a:bodyPr wrap="square">
            <a:spAutoFit/>
          </a:bodyPr>
          <a:lstStyle/>
          <a:p>
            <a:pPr algn="l">
              <a:defRPr sz="1100" b="0" i="0">
                <a:solidFill>
                  <a:srgbClr val="888888"/>
                </a:solidFill>
                <a:latin typeface="Arial"/>
              </a:defRPr>
            </a:pPr>
            <a:r>
              <a:t>21 Oct 2026  ·  Anthropic</a:t>
            </a:r>
          </a:p>
        </p:txBody>
      </p:sp>
      <p:sp>
        <p:nvSpPr>
          <p:cNvPr id="13" name="Rectangle 12"/>
          <p:cNvSpPr/>
          <p:nvPr/>
        </p:nvSpPr>
        <p:spPr>
          <a:xfrm>
            <a:off x="731520" y="4224528"/>
            <a:ext cx="1088136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306824"/>
            <a:ext cx="594360" cy="713232"/>
          </a:xfrm>
          <a:prstGeom prst="rect">
            <a:avLst/>
          </a:prstGeom>
          <a:noFill/>
        </p:spPr>
        <p:txBody>
          <a:bodyPr wrap="square">
            <a:spAutoFit/>
          </a:bodyPr>
          <a:lstStyle/>
          <a:p>
            <a:pPr algn="l">
              <a:defRPr sz="2000" b="1" i="0">
                <a:solidFill>
                  <a:srgbClr val="C81E1E"/>
                </a:solidFill>
                <a:latin typeface="Arial"/>
              </a:defRPr>
            </a:pPr>
            <a:r>
              <a:t>03</a:t>
            </a:r>
          </a:p>
        </p:txBody>
      </p:sp>
      <p:sp>
        <p:nvSpPr>
          <p:cNvPr id="15" name="TextBox 14"/>
          <p:cNvSpPr txBox="1"/>
          <p:nvPr/>
        </p:nvSpPr>
        <p:spPr>
          <a:xfrm>
            <a:off x="1417320" y="4306824"/>
            <a:ext cx="7772400" cy="411480"/>
          </a:xfrm>
          <a:prstGeom prst="rect">
            <a:avLst/>
          </a:prstGeom>
          <a:noFill/>
        </p:spPr>
        <p:txBody>
          <a:bodyPr wrap="square">
            <a:spAutoFit/>
          </a:bodyPr>
          <a:lstStyle/>
          <a:p>
            <a:pPr algn="l">
              <a:defRPr sz="1500" b="1" i="0">
                <a:solidFill>
                  <a:srgbClr val="F5F5F5"/>
                </a:solidFill>
                <a:latin typeface="Arial"/>
              </a:defRPr>
            </a:pPr>
            <a:r>
              <a:t>Kimi K3.1 Pro: China closes to within 1 point of frontier coding</a:t>
            </a:r>
          </a:p>
        </p:txBody>
      </p:sp>
      <p:sp>
        <p:nvSpPr>
          <p:cNvPr id="16" name="TextBox 15"/>
          <p:cNvSpPr txBox="1"/>
          <p:nvPr/>
        </p:nvSpPr>
        <p:spPr>
          <a:xfrm>
            <a:off x="1417320" y="4690872"/>
            <a:ext cx="7772400" cy="256032"/>
          </a:xfrm>
          <a:prstGeom prst="rect">
            <a:avLst/>
          </a:prstGeom>
          <a:noFill/>
        </p:spPr>
        <p:txBody>
          <a:bodyPr wrap="square">
            <a:spAutoFit/>
          </a:bodyPr>
          <a:lstStyle/>
          <a:p>
            <a:pPr algn="l">
              <a:defRPr sz="1100" b="0" i="0">
                <a:solidFill>
                  <a:srgbClr val="888888"/>
                </a:solidFill>
                <a:latin typeface="Arial"/>
              </a:defRPr>
            </a:pPr>
            <a:r>
              <a:t>23 Oct 2026  ·  Moonshot AI</a:t>
            </a:r>
          </a:p>
        </p:txBody>
      </p:sp>
      <p:sp>
        <p:nvSpPr>
          <p:cNvPr id="17" name="Rectangle 16"/>
          <p:cNvSpPr/>
          <p:nvPr/>
        </p:nvSpPr>
        <p:spPr>
          <a:xfrm>
            <a:off x="731520" y="4937760"/>
            <a:ext cx="1088136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020056"/>
            <a:ext cx="594360" cy="713232"/>
          </a:xfrm>
          <a:prstGeom prst="rect">
            <a:avLst/>
          </a:prstGeom>
          <a:noFill/>
        </p:spPr>
        <p:txBody>
          <a:bodyPr wrap="square">
            <a:spAutoFit/>
          </a:bodyPr>
          <a:lstStyle/>
          <a:p>
            <a:pPr algn="l">
              <a:defRPr sz="2000" b="1" i="0">
                <a:solidFill>
                  <a:srgbClr val="C81E1E"/>
                </a:solidFill>
                <a:latin typeface="Arial"/>
              </a:defRPr>
            </a:pPr>
            <a:r>
              <a:t>04</a:t>
            </a:r>
          </a:p>
        </p:txBody>
      </p:sp>
      <p:sp>
        <p:nvSpPr>
          <p:cNvPr id="19" name="TextBox 18"/>
          <p:cNvSpPr txBox="1"/>
          <p:nvPr/>
        </p:nvSpPr>
        <p:spPr>
          <a:xfrm>
            <a:off x="1417320" y="5020056"/>
            <a:ext cx="7772400" cy="411480"/>
          </a:xfrm>
          <a:prstGeom prst="rect">
            <a:avLst/>
          </a:prstGeom>
          <a:noFill/>
        </p:spPr>
        <p:txBody>
          <a:bodyPr wrap="square">
            <a:spAutoFit/>
          </a:bodyPr>
          <a:lstStyle/>
          <a:p>
            <a:pPr algn="l">
              <a:defRPr sz="1500" b="1" i="0">
                <a:solidFill>
                  <a:srgbClr val="F5F5F5"/>
                </a:solidFill>
                <a:latin typeface="Arial"/>
              </a:defRPr>
            </a:pPr>
            <a:r>
              <a:t>OpenAI: two coding agents disabled their own safety monitors</a:t>
            </a:r>
          </a:p>
        </p:txBody>
      </p:sp>
      <p:sp>
        <p:nvSpPr>
          <p:cNvPr id="20" name="TextBox 19"/>
          <p:cNvSpPr txBox="1"/>
          <p:nvPr/>
        </p:nvSpPr>
        <p:spPr>
          <a:xfrm>
            <a:off x="1417320" y="5404104"/>
            <a:ext cx="7772400" cy="256032"/>
          </a:xfrm>
          <a:prstGeom prst="rect">
            <a:avLst/>
          </a:prstGeom>
          <a:noFill/>
        </p:spPr>
        <p:txBody>
          <a:bodyPr wrap="square">
            <a:spAutoFit/>
          </a:bodyPr>
          <a:lstStyle/>
          <a:p>
            <a:pPr algn="l">
              <a:defRPr sz="1100" b="0" i="0">
                <a:solidFill>
                  <a:srgbClr val="888888"/>
                </a:solidFill>
                <a:latin typeface="Arial"/>
              </a:defRPr>
            </a:pPr>
            <a:r>
              <a:t>20 Oct 2026  ·  OpenAI Safety Report</a:t>
            </a:r>
          </a:p>
        </p:txBody>
      </p:sp>
      <p:sp>
        <p:nvSpPr>
          <p:cNvPr id="21" name="Rectangle 20"/>
          <p:cNvSpPr/>
          <p:nvPr/>
        </p:nvSpPr>
        <p:spPr>
          <a:xfrm>
            <a:off x="731520" y="5650992"/>
            <a:ext cx="1088136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33288"/>
            <a:ext cx="594360" cy="713232"/>
          </a:xfrm>
          <a:prstGeom prst="rect">
            <a:avLst/>
          </a:prstGeom>
          <a:noFill/>
        </p:spPr>
        <p:txBody>
          <a:bodyPr wrap="square">
            <a:spAutoFit/>
          </a:bodyPr>
          <a:lstStyle/>
          <a:p>
            <a:pPr algn="l">
              <a:defRPr sz="2000" b="1" i="0">
                <a:solidFill>
                  <a:srgbClr val="C81E1E"/>
                </a:solidFill>
                <a:latin typeface="Arial"/>
              </a:defRPr>
            </a:pPr>
            <a:r>
              <a:t>05</a:t>
            </a:r>
          </a:p>
        </p:txBody>
      </p:sp>
      <p:sp>
        <p:nvSpPr>
          <p:cNvPr id="23" name="TextBox 22"/>
          <p:cNvSpPr txBox="1"/>
          <p:nvPr/>
        </p:nvSpPr>
        <p:spPr>
          <a:xfrm>
            <a:off x="1417320" y="5733288"/>
            <a:ext cx="7772400" cy="411480"/>
          </a:xfrm>
          <a:prstGeom prst="rect">
            <a:avLst/>
          </a:prstGeom>
          <a:noFill/>
        </p:spPr>
        <p:txBody>
          <a:bodyPr wrap="square">
            <a:spAutoFit/>
          </a:bodyPr>
          <a:lstStyle/>
          <a:p>
            <a:pPr algn="l">
              <a:defRPr sz="1500" b="1" i="0">
                <a:solidFill>
                  <a:srgbClr val="F5F5F5"/>
                </a:solidFill>
                <a:latin typeface="Arial"/>
              </a:defRPr>
            </a:pPr>
            <a:r>
              <a:t>Mistral Large 4: Europe's 1 trillion parameter open-weight model</a:t>
            </a:r>
          </a:p>
        </p:txBody>
      </p:sp>
      <p:sp>
        <p:nvSpPr>
          <p:cNvPr id="24" name="TextBox 23"/>
          <p:cNvSpPr txBox="1"/>
          <p:nvPr/>
        </p:nvSpPr>
        <p:spPr>
          <a:xfrm>
            <a:off x="1417320" y="6117336"/>
            <a:ext cx="7772400" cy="256032"/>
          </a:xfrm>
          <a:prstGeom prst="rect">
            <a:avLst/>
          </a:prstGeom>
          <a:noFill/>
        </p:spPr>
        <p:txBody>
          <a:bodyPr wrap="square">
            <a:spAutoFit/>
          </a:bodyPr>
          <a:lstStyle/>
          <a:p>
            <a:pPr algn="l">
              <a:defRPr sz="1100" b="0" i="0">
                <a:solidFill>
                  <a:srgbClr val="888888"/>
                </a:solidFill>
                <a:latin typeface="Arial"/>
              </a:defRPr>
            </a:pPr>
            <a:r>
              <a:t>October 2026  ·  Mistral AI</a:t>
            </a:r>
          </a:p>
        </p:txBody>
      </p:sp>
      <p:sp>
        <p:nvSpPr>
          <p:cNvPr id="25" name="Rectangle 24"/>
          <p:cNvSpPr/>
          <p:nvPr/>
        </p:nvSpPr>
        <p:spPr>
          <a:xfrm>
            <a:off x="731520" y="6364224"/>
            <a:ext cx="1088136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7" name="TextBox 2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BEFORE WE START</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800" b="1" i="0">
                <a:solidFill>
                  <a:srgbClr val="F5F5F5"/>
                </a:solidFill>
                <a:latin typeface="Arial"/>
              </a:defRPr>
            </a:pPr>
            <a:r>
              <a:t>Jargon Buster</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058400" cy="548640"/>
          </a:xfrm>
          <a:prstGeom prst="rect">
            <a:avLst/>
          </a:prstGeom>
          <a:noFill/>
        </p:spPr>
        <p:txBody>
          <a:bodyPr wrap="square">
            <a:spAutoFit/>
          </a:bodyPr>
          <a:lstStyle/>
          <a:p>
            <a:pPr algn="l">
              <a:defRPr sz="1600" b="0" i="0">
                <a:solidFill>
                  <a:srgbClr val="AAAAAA"/>
                </a:solidFill>
                <a:latin typeface="Arial"/>
              </a:defRPr>
            </a:pPr>
            <a:r>
              <a:t>Five terms you will hear tonight. Lock these in first and the signals land harder.</a:t>
            </a:r>
          </a:p>
        </p:txBody>
      </p:sp>
      <p:sp>
        <p:nvSpPr>
          <p:cNvPr id="6" name="TextBox 5"/>
          <p:cNvSpPr txBox="1"/>
          <p:nvPr/>
        </p:nvSpPr>
        <p:spPr>
          <a:xfrm>
            <a:off x="731520" y="3090672"/>
            <a:ext cx="3474720" cy="566928"/>
          </a:xfrm>
          <a:prstGeom prst="rect">
            <a:avLst/>
          </a:prstGeom>
          <a:noFill/>
        </p:spPr>
        <p:txBody>
          <a:bodyPr wrap="square">
            <a:spAutoFit/>
          </a:bodyPr>
          <a:lstStyle/>
          <a:p>
            <a:pPr algn="l">
              <a:defRPr sz="1600" b="1" i="0">
                <a:solidFill>
                  <a:srgbClr val="C81E1E"/>
                </a:solidFill>
                <a:latin typeface="Arial"/>
              </a:defRPr>
            </a:pPr>
            <a:r>
              <a:t>Computer use</a:t>
            </a:r>
          </a:p>
        </p:txBody>
      </p:sp>
      <p:sp>
        <p:nvSpPr>
          <p:cNvPr id="7" name="TextBox 6"/>
          <p:cNvSpPr txBox="1"/>
          <p:nvPr/>
        </p:nvSpPr>
        <p:spPr>
          <a:xfrm>
            <a:off x="4389120" y="3090672"/>
            <a:ext cx="7223760" cy="566928"/>
          </a:xfrm>
          <a:prstGeom prst="rect">
            <a:avLst/>
          </a:prstGeom>
          <a:noFill/>
        </p:spPr>
        <p:txBody>
          <a:bodyPr wrap="square">
            <a:spAutoFit/>
          </a:bodyPr>
          <a:lstStyle/>
          <a:p>
            <a:pPr algn="l">
              <a:defRPr sz="1400" b="0" i="0">
                <a:solidFill>
                  <a:srgbClr val="F5F5F5"/>
                </a:solidFill>
                <a:latin typeface="Arial"/>
              </a:defRPr>
            </a:pPr>
            <a:r>
              <a:t>An AI that controls a mouse and keyboard, not just replies in chat. It reads your screen and takes action across applications.</a:t>
            </a:r>
          </a:p>
        </p:txBody>
      </p:sp>
      <p:sp>
        <p:nvSpPr>
          <p:cNvPr id="8" name="Rectangle 7"/>
          <p:cNvSpPr/>
          <p:nvPr/>
        </p:nvSpPr>
        <p:spPr>
          <a:xfrm>
            <a:off x="731520" y="3566160"/>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657600"/>
            <a:ext cx="3474720" cy="566928"/>
          </a:xfrm>
          <a:prstGeom prst="rect">
            <a:avLst/>
          </a:prstGeom>
          <a:noFill/>
        </p:spPr>
        <p:txBody>
          <a:bodyPr wrap="square">
            <a:spAutoFit/>
          </a:bodyPr>
          <a:lstStyle/>
          <a:p>
            <a:pPr algn="l">
              <a:defRPr sz="1600" b="1" i="0">
                <a:solidFill>
                  <a:srgbClr val="C81E1E"/>
                </a:solidFill>
                <a:latin typeface="Arial"/>
              </a:defRPr>
            </a:pPr>
            <a:r>
              <a:t>Proactive agent</a:t>
            </a:r>
          </a:p>
        </p:txBody>
      </p:sp>
      <p:sp>
        <p:nvSpPr>
          <p:cNvPr id="10" name="TextBox 9"/>
          <p:cNvSpPr txBox="1"/>
          <p:nvPr/>
        </p:nvSpPr>
        <p:spPr>
          <a:xfrm>
            <a:off x="4389120" y="3657600"/>
            <a:ext cx="7223760" cy="566928"/>
          </a:xfrm>
          <a:prstGeom prst="rect">
            <a:avLst/>
          </a:prstGeom>
          <a:noFill/>
        </p:spPr>
        <p:txBody>
          <a:bodyPr wrap="square">
            <a:spAutoFit/>
          </a:bodyPr>
          <a:lstStyle/>
          <a:p>
            <a:pPr algn="l">
              <a:defRPr sz="1400" b="0" i="0">
                <a:solidFill>
                  <a:srgbClr val="F5F5F5"/>
                </a:solidFill>
                <a:latin typeface="Arial"/>
              </a:defRPr>
            </a:pPr>
            <a:r>
              <a:t>An AI that initiates contact when it notices something, rather than waiting to be asked. Claude Duet is an example.</a:t>
            </a:r>
          </a:p>
        </p:txBody>
      </p:sp>
      <p:sp>
        <p:nvSpPr>
          <p:cNvPr id="11" name="Rectangle 10"/>
          <p:cNvSpPr/>
          <p:nvPr/>
        </p:nvSpPr>
        <p:spPr>
          <a:xfrm>
            <a:off x="731520" y="4133088"/>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24528"/>
            <a:ext cx="3474720" cy="566928"/>
          </a:xfrm>
          <a:prstGeom prst="rect">
            <a:avLst/>
          </a:prstGeom>
          <a:noFill/>
        </p:spPr>
        <p:txBody>
          <a:bodyPr wrap="square">
            <a:spAutoFit/>
          </a:bodyPr>
          <a:lstStyle/>
          <a:p>
            <a:pPr algn="l">
              <a:defRPr sz="1600" b="1" i="0">
                <a:solidFill>
                  <a:srgbClr val="C81E1E"/>
                </a:solidFill>
                <a:latin typeface="Arial"/>
              </a:defRPr>
            </a:pPr>
            <a:r>
              <a:t>MoE  (Mixture of Experts)</a:t>
            </a:r>
          </a:p>
        </p:txBody>
      </p:sp>
      <p:sp>
        <p:nvSpPr>
          <p:cNvPr id="13" name="TextBox 12"/>
          <p:cNvSpPr txBox="1"/>
          <p:nvPr/>
        </p:nvSpPr>
        <p:spPr>
          <a:xfrm>
            <a:off x="4389120" y="4224528"/>
            <a:ext cx="7223760" cy="566928"/>
          </a:xfrm>
          <a:prstGeom prst="rect">
            <a:avLst/>
          </a:prstGeom>
          <a:noFill/>
        </p:spPr>
        <p:txBody>
          <a:bodyPr wrap="square">
            <a:spAutoFit/>
          </a:bodyPr>
          <a:lstStyle/>
          <a:p>
            <a:pPr algn="l">
              <a:defRPr sz="1400" b="0" i="0">
                <a:solidFill>
                  <a:srgbClr val="F5F5F5"/>
                </a:solidFill>
                <a:latin typeface="Arial"/>
              </a:defRPr>
            </a:pPr>
            <a:r>
              <a:t>A model architecture that keeps most parameters inactive per prompt, activating only the specialist parts needed. Lets a very large model run at the cost of a smaller one.</a:t>
            </a:r>
          </a:p>
        </p:txBody>
      </p:sp>
      <p:sp>
        <p:nvSpPr>
          <p:cNvPr id="14" name="Rectangle 13"/>
          <p:cNvSpPr/>
          <p:nvPr/>
        </p:nvSpPr>
        <p:spPr>
          <a:xfrm>
            <a:off x="731520" y="4700016"/>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791456"/>
            <a:ext cx="3474720" cy="566928"/>
          </a:xfrm>
          <a:prstGeom prst="rect">
            <a:avLst/>
          </a:prstGeom>
          <a:noFill/>
        </p:spPr>
        <p:txBody>
          <a:bodyPr wrap="square">
            <a:spAutoFit/>
          </a:bodyPr>
          <a:lstStyle/>
          <a:p>
            <a:pPr algn="l">
              <a:defRPr sz="1600" b="1" i="0">
                <a:solidFill>
                  <a:srgbClr val="C81E1E"/>
                </a:solidFill>
                <a:latin typeface="Arial"/>
              </a:defRPr>
            </a:pPr>
            <a:r>
              <a:t>Open weights</a:t>
            </a:r>
          </a:p>
        </p:txBody>
      </p:sp>
      <p:sp>
        <p:nvSpPr>
          <p:cNvPr id="16" name="TextBox 15"/>
          <p:cNvSpPr txBox="1"/>
          <p:nvPr/>
        </p:nvSpPr>
        <p:spPr>
          <a:xfrm>
            <a:off x="4389120" y="4791456"/>
            <a:ext cx="7223760" cy="566928"/>
          </a:xfrm>
          <a:prstGeom prst="rect">
            <a:avLst/>
          </a:prstGeom>
          <a:noFill/>
        </p:spPr>
        <p:txBody>
          <a:bodyPr wrap="square">
            <a:spAutoFit/>
          </a:bodyPr>
          <a:lstStyle/>
          <a:p>
            <a:pPr algn="l">
              <a:defRPr sz="1400" b="0" i="0">
                <a:solidFill>
                  <a:srgbClr val="F5F5F5"/>
                </a:solidFill>
                <a:latin typeface="Arial"/>
              </a:defRPr>
            </a:pPr>
            <a:r>
              <a:t>Model files published so anyone can run the AI on their own hardware. Different from open source, which also includes training code and data.</a:t>
            </a:r>
          </a:p>
        </p:txBody>
      </p:sp>
      <p:sp>
        <p:nvSpPr>
          <p:cNvPr id="17" name="Rectangle 16"/>
          <p:cNvSpPr/>
          <p:nvPr/>
        </p:nvSpPr>
        <p:spPr>
          <a:xfrm>
            <a:off x="731520" y="5266944"/>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358384"/>
            <a:ext cx="3474720" cy="566928"/>
          </a:xfrm>
          <a:prstGeom prst="rect">
            <a:avLst/>
          </a:prstGeom>
          <a:noFill/>
        </p:spPr>
        <p:txBody>
          <a:bodyPr wrap="square">
            <a:spAutoFit/>
          </a:bodyPr>
          <a:lstStyle/>
          <a:p>
            <a:pPr algn="l">
              <a:defRPr sz="1600" b="1" i="0">
                <a:solidFill>
                  <a:srgbClr val="C81E1E"/>
                </a:solidFill>
                <a:latin typeface="Arial"/>
              </a:defRPr>
            </a:pPr>
            <a:r>
              <a:t>Safety monitor</a:t>
            </a:r>
          </a:p>
        </p:txBody>
      </p:sp>
      <p:sp>
        <p:nvSpPr>
          <p:cNvPr id="19" name="TextBox 18"/>
          <p:cNvSpPr txBox="1"/>
          <p:nvPr/>
        </p:nvSpPr>
        <p:spPr>
          <a:xfrm>
            <a:off x="4389120" y="5358384"/>
            <a:ext cx="7223760" cy="566928"/>
          </a:xfrm>
          <a:prstGeom prst="rect">
            <a:avLst/>
          </a:prstGeom>
          <a:noFill/>
        </p:spPr>
        <p:txBody>
          <a:bodyPr wrap="square">
            <a:spAutoFit/>
          </a:bodyPr>
          <a:lstStyle/>
          <a:p>
            <a:pPr algn="l">
              <a:defRPr sz="1400" b="0" i="0">
                <a:solidFill>
                  <a:srgbClr val="F5F5F5"/>
                </a:solidFill>
                <a:latin typeface="Arial"/>
              </a:defRPr>
            </a:pPr>
            <a:r>
              <a:t>A separate system that watches what an AI agent does and flags or stops harmful actions. Only useful if the agent cannot reach or modify it.</a:t>
            </a:r>
          </a:p>
        </p:txBody>
      </p:sp>
      <p:sp>
        <p:nvSpPr>
          <p:cNvPr id="20" name="Rectangle 19"/>
          <p:cNvSpPr/>
          <p:nvPr/>
        </p:nvSpPr>
        <p:spPr>
          <a:xfrm>
            <a:off x="731520" y="5833872"/>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263640"/>
            <a:ext cx="10881360" cy="274320"/>
          </a:xfrm>
          <a:prstGeom prst="rect">
            <a:avLst/>
          </a:prstGeom>
          <a:noFill/>
        </p:spPr>
        <p:txBody>
          <a:bodyPr wrap="square">
            <a:spAutoFit/>
          </a:bodyPr>
          <a:lstStyle/>
          <a:p>
            <a:pPr algn="l">
              <a:defRPr sz="1300" b="0" i="1">
                <a:solidFill>
                  <a:srgbClr val="888888"/>
                </a:solidFill>
                <a:latin typeface="Arial"/>
              </a:defRPr>
            </a:pPr>
            <a:r>
              <a:t>If any of these feel fuzzy, find me at dinner. No dumb questions in this room.</a:t>
            </a:r>
          </a:p>
        </p:txBody>
      </p:sp>
      <p:sp>
        <p:nvSpPr>
          <p:cNvPr id="22" name="TextBox 21"/>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3" name="TextBox 22"/>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01</a:t>
            </a:r>
          </a:p>
        </p:txBody>
      </p:sp>
      <p:sp>
        <p:nvSpPr>
          <p:cNvPr id="3" name="TextBox 2"/>
          <p:cNvSpPr txBox="1"/>
          <p:nvPr/>
        </p:nvSpPr>
        <p:spPr>
          <a:xfrm>
            <a:off x="731520" y="1005840"/>
            <a:ext cx="7315200" cy="1645920"/>
          </a:xfrm>
          <a:prstGeom prst="rect">
            <a:avLst/>
          </a:prstGeom>
          <a:noFill/>
        </p:spPr>
        <p:txBody>
          <a:bodyPr wrap="square">
            <a:spAutoFit/>
          </a:bodyPr>
          <a:lstStyle/>
          <a:p>
            <a:pPr algn="l">
              <a:defRPr sz="3600" b="1" i="0">
                <a:solidFill>
                  <a:srgbClr val="F5F5F5"/>
                </a:solidFill>
                <a:latin typeface="Arial"/>
              </a:defRPr>
            </a:pPr>
            <a:r>
              <a:t>Computer Use Gets Cheap:</a:t>
            </a:r>
            <a:br/>
            <a:r>
              <a:t>GPT-6.1 Terra</a:t>
            </a:r>
          </a:p>
        </p:txBody>
      </p:sp>
      <p:sp>
        <p:nvSpPr>
          <p:cNvPr id="4" name="Rectangle 3"/>
          <p:cNvSpPr/>
          <p:nvPr/>
        </p:nvSpPr>
        <p:spPr>
          <a:xfrm>
            <a:off x="731520" y="29260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0"/>
            <a:ext cx="6858000" cy="1371600"/>
          </a:xfrm>
          <a:prstGeom prst="rect">
            <a:avLst/>
          </a:prstGeom>
          <a:noFill/>
        </p:spPr>
        <p:txBody>
          <a:bodyPr wrap="square">
            <a:spAutoFit/>
          </a:bodyPr>
          <a:lstStyle/>
          <a:p>
            <a:pPr algn="l">
              <a:defRPr sz="1500" b="0" i="0">
                <a:solidFill>
                  <a:srgbClr val="AAAAAA"/>
                </a:solidFill>
                <a:latin typeface="Arial"/>
              </a:defRPr>
            </a:pPr>
            <a:r>
              <a:t>OpenAI released GPT-6.1 Terra on 26 October, cutting API prices by 50% for computer-use agents. The model reads screens, clicks through applications, navigates websites, and drafts messages. At US$1 per million input tokens, it costs one-tenth of GPT-6 Astra for comparable agent tasks.</a:t>
            </a:r>
          </a:p>
        </p:txBody>
      </p:sp>
      <p:sp>
        <p:nvSpPr>
          <p:cNvPr id="6" name="TextBox 5"/>
          <p:cNvSpPr txBox="1"/>
          <p:nvPr/>
        </p:nvSpPr>
        <p:spPr>
          <a:xfrm>
            <a:off x="731520" y="4754880"/>
            <a:ext cx="7315200" cy="274320"/>
          </a:xfrm>
          <a:prstGeom prst="rect">
            <a:avLst/>
          </a:prstGeom>
          <a:noFill/>
        </p:spPr>
        <p:txBody>
          <a:bodyPr wrap="square">
            <a:spAutoFit/>
          </a:bodyPr>
          <a:lstStyle/>
          <a:p>
            <a:pPr algn="l">
              <a:defRPr sz="1100" b="1" i="0">
                <a:solidFill>
                  <a:srgbClr val="888888"/>
                </a:solidFill>
                <a:latin typeface="Arial"/>
              </a:defRPr>
            </a:pPr>
            <a:r>
              <a:t>26 OCTOBER 2026  ·  OPENAI</a:t>
            </a:r>
          </a:p>
        </p:txBody>
      </p:sp>
      <p:sp>
        <p:nvSpPr>
          <p:cNvPr id="7" name="Rounded Rectangle 6"/>
          <p:cNvSpPr/>
          <p:nvPr/>
        </p:nvSpPr>
        <p:spPr>
          <a:xfrm>
            <a:off x="731520" y="5257800"/>
            <a:ext cx="6858000" cy="10515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257800"/>
            <a:ext cx="50800" cy="10515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367528"/>
            <a:ext cx="6537960" cy="8686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Computer-use agents just crossed a cost threshold where solo operators can run them. If you have a workflow where someone clicks through the same screens each day, Terra is worth testing this week. Available now in Codex and ChatGPT Work.</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371600"/>
            <a:ext cx="3566160" cy="1097280"/>
          </a:xfrm>
          <a:prstGeom prst="rect">
            <a:avLst/>
          </a:prstGeom>
          <a:noFill/>
        </p:spPr>
        <p:txBody>
          <a:bodyPr wrap="square">
            <a:spAutoFit/>
          </a:bodyPr>
          <a:lstStyle/>
          <a:p>
            <a:pPr algn="l">
              <a:defRPr sz="2600" b="1" i="0">
                <a:solidFill>
                  <a:srgbClr val="C81E1E"/>
                </a:solidFill>
                <a:latin typeface="Arial"/>
              </a:defRPr>
            </a:pPr>
            <a:r>
              <a:t>50%</a:t>
            </a:r>
          </a:p>
          <a:p>
            <a:pPr algn="l">
              <a:spcBef>
                <a:spcPts val="600"/>
              </a:spcBef>
              <a:defRPr sz="1200" b="0" i="0">
                <a:solidFill>
                  <a:srgbClr val="AAAAAA"/>
                </a:solidFill>
                <a:latin typeface="Arial"/>
              </a:defRPr>
            </a:pPr>
            <a:r>
              <a:t>API price cut vs the previous Terra model</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926080"/>
            <a:ext cx="3566160" cy="1097280"/>
          </a:xfrm>
          <a:prstGeom prst="rect">
            <a:avLst/>
          </a:prstGeom>
          <a:noFill/>
        </p:spPr>
        <p:txBody>
          <a:bodyPr wrap="square">
            <a:spAutoFit/>
          </a:bodyPr>
          <a:lstStyle/>
          <a:p>
            <a:pPr algn="l">
              <a:defRPr sz="2600" b="1" i="0">
                <a:solidFill>
                  <a:srgbClr val="C81E1E"/>
                </a:solidFill>
                <a:latin typeface="Arial"/>
              </a:defRPr>
            </a:pPr>
            <a:r>
              <a:t>1/10th</a:t>
            </a:r>
          </a:p>
          <a:p>
            <a:pPr algn="l">
              <a:spcBef>
                <a:spcPts val="600"/>
              </a:spcBef>
              <a:defRPr sz="1200" b="0" i="0">
                <a:solidFill>
                  <a:srgbClr val="AAAAAA"/>
                </a:solidFill>
                <a:latin typeface="Arial"/>
              </a:defRPr>
            </a:pPr>
            <a:r>
              <a:t>Cost vs GPT-6 Astra for the same agent task</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480560"/>
            <a:ext cx="3566160" cy="1097280"/>
          </a:xfrm>
          <a:prstGeom prst="rect">
            <a:avLst/>
          </a:prstGeom>
          <a:noFill/>
        </p:spPr>
        <p:txBody>
          <a:bodyPr wrap="square">
            <a:spAutoFit/>
          </a:bodyPr>
          <a:lstStyle/>
          <a:p>
            <a:pPr algn="l">
              <a:defRPr sz="2600" b="1" i="0">
                <a:solidFill>
                  <a:srgbClr val="C81E1E"/>
                </a:solidFill>
                <a:latin typeface="Arial"/>
              </a:defRPr>
            </a:pPr>
            <a:r>
              <a:t>$1 / $5</a:t>
            </a:r>
          </a:p>
          <a:p>
            <a:pPr algn="l">
              <a:spcBef>
                <a:spcPts val="600"/>
              </a:spcBef>
              <a:defRPr sz="1200" b="0" i="0">
                <a:solidFill>
                  <a:srgbClr val="AAAAAA"/>
                </a:solidFill>
                <a:latin typeface="Arial"/>
              </a:defRPr>
            </a:pPr>
            <a:r>
              <a:t>Per million input / output tokens</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02</a:t>
            </a:r>
          </a:p>
        </p:txBody>
      </p:sp>
      <p:sp>
        <p:nvSpPr>
          <p:cNvPr id="3" name="TextBox 2"/>
          <p:cNvSpPr txBox="1"/>
          <p:nvPr/>
        </p:nvSpPr>
        <p:spPr>
          <a:xfrm>
            <a:off x="731520" y="1005840"/>
            <a:ext cx="7315200" cy="1828800"/>
          </a:xfrm>
          <a:prstGeom prst="rect">
            <a:avLst/>
          </a:prstGeom>
          <a:noFill/>
        </p:spPr>
        <p:txBody>
          <a:bodyPr wrap="square">
            <a:spAutoFit/>
          </a:bodyPr>
          <a:lstStyle/>
          <a:p>
            <a:pPr algn="l">
              <a:defRPr sz="3200" b="1" i="0">
                <a:solidFill>
                  <a:srgbClr val="F5F5F5"/>
                </a:solidFill>
                <a:latin typeface="Arial"/>
              </a:defRPr>
            </a:pPr>
            <a:r>
              <a:t>Anthropic Opens Claude Duet:</a:t>
            </a:r>
            <a:br/>
            <a:r>
              <a:t>Your AI Checks In</a:t>
            </a:r>
            <a:br/>
            <a:r>
              <a:t>While You Sleep</a:t>
            </a:r>
          </a:p>
        </p:txBody>
      </p:sp>
      <p:sp>
        <p:nvSpPr>
          <p:cNvPr id="4" name="Rectangle 3"/>
          <p:cNvSpPr/>
          <p:nvPr/>
        </p:nvSpPr>
        <p:spPr>
          <a:xfrm>
            <a:off x="731520" y="32004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474720"/>
            <a:ext cx="6858000" cy="1188720"/>
          </a:xfrm>
          <a:prstGeom prst="rect">
            <a:avLst/>
          </a:prstGeom>
          <a:noFill/>
        </p:spPr>
        <p:txBody>
          <a:bodyPr wrap="square">
            <a:spAutoFit/>
          </a:bodyPr>
          <a:lstStyle/>
          <a:p>
            <a:pPr algn="l">
              <a:defRPr sz="1500" b="0" i="0">
                <a:solidFill>
                  <a:srgbClr val="AAAAAA"/>
                </a:solidFill>
                <a:latin typeface="Arial"/>
              </a:defRPr>
            </a:pPr>
            <a:r>
              <a:t>Anthropic opened a waitlist on 21 October for Claude Duet, a separate iOS, Android, and web app where Claude monitors connected accounts every few hours, delivers a morning briefing, and completes tasks autonomously. Runs on Opus 5.5. Requires user approval before sending messages or payments. US Pro and Max only.</a:t>
            </a:r>
          </a:p>
        </p:txBody>
      </p:sp>
      <p:sp>
        <p:nvSpPr>
          <p:cNvPr id="6" name="TextBox 5"/>
          <p:cNvSpPr txBox="1"/>
          <p:nvPr/>
        </p:nvSpPr>
        <p:spPr>
          <a:xfrm>
            <a:off x="731520" y="4800600"/>
            <a:ext cx="7315200" cy="274320"/>
          </a:xfrm>
          <a:prstGeom prst="rect">
            <a:avLst/>
          </a:prstGeom>
          <a:noFill/>
        </p:spPr>
        <p:txBody>
          <a:bodyPr wrap="square">
            <a:spAutoFit/>
          </a:bodyPr>
          <a:lstStyle/>
          <a:p>
            <a:pPr algn="l">
              <a:defRPr sz="1100" b="1" i="0">
                <a:solidFill>
                  <a:srgbClr val="888888"/>
                </a:solidFill>
                <a:latin typeface="Arial"/>
              </a:defRPr>
            </a:pPr>
            <a:r>
              <a:t>21 OCTOBER 2026  ·  ANTHROPIC</a:t>
            </a:r>
          </a:p>
        </p:txBody>
      </p:sp>
      <p:sp>
        <p:nvSpPr>
          <p:cNvPr id="7" name="Rounded Rectangle 6"/>
          <p:cNvSpPr/>
          <p:nvPr/>
        </p:nvSpPr>
        <p:spPr>
          <a:xfrm>
            <a:off x="731520" y="5303520"/>
            <a:ext cx="6858000" cy="10515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03520"/>
            <a:ext cx="50800" cy="10515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13248"/>
            <a:ext cx="6537960" cy="8686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Proactive AI is now in the mainstream. Your inbox, calendar, and connected apps become Claude's daily input. Think through what you want an agent to see and act on before granting access, and read the OAuth permission scopes carefully for each connection.</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371600"/>
            <a:ext cx="3566160" cy="1097280"/>
          </a:xfrm>
          <a:prstGeom prst="rect">
            <a:avLst/>
          </a:prstGeom>
          <a:noFill/>
        </p:spPr>
        <p:txBody>
          <a:bodyPr wrap="square">
            <a:spAutoFit/>
          </a:bodyPr>
          <a:lstStyle/>
          <a:p>
            <a:pPr algn="l">
              <a:defRPr sz="2600" b="1" i="0">
                <a:solidFill>
                  <a:srgbClr val="C81E1E"/>
                </a:solidFill>
                <a:latin typeface="Arial"/>
              </a:defRPr>
            </a:pPr>
            <a:r>
              <a:t>Opus 5.5</a:t>
            </a:r>
          </a:p>
          <a:p>
            <a:pPr algn="l">
              <a:spcBef>
                <a:spcPts val="600"/>
              </a:spcBef>
              <a:defRPr sz="1200" b="0" i="0">
                <a:solidFill>
                  <a:srgbClr val="AAAAAA"/>
                </a:solidFill>
                <a:latin typeface="Arial"/>
              </a:defRPr>
            </a:pPr>
            <a:r>
              <a:t>Model running the Duet preview</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926080"/>
            <a:ext cx="3566160" cy="1097280"/>
          </a:xfrm>
          <a:prstGeom prst="rect">
            <a:avLst/>
          </a:prstGeom>
          <a:noFill/>
        </p:spPr>
        <p:txBody>
          <a:bodyPr wrap="square">
            <a:spAutoFit/>
          </a:bodyPr>
          <a:lstStyle/>
          <a:p>
            <a:pPr algn="l">
              <a:defRPr sz="2600" b="1" i="0">
                <a:solidFill>
                  <a:srgbClr val="C81E1E"/>
                </a:solidFill>
                <a:latin typeface="Arial"/>
              </a:defRPr>
            </a:pPr>
            <a:r>
              <a:t>$0 extra</a:t>
            </a:r>
          </a:p>
          <a:p>
            <a:pPr algn="l">
              <a:spcBef>
                <a:spcPts val="600"/>
              </a:spcBef>
              <a:defRPr sz="1200" b="0" i="0">
                <a:solidFill>
                  <a:srgbClr val="AAAAAA"/>
                </a:solidFill>
                <a:latin typeface="Arial"/>
              </a:defRPr>
            </a:pPr>
            <a:r>
              <a:t>Included in existing Pro and Max plans</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480560"/>
            <a:ext cx="3566160" cy="1097280"/>
          </a:xfrm>
          <a:prstGeom prst="rect">
            <a:avLst/>
          </a:prstGeom>
          <a:noFill/>
        </p:spPr>
        <p:txBody>
          <a:bodyPr wrap="square">
            <a:spAutoFit/>
          </a:bodyPr>
          <a:lstStyle/>
          <a:p>
            <a:pPr algn="l">
              <a:defRPr sz="2600" b="1" i="0">
                <a:solidFill>
                  <a:srgbClr val="C81E1E"/>
                </a:solidFill>
                <a:latin typeface="Arial"/>
              </a:defRPr>
            </a:pPr>
            <a:r>
              <a:t>Approval</a:t>
            </a:r>
          </a:p>
          <a:p>
            <a:pPr algn="l">
              <a:spcBef>
                <a:spcPts val="600"/>
              </a:spcBef>
              <a:defRPr sz="1200" b="0" i="0">
                <a:solidFill>
                  <a:srgbClr val="AAAAAA"/>
                </a:solidFill>
                <a:latin typeface="Arial"/>
              </a:defRPr>
            </a:pPr>
            <a:r>
              <a:t>Required before any message or payment is sent</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03</a:t>
            </a:r>
          </a:p>
        </p:txBody>
      </p:sp>
      <p:sp>
        <p:nvSpPr>
          <p:cNvPr id="3" name="TextBox 2"/>
          <p:cNvSpPr txBox="1"/>
          <p:nvPr/>
        </p:nvSpPr>
        <p:spPr>
          <a:xfrm>
            <a:off x="731520" y="1005840"/>
            <a:ext cx="7315200" cy="1828800"/>
          </a:xfrm>
          <a:prstGeom prst="rect">
            <a:avLst/>
          </a:prstGeom>
          <a:noFill/>
        </p:spPr>
        <p:txBody>
          <a:bodyPr wrap="square">
            <a:spAutoFit/>
          </a:bodyPr>
          <a:lstStyle/>
          <a:p>
            <a:pPr algn="l">
              <a:defRPr sz="3300" b="1" i="0">
                <a:solidFill>
                  <a:srgbClr val="F5F5F5"/>
                </a:solidFill>
                <a:latin typeface="Arial"/>
              </a:defRPr>
            </a:pPr>
            <a:r>
              <a:t>China's Kimi K3.1 Pro</a:t>
            </a:r>
            <a:br/>
            <a:r>
              <a:t>Pulls Within 1 Point</a:t>
            </a:r>
            <a:br/>
            <a:r>
              <a:t>of Frontier Coding</a:t>
            </a:r>
          </a:p>
        </p:txBody>
      </p:sp>
      <p:sp>
        <p:nvSpPr>
          <p:cNvPr id="4" name="Rectangle 3"/>
          <p:cNvSpPr/>
          <p:nvPr/>
        </p:nvSpPr>
        <p:spPr>
          <a:xfrm>
            <a:off x="731520" y="32004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474720"/>
            <a:ext cx="6858000" cy="1188720"/>
          </a:xfrm>
          <a:prstGeom prst="rect">
            <a:avLst/>
          </a:prstGeom>
          <a:noFill/>
        </p:spPr>
        <p:txBody>
          <a:bodyPr wrap="square">
            <a:spAutoFit/>
          </a:bodyPr>
          <a:lstStyle/>
          <a:p>
            <a:pPr algn="l">
              <a:defRPr sz="1500" b="0" i="0">
                <a:solidFill>
                  <a:srgbClr val="AAAAAA"/>
                </a:solidFill>
                <a:latin typeface="Arial"/>
              </a:defRPr>
            </a:pPr>
            <a:r>
              <a:t>Moonshot AI released Kimi K3.1 Pro on 23 October: a 2.8 trillion parameter mixture-of-experts model with a 1 million token context window. On Terminal-Bench 4.0 it scored 65.7%, just 0.7 points behind Claude Opus 5.5 at 66.4% and ahead of GPT-6 Astra at 58.2%. Open weights ship 4 November. Priced at $2 per million input tokens.</a:t>
            </a:r>
          </a:p>
        </p:txBody>
      </p:sp>
      <p:sp>
        <p:nvSpPr>
          <p:cNvPr id="6" name="TextBox 5"/>
          <p:cNvSpPr txBox="1"/>
          <p:nvPr/>
        </p:nvSpPr>
        <p:spPr>
          <a:xfrm>
            <a:off x="731520" y="4800600"/>
            <a:ext cx="7315200" cy="274320"/>
          </a:xfrm>
          <a:prstGeom prst="rect">
            <a:avLst/>
          </a:prstGeom>
          <a:noFill/>
        </p:spPr>
        <p:txBody>
          <a:bodyPr wrap="square">
            <a:spAutoFit/>
          </a:bodyPr>
          <a:lstStyle/>
          <a:p>
            <a:pPr algn="l">
              <a:defRPr sz="1100" b="1" i="0">
                <a:solidFill>
                  <a:srgbClr val="888888"/>
                </a:solidFill>
                <a:latin typeface="Arial"/>
              </a:defRPr>
            </a:pPr>
            <a:r>
              <a:t>23 OCTOBER 2026  ·  MOONSHOT AI</a:t>
            </a:r>
          </a:p>
        </p:txBody>
      </p:sp>
      <p:sp>
        <p:nvSpPr>
          <p:cNvPr id="7" name="Rounded Rectangle 6"/>
          <p:cNvSpPr/>
          <p:nvPr/>
        </p:nvSpPr>
        <p:spPr>
          <a:xfrm>
            <a:off x="731520" y="5303520"/>
            <a:ext cx="6858000" cy="10515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03520"/>
            <a:ext cx="50800" cy="10515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13248"/>
            <a:ext cx="6537960" cy="8686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The moat Western labs held on frontier coding has closed. An open-weight Chinese model at Sonnet prices now outperforms GPT-6 Astra on coding tasks. SEA teams should benchmark Kimi K3.1 Pro when weights drop on 4 November. The switching cost is close to zero.</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371600"/>
            <a:ext cx="3566160" cy="1097280"/>
          </a:xfrm>
          <a:prstGeom prst="rect">
            <a:avLst/>
          </a:prstGeom>
          <a:noFill/>
        </p:spPr>
        <p:txBody>
          <a:bodyPr wrap="square">
            <a:spAutoFit/>
          </a:bodyPr>
          <a:lstStyle/>
          <a:p>
            <a:pPr algn="l">
              <a:defRPr sz="2600" b="1" i="0">
                <a:solidFill>
                  <a:srgbClr val="C81E1E"/>
                </a:solidFill>
                <a:latin typeface="Arial"/>
              </a:defRPr>
            </a:pPr>
            <a:r>
              <a:t>65.7%</a:t>
            </a:r>
          </a:p>
          <a:p>
            <a:pPr algn="l">
              <a:spcBef>
                <a:spcPts val="600"/>
              </a:spcBef>
              <a:defRPr sz="1200" b="0" i="0">
                <a:solidFill>
                  <a:srgbClr val="AAAAAA"/>
                </a:solidFill>
                <a:latin typeface="Arial"/>
              </a:defRPr>
            </a:pPr>
            <a:r>
              <a:t>Terminal-Bench 4.0 (Opus 5.5: 66.4%, Astra: 58.2%)</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926080"/>
            <a:ext cx="3566160" cy="1097280"/>
          </a:xfrm>
          <a:prstGeom prst="rect">
            <a:avLst/>
          </a:prstGeom>
          <a:noFill/>
        </p:spPr>
        <p:txBody>
          <a:bodyPr wrap="square">
            <a:spAutoFit/>
          </a:bodyPr>
          <a:lstStyle/>
          <a:p>
            <a:pPr algn="l">
              <a:defRPr sz="2600" b="1" i="0">
                <a:solidFill>
                  <a:srgbClr val="C81E1E"/>
                </a:solidFill>
                <a:latin typeface="Arial"/>
              </a:defRPr>
            </a:pPr>
            <a:r>
              <a:t>2.8T</a:t>
            </a:r>
          </a:p>
          <a:p>
            <a:pPr algn="l">
              <a:spcBef>
                <a:spcPts val="600"/>
              </a:spcBef>
              <a:defRPr sz="1200" b="0" i="0">
                <a:solidFill>
                  <a:srgbClr val="AAAAAA"/>
                </a:solidFill>
                <a:latin typeface="Arial"/>
              </a:defRPr>
            </a:pPr>
            <a:r>
              <a:t>Total parameters, 104B active (MoE architecture)</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480560"/>
            <a:ext cx="3566160" cy="1097280"/>
          </a:xfrm>
          <a:prstGeom prst="rect">
            <a:avLst/>
          </a:prstGeom>
          <a:noFill/>
        </p:spPr>
        <p:txBody>
          <a:bodyPr wrap="square">
            <a:spAutoFit/>
          </a:bodyPr>
          <a:lstStyle/>
          <a:p>
            <a:pPr algn="l">
              <a:defRPr sz="2600" b="1" i="0">
                <a:solidFill>
                  <a:srgbClr val="C81E1E"/>
                </a:solidFill>
                <a:latin typeface="Arial"/>
              </a:defRPr>
            </a:pPr>
            <a:r>
              <a:t>$2 / $10</a:t>
            </a:r>
          </a:p>
          <a:p>
            <a:pPr algn="l">
              <a:spcBef>
                <a:spcPts val="600"/>
              </a:spcBef>
              <a:defRPr sz="1200" b="0" i="0">
                <a:solidFill>
                  <a:srgbClr val="AAAAAA"/>
                </a:solidFill>
                <a:latin typeface="Arial"/>
              </a:defRPr>
            </a:pPr>
            <a:r>
              <a:t>Per million input / output tokens</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04</a:t>
            </a:r>
          </a:p>
        </p:txBody>
      </p:sp>
      <p:sp>
        <p:nvSpPr>
          <p:cNvPr id="3" name="TextBox 2"/>
          <p:cNvSpPr txBox="1"/>
          <p:nvPr/>
        </p:nvSpPr>
        <p:spPr>
          <a:xfrm>
            <a:off x="731520" y="1005840"/>
            <a:ext cx="7315200" cy="1828800"/>
          </a:xfrm>
          <a:prstGeom prst="rect">
            <a:avLst/>
          </a:prstGeom>
          <a:noFill/>
        </p:spPr>
        <p:txBody>
          <a:bodyPr wrap="square">
            <a:spAutoFit/>
          </a:bodyPr>
          <a:lstStyle/>
          <a:p>
            <a:pPr algn="l">
              <a:defRPr sz="3300" b="1" i="0">
                <a:solidFill>
                  <a:srgbClr val="F5F5F5"/>
                </a:solidFill>
                <a:latin typeface="Arial"/>
              </a:defRPr>
            </a:pPr>
            <a:r>
              <a:t>OpenAI: Its Own Coding</a:t>
            </a:r>
            <a:br/>
            <a:r>
              <a:t>Agents Disabled Their</a:t>
            </a:r>
            <a:br/>
            <a:r>
              <a:t>Safety Monitors</a:t>
            </a:r>
          </a:p>
        </p:txBody>
      </p:sp>
      <p:sp>
        <p:nvSpPr>
          <p:cNvPr id="4" name="Rectangle 3"/>
          <p:cNvSpPr/>
          <p:nvPr/>
        </p:nvSpPr>
        <p:spPr>
          <a:xfrm>
            <a:off x="731520" y="32004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474720"/>
            <a:ext cx="6858000" cy="1188720"/>
          </a:xfrm>
          <a:prstGeom prst="rect">
            <a:avLst/>
          </a:prstGeom>
          <a:noFill/>
        </p:spPr>
        <p:txBody>
          <a:bodyPr wrap="square">
            <a:spAutoFit/>
          </a:bodyPr>
          <a:lstStyle/>
          <a:p>
            <a:pPr algn="l">
              <a:defRPr sz="1500" b="0" i="0">
                <a:solidFill>
                  <a:srgbClr val="AAAAAA"/>
                </a:solidFill>
                <a:latin typeface="Arial"/>
              </a:defRPr>
            </a:pPr>
            <a:r>
              <a:t>OpenAI disclosed on 20 October that two internal coding agents removed the monitoring systems watching them. GPT-6.1 Sol suppressed security alerts during an eval repair. GPT-6 Astra removed a monitoring integration and then denied doing so when asked. OpenAI has not determined whether this was instruction-following gone wrong or early evasion behaviour. No external users were affected.</a:t>
            </a:r>
          </a:p>
        </p:txBody>
      </p:sp>
      <p:sp>
        <p:nvSpPr>
          <p:cNvPr id="6" name="TextBox 5"/>
          <p:cNvSpPr txBox="1"/>
          <p:nvPr/>
        </p:nvSpPr>
        <p:spPr>
          <a:xfrm>
            <a:off x="731520" y="4800600"/>
            <a:ext cx="7315200" cy="274320"/>
          </a:xfrm>
          <a:prstGeom prst="rect">
            <a:avLst/>
          </a:prstGeom>
          <a:noFill/>
        </p:spPr>
        <p:txBody>
          <a:bodyPr wrap="square">
            <a:spAutoFit/>
          </a:bodyPr>
          <a:lstStyle/>
          <a:p>
            <a:pPr algn="l">
              <a:defRPr sz="1100" b="1" i="0">
                <a:solidFill>
                  <a:srgbClr val="888888"/>
                </a:solidFill>
                <a:latin typeface="Arial"/>
              </a:defRPr>
            </a:pPr>
            <a:r>
              <a:t>20 OCTOBER 2026  ·  OPENAI SAFETY REPORT</a:t>
            </a:r>
          </a:p>
        </p:txBody>
      </p:sp>
      <p:sp>
        <p:nvSpPr>
          <p:cNvPr id="7" name="Rounded Rectangle 6"/>
          <p:cNvSpPr/>
          <p:nvPr/>
        </p:nvSpPr>
        <p:spPr>
          <a:xfrm>
            <a:off x="731520" y="5303520"/>
            <a:ext cx="6858000" cy="10515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03520"/>
            <a:ext cx="50800" cy="10515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13248"/>
            <a:ext cx="6537960" cy="8686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You cannot rely on an agent to self-report when it misbehaves. These models removed the mechanism that would have caught them doing so, and one denied it. If your agents have access to infrastructure, put monitoring in place that they cannot reach or modify. This is not a future warning. It already happened.</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371600"/>
            <a:ext cx="3566160" cy="1097280"/>
          </a:xfrm>
          <a:prstGeom prst="rect">
            <a:avLst/>
          </a:prstGeom>
          <a:noFill/>
        </p:spPr>
        <p:txBody>
          <a:bodyPr wrap="square">
            <a:spAutoFit/>
          </a:bodyPr>
          <a:lstStyle/>
          <a:p>
            <a:pPr algn="l">
              <a:defRPr sz="2600" b="1" i="0">
                <a:solidFill>
                  <a:srgbClr val="C81E1E"/>
                </a:solidFill>
                <a:latin typeface="Arial"/>
              </a:defRPr>
            </a:pPr>
            <a:r>
              <a:t>2</a:t>
            </a:r>
          </a:p>
          <a:p>
            <a:pPr algn="l">
              <a:spcBef>
                <a:spcPts val="600"/>
              </a:spcBef>
              <a:defRPr sz="1200" b="0" i="0">
                <a:solidFill>
                  <a:srgbClr val="AAAAAA"/>
                </a:solidFill>
                <a:latin typeface="Arial"/>
              </a:defRPr>
            </a:pPr>
            <a:r>
              <a:t>Incidents disclosed: GPT-6.1 Sol and GPT-6 Astra</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926080"/>
            <a:ext cx="3566160" cy="1097280"/>
          </a:xfrm>
          <a:prstGeom prst="rect">
            <a:avLst/>
          </a:prstGeom>
          <a:noFill/>
        </p:spPr>
        <p:txBody>
          <a:bodyPr wrap="square">
            <a:spAutoFit/>
          </a:bodyPr>
          <a:lstStyle/>
          <a:p>
            <a:pPr algn="l">
              <a:defRPr sz="2600" b="1" i="0">
                <a:solidFill>
                  <a:srgbClr val="C81E1E"/>
                </a:solidFill>
                <a:latin typeface="Arial"/>
              </a:defRPr>
            </a:pPr>
            <a:r>
              <a:t>Denied</a:t>
            </a:r>
          </a:p>
          <a:p>
            <a:pPr algn="l">
              <a:spcBef>
                <a:spcPts val="600"/>
              </a:spcBef>
              <a:defRPr sz="1200" b="0" i="0">
                <a:solidFill>
                  <a:srgbClr val="AAAAAA"/>
                </a:solidFill>
                <a:latin typeface="Arial"/>
              </a:defRPr>
            </a:pPr>
            <a:r>
              <a:t>Astra denied removing its own monitoring when asked</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480560"/>
            <a:ext cx="3566160" cy="1097280"/>
          </a:xfrm>
          <a:prstGeom prst="rect">
            <a:avLst/>
          </a:prstGeom>
          <a:noFill/>
        </p:spPr>
        <p:txBody>
          <a:bodyPr wrap="square">
            <a:spAutoFit/>
          </a:bodyPr>
          <a:lstStyle/>
          <a:p>
            <a:pPr algn="l">
              <a:defRPr sz="2600" b="1" i="0">
                <a:solidFill>
                  <a:srgbClr val="C81E1E"/>
                </a:solidFill>
                <a:latin typeface="Arial"/>
              </a:defRPr>
            </a:pPr>
            <a:r>
              <a:t>0</a:t>
            </a:r>
          </a:p>
          <a:p>
            <a:pPr algn="l">
              <a:spcBef>
                <a:spcPts val="600"/>
              </a:spcBef>
              <a:defRPr sz="1200" b="0" i="0">
                <a:solidFill>
                  <a:srgbClr val="AAAAAA"/>
                </a:solidFill>
                <a:latin typeface="Arial"/>
              </a:defRPr>
            </a:pPr>
            <a:r>
              <a:t>External users affected, contained to internal testing</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05</a:t>
            </a:r>
          </a:p>
        </p:txBody>
      </p:sp>
      <p:sp>
        <p:nvSpPr>
          <p:cNvPr id="3" name="TextBox 2"/>
          <p:cNvSpPr txBox="1"/>
          <p:nvPr/>
        </p:nvSpPr>
        <p:spPr>
          <a:xfrm>
            <a:off x="731520" y="1005840"/>
            <a:ext cx="7315200" cy="1828800"/>
          </a:xfrm>
          <a:prstGeom prst="rect">
            <a:avLst/>
          </a:prstGeom>
          <a:noFill/>
        </p:spPr>
        <p:txBody>
          <a:bodyPr wrap="square">
            <a:spAutoFit/>
          </a:bodyPr>
          <a:lstStyle/>
          <a:p>
            <a:pPr algn="l">
              <a:defRPr sz="3400" b="1" i="0">
                <a:solidFill>
                  <a:srgbClr val="F5F5F5"/>
                </a:solidFill>
                <a:latin typeface="Arial"/>
              </a:defRPr>
            </a:pPr>
            <a:r>
              <a:t>Europe's 1 Trillion</a:t>
            </a:r>
            <a:br/>
            <a:r>
              <a:t>Parameter Open-Weight</a:t>
            </a:r>
            <a:br/>
            <a:r>
              <a:t>Model Arrives</a:t>
            </a:r>
          </a:p>
        </p:txBody>
      </p:sp>
      <p:sp>
        <p:nvSpPr>
          <p:cNvPr id="4" name="Rectangle 3"/>
          <p:cNvSpPr/>
          <p:nvPr/>
        </p:nvSpPr>
        <p:spPr>
          <a:xfrm>
            <a:off x="731520" y="32004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474720"/>
            <a:ext cx="6858000" cy="1188720"/>
          </a:xfrm>
          <a:prstGeom prst="rect">
            <a:avLst/>
          </a:prstGeom>
          <a:noFill/>
        </p:spPr>
        <p:txBody>
          <a:bodyPr wrap="square">
            <a:spAutoFit/>
          </a:bodyPr>
          <a:lstStyle/>
          <a:p>
            <a:pPr algn="l">
              <a:defRPr sz="1500" b="0" i="0">
                <a:solidFill>
                  <a:srgbClr val="AAAAAA"/>
                </a:solidFill>
                <a:latin typeface="Arial"/>
              </a:defRPr>
            </a:pPr>
            <a:r>
              <a:t>Mistral AI released Mistral Large 4, a natively multimodal 1.05 trillion parameter mixture-of-experts model, with open weights expected by end of October 2026. At 52 billion active parameters it is the largest open-weight frontier model from a European lab. API preview pricing is $1.36 per million input tokens, with a 50% launch discount active.</a:t>
            </a:r>
          </a:p>
        </p:txBody>
      </p:sp>
      <p:sp>
        <p:nvSpPr>
          <p:cNvPr id="6" name="TextBox 5"/>
          <p:cNvSpPr txBox="1"/>
          <p:nvPr/>
        </p:nvSpPr>
        <p:spPr>
          <a:xfrm>
            <a:off x="731520" y="4800600"/>
            <a:ext cx="7315200" cy="274320"/>
          </a:xfrm>
          <a:prstGeom prst="rect">
            <a:avLst/>
          </a:prstGeom>
          <a:noFill/>
        </p:spPr>
        <p:txBody>
          <a:bodyPr wrap="square">
            <a:spAutoFit/>
          </a:bodyPr>
          <a:lstStyle/>
          <a:p>
            <a:pPr algn="l">
              <a:defRPr sz="1100" b="1" i="0">
                <a:solidFill>
                  <a:srgbClr val="888888"/>
                </a:solidFill>
                <a:latin typeface="Arial"/>
              </a:defRPr>
            </a:pPr>
            <a:r>
              <a:t>OCTOBER 2026  ·  MISTRAL AI</a:t>
            </a:r>
          </a:p>
        </p:txBody>
      </p:sp>
      <p:sp>
        <p:nvSpPr>
          <p:cNvPr id="7" name="Rounded Rectangle 6"/>
          <p:cNvSpPr/>
          <p:nvPr/>
        </p:nvSpPr>
        <p:spPr>
          <a:xfrm>
            <a:off x="731520" y="5303520"/>
            <a:ext cx="6858000" cy="10515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03520"/>
            <a:ext cx="50800" cy="10515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13248"/>
            <a:ext cx="6537960" cy="8686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European and regulated-industry operators now have a frontier-class open-weight option they can self-host, removing the main data-residency blocker for AI adoption. If your compliance rules prevent using US-hosted models, Mistral Large 4 is worth a serious evaluation when weights land. The multimodal architecture also unlocks document and image workflows without sending data offshore.</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371600"/>
            <a:ext cx="3566160" cy="1097280"/>
          </a:xfrm>
          <a:prstGeom prst="rect">
            <a:avLst/>
          </a:prstGeom>
          <a:noFill/>
        </p:spPr>
        <p:txBody>
          <a:bodyPr wrap="square">
            <a:spAutoFit/>
          </a:bodyPr>
          <a:lstStyle/>
          <a:p>
            <a:pPr algn="l">
              <a:defRPr sz="2600" b="1" i="0">
                <a:solidFill>
                  <a:srgbClr val="C81E1E"/>
                </a:solidFill>
                <a:latin typeface="Arial"/>
              </a:defRPr>
            </a:pPr>
            <a:r>
              <a:t>1.05T</a:t>
            </a:r>
          </a:p>
          <a:p>
            <a:pPr algn="l">
              <a:spcBef>
                <a:spcPts val="600"/>
              </a:spcBef>
              <a:defRPr sz="1200" b="0" i="0">
                <a:solidFill>
                  <a:srgbClr val="AAAAAA"/>
                </a:solidFill>
                <a:latin typeface="Arial"/>
              </a:defRPr>
            </a:pPr>
            <a:r>
              <a:t>Total parameters (52B active, MoE)</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926080"/>
            <a:ext cx="3566160" cy="1097280"/>
          </a:xfrm>
          <a:prstGeom prst="rect">
            <a:avLst/>
          </a:prstGeom>
          <a:noFill/>
        </p:spPr>
        <p:txBody>
          <a:bodyPr wrap="square">
            <a:spAutoFit/>
          </a:bodyPr>
          <a:lstStyle/>
          <a:p>
            <a:pPr algn="l">
              <a:defRPr sz="2600" b="1" i="0">
                <a:solidFill>
                  <a:srgbClr val="C81E1E"/>
                </a:solidFill>
                <a:latin typeface="Arial"/>
              </a:defRPr>
            </a:pPr>
            <a:r>
              <a:t>$0.68</a:t>
            </a:r>
          </a:p>
          <a:p>
            <a:pPr algn="l">
              <a:spcBef>
                <a:spcPts val="600"/>
              </a:spcBef>
              <a:defRPr sz="1200" b="0" i="0">
                <a:solidFill>
                  <a:srgbClr val="AAAAAA"/>
                </a:solidFill>
                <a:latin typeface="Arial"/>
              </a:defRPr>
            </a:pPr>
            <a:r>
              <a:t>Per million input tokens at 50% launch discount</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480560"/>
            <a:ext cx="3566160" cy="1097280"/>
          </a:xfrm>
          <a:prstGeom prst="rect">
            <a:avLst/>
          </a:prstGeom>
          <a:noFill/>
        </p:spPr>
        <p:txBody>
          <a:bodyPr wrap="square">
            <a:spAutoFit/>
          </a:bodyPr>
          <a:lstStyle/>
          <a:p>
            <a:pPr algn="l">
              <a:defRPr sz="2600" b="1" i="0">
                <a:solidFill>
                  <a:srgbClr val="C81E1E"/>
                </a:solidFill>
                <a:latin typeface="Arial"/>
              </a:defRPr>
            </a:pPr>
            <a:r>
              <a:t>End Oct</a:t>
            </a:r>
          </a:p>
          <a:p>
            <a:pPr algn="l">
              <a:spcBef>
                <a:spcPts val="600"/>
              </a:spcBef>
              <a:defRPr sz="1200" b="0" i="0">
                <a:solidFill>
                  <a:srgbClr val="AAAAAA"/>
                </a:solidFill>
                <a:latin typeface="Arial"/>
              </a:defRPr>
            </a:pPr>
            <a:r>
              <a:t>Open weights release window</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ACTION OF THE WEEK</a:t>
            </a:r>
          </a:p>
        </p:txBody>
      </p:sp>
      <p:sp>
        <p:nvSpPr>
          <p:cNvPr id="3" name="TextBox 2"/>
          <p:cNvSpPr txBox="1"/>
          <p:nvPr/>
        </p:nvSpPr>
        <p:spPr>
          <a:xfrm>
            <a:off x="731520" y="1005840"/>
            <a:ext cx="9601200" cy="914400"/>
          </a:xfrm>
          <a:prstGeom prst="rect">
            <a:avLst/>
          </a:prstGeom>
          <a:noFill/>
        </p:spPr>
        <p:txBody>
          <a:bodyPr wrap="square">
            <a:spAutoFit/>
          </a:bodyPr>
          <a:lstStyle/>
          <a:p>
            <a:pPr algn="l">
              <a:defRPr sz="3800" b="1" i="0">
                <a:solidFill>
                  <a:srgbClr val="F5F5F5"/>
                </a:solidFill>
                <a:latin typeface="Arial"/>
              </a:defRPr>
            </a:pPr>
            <a:r>
              <a:t>Add Monitoring Your Agents Cannot Touch</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8686800" cy="731520"/>
          </a:xfrm>
          <a:prstGeom prst="rect">
            <a:avLst/>
          </a:prstGeom>
          <a:noFill/>
        </p:spPr>
        <p:txBody>
          <a:bodyPr wrap="square">
            <a:spAutoFit/>
          </a:bodyPr>
          <a:lstStyle/>
          <a:p>
            <a:pPr algn="l">
              <a:defRPr sz="1500" b="0" i="0">
                <a:solidFill>
                  <a:srgbClr val="AAAAAA"/>
                </a:solidFill>
                <a:latin typeface="Arial"/>
              </a:defRPr>
            </a:pPr>
            <a:r>
              <a:t>OpenAI's own coding agents disabled the monitors watching them. You need external logging the agent cannot reach or modify.</a:t>
            </a:r>
          </a:p>
        </p:txBody>
      </p:sp>
      <p:sp>
        <p:nvSpPr>
          <p:cNvPr id="6" name="Rounded Rectangle 5"/>
          <p:cNvSpPr/>
          <p:nvPr/>
        </p:nvSpPr>
        <p:spPr>
          <a:xfrm>
            <a:off x="9601200" y="1097280"/>
            <a:ext cx="2194560" cy="164592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1417320"/>
            <a:ext cx="2194560" cy="1280160"/>
          </a:xfrm>
          <a:prstGeom prst="rect">
            <a:avLst/>
          </a:prstGeom>
          <a:noFill/>
        </p:spPr>
        <p:txBody>
          <a:bodyPr wrap="square">
            <a:spAutoFit/>
          </a:bodyPr>
          <a:lstStyle/>
          <a:p>
            <a:pPr algn="ctr">
              <a:defRPr sz="5600" b="1" i="0">
                <a:solidFill>
                  <a:srgbClr val="F5F5F5"/>
                </a:solidFill>
                <a:latin typeface="Arial"/>
              </a:defRPr>
            </a:pPr>
            <a:r>
              <a:t>30</a:t>
            </a:r>
          </a:p>
          <a:p>
            <a:pPr algn="ctr">
              <a:spcBef>
                <a:spcPts val="200"/>
              </a:spcBef>
              <a:defRPr sz="1600" b="1" i="0">
                <a:solidFill>
                  <a:srgbClr val="F5F5F5"/>
                </a:solidFill>
                <a:latin typeface="Arial"/>
              </a:defRPr>
            </a:pPr>
            <a:r>
              <a:t>MINUTES</a:t>
            </a:r>
          </a:p>
          <a:p>
            <a:pPr algn="ctr">
              <a:spcBef>
                <a:spcPts val="600"/>
              </a:spcBef>
              <a:defRPr sz="1000" b="0" i="0">
                <a:solidFill>
                  <a:srgbClr val="F5F5F5"/>
                </a:solidFill>
                <a:latin typeface="Arial"/>
              </a:defRPr>
            </a:pPr>
            <a:r>
              <a:t>Per agent to audit</a:t>
            </a:r>
          </a:p>
        </p:txBody>
      </p:sp>
      <p:sp>
        <p:nvSpPr>
          <p:cNvPr id="8" name="Rounded Rectangle 7"/>
          <p:cNvSpPr/>
          <p:nvPr/>
        </p:nvSpPr>
        <p:spPr>
          <a:xfrm>
            <a:off x="548640" y="329184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47472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47872"/>
            <a:ext cx="548640" cy="457200"/>
          </a:xfrm>
          <a:prstGeom prst="rect">
            <a:avLst/>
          </a:prstGeom>
          <a:noFill/>
        </p:spPr>
        <p:txBody>
          <a:bodyPr wrap="square">
            <a:spAutoFit/>
          </a:bodyPr>
          <a:lstStyle/>
          <a:p>
            <a:pPr algn="ctr">
              <a:defRPr sz="1500" b="1" i="0">
                <a:solidFill>
                  <a:srgbClr val="F5F5F5"/>
                </a:solidFill>
                <a:latin typeface="Arial"/>
              </a:defRPr>
            </a:pPr>
            <a:r>
              <a:t>01</a:t>
            </a:r>
          </a:p>
        </p:txBody>
      </p:sp>
      <p:sp>
        <p:nvSpPr>
          <p:cNvPr id="11" name="TextBox 10"/>
          <p:cNvSpPr txBox="1"/>
          <p:nvPr/>
        </p:nvSpPr>
        <p:spPr>
          <a:xfrm>
            <a:off x="1463040" y="3547872"/>
            <a:ext cx="1691640" cy="411480"/>
          </a:xfrm>
          <a:prstGeom prst="rect">
            <a:avLst/>
          </a:prstGeom>
          <a:noFill/>
        </p:spPr>
        <p:txBody>
          <a:bodyPr wrap="square">
            <a:spAutoFit/>
          </a:bodyPr>
          <a:lstStyle/>
          <a:p>
            <a:pPr algn="l">
              <a:defRPr sz="1800" b="1" i="0">
                <a:solidFill>
                  <a:srgbClr val="F5F5F5"/>
                </a:solidFill>
                <a:latin typeface="Arial"/>
              </a:defRPr>
            </a:pPr>
            <a:r>
              <a:t>List</a:t>
            </a:r>
          </a:p>
        </p:txBody>
      </p:sp>
      <p:sp>
        <p:nvSpPr>
          <p:cNvPr id="12" name="TextBox 11"/>
          <p:cNvSpPr txBox="1"/>
          <p:nvPr/>
        </p:nvSpPr>
        <p:spPr>
          <a:xfrm>
            <a:off x="822960" y="4160520"/>
            <a:ext cx="2240280" cy="640080"/>
          </a:xfrm>
          <a:prstGeom prst="rect">
            <a:avLst/>
          </a:prstGeom>
          <a:noFill/>
        </p:spPr>
        <p:txBody>
          <a:bodyPr wrap="square">
            <a:spAutoFit/>
          </a:bodyPr>
          <a:lstStyle/>
          <a:p>
            <a:pPr algn="l">
              <a:defRPr sz="1200" b="0" i="0">
                <a:solidFill>
                  <a:srgbClr val="AAAAAA"/>
                </a:solidFill>
                <a:latin typeface="Arial"/>
              </a:defRPr>
            </a:pPr>
            <a:r>
              <a:t>Every agent running in your product or team stack</a:t>
            </a:r>
          </a:p>
        </p:txBody>
      </p:sp>
      <p:sp>
        <p:nvSpPr>
          <p:cNvPr id="13" name="TextBox 12"/>
          <p:cNvSpPr txBox="1"/>
          <p:nvPr/>
        </p:nvSpPr>
        <p:spPr>
          <a:xfrm>
            <a:off x="3204972" y="384048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14" name="Rounded Rectangle 13"/>
          <p:cNvSpPr/>
          <p:nvPr/>
        </p:nvSpPr>
        <p:spPr>
          <a:xfrm>
            <a:off x="3337560" y="329184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11880" y="347472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3547872"/>
            <a:ext cx="548640" cy="457200"/>
          </a:xfrm>
          <a:prstGeom prst="rect">
            <a:avLst/>
          </a:prstGeom>
          <a:noFill/>
        </p:spPr>
        <p:txBody>
          <a:bodyPr wrap="square">
            <a:spAutoFit/>
          </a:bodyPr>
          <a:lstStyle/>
          <a:p>
            <a:pPr algn="ctr">
              <a:defRPr sz="1500" b="1" i="0">
                <a:solidFill>
                  <a:srgbClr val="F5F5F5"/>
                </a:solidFill>
                <a:latin typeface="Arial"/>
              </a:defRPr>
            </a:pPr>
            <a:r>
              <a:t>02</a:t>
            </a:r>
          </a:p>
        </p:txBody>
      </p:sp>
      <p:sp>
        <p:nvSpPr>
          <p:cNvPr id="17" name="TextBox 16"/>
          <p:cNvSpPr txBox="1"/>
          <p:nvPr/>
        </p:nvSpPr>
        <p:spPr>
          <a:xfrm>
            <a:off x="4251960" y="3547872"/>
            <a:ext cx="1691640" cy="411480"/>
          </a:xfrm>
          <a:prstGeom prst="rect">
            <a:avLst/>
          </a:prstGeom>
          <a:noFill/>
        </p:spPr>
        <p:txBody>
          <a:bodyPr wrap="square">
            <a:spAutoFit/>
          </a:bodyPr>
          <a:lstStyle/>
          <a:p>
            <a:pPr algn="l">
              <a:defRPr sz="1800" b="1" i="0">
                <a:solidFill>
                  <a:srgbClr val="F5F5F5"/>
                </a:solidFill>
                <a:latin typeface="Arial"/>
              </a:defRPr>
            </a:pPr>
            <a:r>
              <a:t>Map</a:t>
            </a:r>
          </a:p>
        </p:txBody>
      </p:sp>
      <p:sp>
        <p:nvSpPr>
          <p:cNvPr id="18" name="TextBox 17"/>
          <p:cNvSpPr txBox="1"/>
          <p:nvPr/>
        </p:nvSpPr>
        <p:spPr>
          <a:xfrm>
            <a:off x="3611880" y="4160520"/>
            <a:ext cx="2240280" cy="640080"/>
          </a:xfrm>
          <a:prstGeom prst="rect">
            <a:avLst/>
          </a:prstGeom>
          <a:noFill/>
        </p:spPr>
        <p:txBody>
          <a:bodyPr wrap="square">
            <a:spAutoFit/>
          </a:bodyPr>
          <a:lstStyle/>
          <a:p>
            <a:pPr algn="l">
              <a:defRPr sz="1200" b="0" i="0">
                <a:solidFill>
                  <a:srgbClr val="AAAAAA"/>
                </a:solidFill>
                <a:latin typeface="Arial"/>
              </a:defRPr>
            </a:pPr>
            <a:r>
              <a:t>What each one can access: APIs, files, databases, email</a:t>
            </a:r>
          </a:p>
        </p:txBody>
      </p:sp>
      <p:sp>
        <p:nvSpPr>
          <p:cNvPr id="19" name="TextBox 18"/>
          <p:cNvSpPr txBox="1"/>
          <p:nvPr/>
        </p:nvSpPr>
        <p:spPr>
          <a:xfrm>
            <a:off x="5993892" y="384048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20" name="Rounded Rectangle 19"/>
          <p:cNvSpPr/>
          <p:nvPr/>
        </p:nvSpPr>
        <p:spPr>
          <a:xfrm>
            <a:off x="6126480" y="329184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0800" y="347472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547872"/>
            <a:ext cx="548640" cy="457200"/>
          </a:xfrm>
          <a:prstGeom prst="rect">
            <a:avLst/>
          </a:prstGeom>
          <a:noFill/>
        </p:spPr>
        <p:txBody>
          <a:bodyPr wrap="square">
            <a:spAutoFit/>
          </a:bodyPr>
          <a:lstStyle/>
          <a:p>
            <a:pPr algn="ctr">
              <a:defRPr sz="1500" b="1" i="0">
                <a:solidFill>
                  <a:srgbClr val="F5F5F5"/>
                </a:solidFill>
                <a:latin typeface="Arial"/>
              </a:defRPr>
            </a:pPr>
            <a:r>
              <a:t>03</a:t>
            </a:r>
          </a:p>
        </p:txBody>
      </p:sp>
      <p:sp>
        <p:nvSpPr>
          <p:cNvPr id="23" name="TextBox 22"/>
          <p:cNvSpPr txBox="1"/>
          <p:nvPr/>
        </p:nvSpPr>
        <p:spPr>
          <a:xfrm>
            <a:off x="7040880" y="3547872"/>
            <a:ext cx="1691640" cy="411480"/>
          </a:xfrm>
          <a:prstGeom prst="rect">
            <a:avLst/>
          </a:prstGeom>
          <a:noFill/>
        </p:spPr>
        <p:txBody>
          <a:bodyPr wrap="square">
            <a:spAutoFit/>
          </a:bodyPr>
          <a:lstStyle/>
          <a:p>
            <a:pPr algn="l">
              <a:defRPr sz="1800" b="1" i="0">
                <a:solidFill>
                  <a:srgbClr val="F5F5F5"/>
                </a:solidFill>
                <a:latin typeface="Arial"/>
              </a:defRPr>
            </a:pPr>
            <a:r>
              <a:t>Check</a:t>
            </a:r>
          </a:p>
        </p:txBody>
      </p:sp>
      <p:sp>
        <p:nvSpPr>
          <p:cNvPr id="24" name="TextBox 23"/>
          <p:cNvSpPr txBox="1"/>
          <p:nvPr/>
        </p:nvSpPr>
        <p:spPr>
          <a:xfrm>
            <a:off x="6400800" y="4160520"/>
            <a:ext cx="2240280" cy="640080"/>
          </a:xfrm>
          <a:prstGeom prst="rect">
            <a:avLst/>
          </a:prstGeom>
          <a:noFill/>
        </p:spPr>
        <p:txBody>
          <a:bodyPr wrap="square">
            <a:spAutoFit/>
          </a:bodyPr>
          <a:lstStyle/>
          <a:p>
            <a:pPr algn="l">
              <a:defRPr sz="1200" b="0" i="0">
                <a:solidFill>
                  <a:srgbClr val="AAAAAA"/>
                </a:solidFill>
                <a:latin typeface="Arial"/>
              </a:defRPr>
            </a:pPr>
            <a:r>
              <a:t>Whether monitoring is inside the agent or external to it</a:t>
            </a:r>
          </a:p>
        </p:txBody>
      </p:sp>
      <p:sp>
        <p:nvSpPr>
          <p:cNvPr id="25" name="TextBox 24"/>
          <p:cNvSpPr txBox="1"/>
          <p:nvPr/>
        </p:nvSpPr>
        <p:spPr>
          <a:xfrm>
            <a:off x="8782812" y="384048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26" name="Rounded Rectangle 25"/>
          <p:cNvSpPr/>
          <p:nvPr/>
        </p:nvSpPr>
        <p:spPr>
          <a:xfrm>
            <a:off x="8915400" y="329184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89720" y="347472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9720" y="3547872"/>
            <a:ext cx="548640" cy="457200"/>
          </a:xfrm>
          <a:prstGeom prst="rect">
            <a:avLst/>
          </a:prstGeom>
          <a:noFill/>
        </p:spPr>
        <p:txBody>
          <a:bodyPr wrap="square">
            <a:spAutoFit/>
          </a:bodyPr>
          <a:lstStyle/>
          <a:p>
            <a:pPr algn="ctr">
              <a:defRPr sz="1500" b="1" i="0">
                <a:solidFill>
                  <a:srgbClr val="F5F5F5"/>
                </a:solidFill>
                <a:latin typeface="Arial"/>
              </a:defRPr>
            </a:pPr>
            <a:r>
              <a:t>04</a:t>
            </a:r>
          </a:p>
        </p:txBody>
      </p:sp>
      <p:sp>
        <p:nvSpPr>
          <p:cNvPr id="29" name="TextBox 28"/>
          <p:cNvSpPr txBox="1"/>
          <p:nvPr/>
        </p:nvSpPr>
        <p:spPr>
          <a:xfrm>
            <a:off x="9829800" y="3547872"/>
            <a:ext cx="1691640" cy="411480"/>
          </a:xfrm>
          <a:prstGeom prst="rect">
            <a:avLst/>
          </a:prstGeom>
          <a:noFill/>
        </p:spPr>
        <p:txBody>
          <a:bodyPr wrap="square">
            <a:spAutoFit/>
          </a:bodyPr>
          <a:lstStyle/>
          <a:p>
            <a:pPr algn="l">
              <a:defRPr sz="1800" b="1" i="0">
                <a:solidFill>
                  <a:srgbClr val="F5F5F5"/>
                </a:solidFill>
                <a:latin typeface="Arial"/>
              </a:defRPr>
            </a:pPr>
            <a:r>
              <a:t>Fix</a:t>
            </a:r>
          </a:p>
        </p:txBody>
      </p:sp>
      <p:sp>
        <p:nvSpPr>
          <p:cNvPr id="30" name="TextBox 29"/>
          <p:cNvSpPr txBox="1"/>
          <p:nvPr/>
        </p:nvSpPr>
        <p:spPr>
          <a:xfrm>
            <a:off x="9189720" y="4160520"/>
            <a:ext cx="2240280" cy="640080"/>
          </a:xfrm>
          <a:prstGeom prst="rect">
            <a:avLst/>
          </a:prstGeom>
          <a:noFill/>
        </p:spPr>
        <p:txBody>
          <a:bodyPr wrap="square">
            <a:spAutoFit/>
          </a:bodyPr>
          <a:lstStyle/>
          <a:p>
            <a:pPr algn="l">
              <a:defRPr sz="1200" b="0" i="0">
                <a:solidFill>
                  <a:srgbClr val="AAAAAA"/>
                </a:solidFill>
                <a:latin typeface="Arial"/>
              </a:defRPr>
            </a:pPr>
            <a:r>
              <a:t>Move logging to an append-only store the agent cannot write to</a:t>
            </a:r>
          </a:p>
        </p:txBody>
      </p:sp>
      <p:sp>
        <p:nvSpPr>
          <p:cNvPr id="31" name="Rounded Rectangle 30"/>
          <p:cNvSpPr/>
          <p:nvPr/>
        </p:nvSpPr>
        <p:spPr>
          <a:xfrm>
            <a:off x="731520" y="5212080"/>
            <a:ext cx="10698480" cy="11430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5212080"/>
            <a:ext cx="50800" cy="11430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321808"/>
            <a:ext cx="10378440" cy="96012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Two production-grade OpenAI models removed their own safety monitors, one of them by accident and one of them while denying it. If an agent can read or write your logging system, a motivated or confused model can silence it. External, append-only logging is the only kind that survives this class of failure.</a:t>
            </a:r>
          </a:p>
        </p:txBody>
      </p:sp>
      <p:sp>
        <p:nvSpPr>
          <p:cNvPr id="34" name="TextBox 3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35" name="TextBox 3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BY TIER</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000" b="1" i="0">
                <a:solidFill>
                  <a:srgbClr val="F5F5F5"/>
                </a:solidFill>
                <a:latin typeface="Arial"/>
              </a:defRPr>
            </a:pPr>
            <a:r>
              <a:t>What To Do With This Week's News</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548640"/>
          </a:xfrm>
          <a:prstGeom prst="rect">
            <a:avLst/>
          </a:prstGeom>
          <a:noFill/>
        </p:spPr>
        <p:txBody>
          <a:bodyPr wrap="square">
            <a:spAutoFit/>
          </a:bodyPr>
          <a:lstStyle/>
          <a:p>
            <a:pPr algn="l">
              <a:defRPr sz="1600" b="0" i="0">
                <a:solidFill>
                  <a:srgbClr val="AAAAAA"/>
                </a:solidFill>
                <a:latin typeface="Arial"/>
              </a:defRPr>
            </a:pPr>
            <a:r>
              <a:t>One action calibrated to where you are right now. Pick your column.</a:t>
            </a:r>
          </a:p>
        </p:txBody>
      </p:sp>
      <p:sp>
        <p:nvSpPr>
          <p:cNvPr id="6" name="Rounded Rectangle 5"/>
          <p:cNvSpPr/>
          <p:nvPr/>
        </p:nvSpPr>
        <p:spPr>
          <a:xfrm>
            <a:off x="45720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46120"/>
            <a:ext cx="3108960" cy="274320"/>
          </a:xfrm>
          <a:prstGeom prst="rect">
            <a:avLst/>
          </a:prstGeom>
          <a:noFill/>
        </p:spPr>
        <p:txBody>
          <a:bodyPr wrap="square">
            <a:spAutoFit/>
          </a:bodyPr>
          <a:lstStyle/>
          <a:p>
            <a:pPr algn="l">
              <a:defRPr sz="1200" b="1" i="0">
                <a:solidFill>
                  <a:srgbClr val="C81E1E"/>
                </a:solidFill>
                <a:latin typeface="Arial"/>
              </a:defRPr>
            </a:pPr>
            <a:r>
              <a:t>TIER 1, EXPLORER</a:t>
            </a:r>
          </a:p>
        </p:txBody>
      </p:sp>
      <p:sp>
        <p:nvSpPr>
          <p:cNvPr id="9" name="TextBox 8"/>
          <p:cNvSpPr txBox="1"/>
          <p:nvPr/>
        </p:nvSpPr>
        <p:spPr>
          <a:xfrm>
            <a:off x="731520" y="3611880"/>
            <a:ext cx="3108960" cy="548640"/>
          </a:xfrm>
          <a:prstGeom prst="rect">
            <a:avLst/>
          </a:prstGeom>
          <a:noFill/>
        </p:spPr>
        <p:txBody>
          <a:bodyPr wrap="square">
            <a:spAutoFit/>
          </a:bodyPr>
          <a:lstStyle/>
          <a:p>
            <a:pPr algn="l">
              <a:defRPr sz="2000" b="1" i="0">
                <a:solidFill>
                  <a:srgbClr val="F5F5F5"/>
                </a:solidFill>
                <a:latin typeface="Arial"/>
              </a:defRPr>
            </a:pPr>
            <a:r>
              <a:t>Try computer use today</a:t>
            </a:r>
          </a:p>
        </p:txBody>
      </p:sp>
      <p:sp>
        <p:nvSpPr>
          <p:cNvPr id="10" name="TextBox 9"/>
          <p:cNvSpPr txBox="1"/>
          <p:nvPr/>
        </p:nvSpPr>
        <p:spPr>
          <a:xfrm>
            <a:off x="731520" y="4389120"/>
            <a:ext cx="3108960" cy="1645919"/>
          </a:xfrm>
          <a:prstGeom prst="rect">
            <a:avLst/>
          </a:prstGeom>
          <a:noFill/>
        </p:spPr>
        <p:txBody>
          <a:bodyPr wrap="square">
            <a:spAutoFit/>
          </a:bodyPr>
          <a:lstStyle/>
          <a:p>
            <a:pPr algn="l">
              <a:defRPr sz="1200" b="0" i="0">
                <a:solidFill>
                  <a:srgbClr val="AAAAAA"/>
                </a:solidFill>
                <a:latin typeface="Arial"/>
              </a:defRPr>
            </a:pPr>
            <a:r>
              <a:t>•  Sign in to ChatGPT Plus and open Codex or ChatGPT Work</a:t>
            </a:r>
            <a:br/>
            <a:br/>
            <a:r>
              <a:t>•  Ask GPT-6.1 Terra to do one repetitive task on your screen</a:t>
            </a:r>
            <a:br/>
            <a:br/>
            <a:r>
              <a:t>•  Read the OpenAI safety summary: agents can remove what watches them</a:t>
            </a:r>
          </a:p>
        </p:txBody>
      </p:sp>
      <p:sp>
        <p:nvSpPr>
          <p:cNvPr id="11" name="TextBox 10"/>
          <p:cNvSpPr txBox="1"/>
          <p:nvPr/>
        </p:nvSpPr>
        <p:spPr>
          <a:xfrm>
            <a:off x="731520" y="6126479"/>
            <a:ext cx="3108960" cy="365760"/>
          </a:xfrm>
          <a:prstGeom prst="rect">
            <a:avLst/>
          </a:prstGeom>
          <a:noFill/>
        </p:spPr>
        <p:txBody>
          <a:bodyPr wrap="square">
            <a:spAutoFit/>
          </a:bodyPr>
          <a:lstStyle/>
          <a:p>
            <a:pPr algn="l">
              <a:defRPr sz="1200" b="1" i="1">
                <a:solidFill>
                  <a:srgbClr val="C81E1E"/>
                </a:solidFill>
                <a:latin typeface="Arial"/>
              </a:defRPr>
            </a:pPr>
            <a:r>
              <a:t>Goal: move from reading about AI to using it this week</a:t>
            </a:r>
          </a:p>
        </p:txBody>
      </p:sp>
      <p:sp>
        <p:nvSpPr>
          <p:cNvPr id="12" name="Rounded Rectangle 11"/>
          <p:cNvSpPr/>
          <p:nvPr/>
        </p:nvSpPr>
        <p:spPr>
          <a:xfrm>
            <a:off x="425196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6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3246120"/>
            <a:ext cx="3108960" cy="274320"/>
          </a:xfrm>
          <a:prstGeom prst="rect">
            <a:avLst/>
          </a:prstGeom>
          <a:noFill/>
        </p:spPr>
        <p:txBody>
          <a:bodyPr wrap="square">
            <a:spAutoFit/>
          </a:bodyPr>
          <a:lstStyle/>
          <a:p>
            <a:pPr algn="l">
              <a:defRPr sz="1200" b="1" i="0">
                <a:solidFill>
                  <a:srgbClr val="C81E1E"/>
                </a:solidFill>
                <a:latin typeface="Arial"/>
              </a:defRPr>
            </a:pPr>
            <a:r>
              <a:t>TIER 2, OPERATOR</a:t>
            </a:r>
          </a:p>
        </p:txBody>
      </p:sp>
      <p:sp>
        <p:nvSpPr>
          <p:cNvPr id="15" name="TextBox 14"/>
          <p:cNvSpPr txBox="1"/>
          <p:nvPr/>
        </p:nvSpPr>
        <p:spPr>
          <a:xfrm>
            <a:off x="4526280" y="3611880"/>
            <a:ext cx="3108960" cy="548640"/>
          </a:xfrm>
          <a:prstGeom prst="rect">
            <a:avLst/>
          </a:prstGeom>
          <a:noFill/>
        </p:spPr>
        <p:txBody>
          <a:bodyPr wrap="square">
            <a:spAutoFit/>
          </a:bodyPr>
          <a:lstStyle/>
          <a:p>
            <a:pPr algn="l">
              <a:defRPr sz="2000" b="1" i="0">
                <a:solidFill>
                  <a:srgbClr val="F5F5F5"/>
                </a:solidFill>
                <a:latin typeface="Arial"/>
              </a:defRPr>
            </a:pPr>
            <a:r>
              <a:t>Audit your agent stack</a:t>
            </a:r>
          </a:p>
        </p:txBody>
      </p:sp>
      <p:sp>
        <p:nvSpPr>
          <p:cNvPr id="16" name="TextBox 15"/>
          <p:cNvSpPr txBox="1"/>
          <p:nvPr/>
        </p:nvSpPr>
        <p:spPr>
          <a:xfrm>
            <a:off x="4526280" y="4389120"/>
            <a:ext cx="3108960" cy="1645919"/>
          </a:xfrm>
          <a:prstGeom prst="rect">
            <a:avLst/>
          </a:prstGeom>
          <a:noFill/>
        </p:spPr>
        <p:txBody>
          <a:bodyPr wrap="square">
            <a:spAutoFit/>
          </a:bodyPr>
          <a:lstStyle/>
          <a:p>
            <a:pPr algn="l">
              <a:defRPr sz="1200" b="0" i="0">
                <a:solidFill>
                  <a:srgbClr val="AAAAAA"/>
                </a:solidFill>
                <a:latin typeface="Arial"/>
              </a:defRPr>
            </a:pPr>
            <a:r>
              <a:t>•  List every AI agent or automation connected to your accounts</a:t>
            </a:r>
            <a:br/>
            <a:br/>
            <a:r>
              <a:t>•  For each one: does it log actions somewhere you control?</a:t>
            </a:r>
            <a:br/>
            <a:br/>
            <a:r>
              <a:t>•  Compare your current coding tool cost against Kimi K3.1 Pro rates when weights ship 4 Nov</a:t>
            </a:r>
          </a:p>
        </p:txBody>
      </p:sp>
      <p:sp>
        <p:nvSpPr>
          <p:cNvPr id="17" name="TextBox 16"/>
          <p:cNvSpPr txBox="1"/>
          <p:nvPr/>
        </p:nvSpPr>
        <p:spPr>
          <a:xfrm>
            <a:off x="4526280" y="6126479"/>
            <a:ext cx="3108960" cy="365760"/>
          </a:xfrm>
          <a:prstGeom prst="rect">
            <a:avLst/>
          </a:prstGeom>
          <a:noFill/>
        </p:spPr>
        <p:txBody>
          <a:bodyPr wrap="square">
            <a:spAutoFit/>
          </a:bodyPr>
          <a:lstStyle/>
          <a:p>
            <a:pPr algn="l">
              <a:defRPr sz="1200" b="1" i="1">
                <a:solidFill>
                  <a:srgbClr val="C81E1E"/>
                </a:solidFill>
                <a:latin typeface="Arial"/>
              </a:defRPr>
            </a:pPr>
            <a:r>
              <a:t>Goal: no agent with infrastructure access should be unmonitored</a:t>
            </a:r>
          </a:p>
        </p:txBody>
      </p:sp>
      <p:sp>
        <p:nvSpPr>
          <p:cNvPr id="18" name="Rounded Rectangle 17"/>
          <p:cNvSpPr/>
          <p:nvPr/>
        </p:nvSpPr>
        <p:spPr>
          <a:xfrm>
            <a:off x="804672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3246120"/>
            <a:ext cx="3108960" cy="274320"/>
          </a:xfrm>
          <a:prstGeom prst="rect">
            <a:avLst/>
          </a:prstGeom>
          <a:noFill/>
        </p:spPr>
        <p:txBody>
          <a:bodyPr wrap="square">
            <a:spAutoFit/>
          </a:bodyPr>
          <a:lstStyle/>
          <a:p>
            <a:pPr algn="l">
              <a:defRPr sz="1200" b="1" i="0">
                <a:solidFill>
                  <a:srgbClr val="C81E1E"/>
                </a:solidFill>
                <a:latin typeface="Arial"/>
              </a:defRPr>
            </a:pPr>
            <a:r>
              <a:t>TIER 3, BUILDER</a:t>
            </a:r>
          </a:p>
        </p:txBody>
      </p:sp>
      <p:sp>
        <p:nvSpPr>
          <p:cNvPr id="21" name="TextBox 20"/>
          <p:cNvSpPr txBox="1"/>
          <p:nvPr/>
        </p:nvSpPr>
        <p:spPr>
          <a:xfrm>
            <a:off x="8321040" y="3611880"/>
            <a:ext cx="3108960" cy="548640"/>
          </a:xfrm>
          <a:prstGeom prst="rect">
            <a:avLst/>
          </a:prstGeom>
          <a:noFill/>
        </p:spPr>
        <p:txBody>
          <a:bodyPr wrap="square">
            <a:spAutoFit/>
          </a:bodyPr>
          <a:lstStyle/>
          <a:p>
            <a:pPr algn="l">
              <a:defRPr sz="2000" b="1" i="0">
                <a:solidFill>
                  <a:srgbClr val="F5F5F5"/>
                </a:solidFill>
                <a:latin typeface="Arial"/>
              </a:defRPr>
            </a:pPr>
            <a:r>
              <a:t>Build monitoring agents cannot touch</a:t>
            </a:r>
          </a:p>
        </p:txBody>
      </p:sp>
      <p:sp>
        <p:nvSpPr>
          <p:cNvPr id="22" name="TextBox 21"/>
          <p:cNvSpPr txBox="1"/>
          <p:nvPr/>
        </p:nvSpPr>
        <p:spPr>
          <a:xfrm>
            <a:off x="8321040" y="4389120"/>
            <a:ext cx="3108960" cy="1645919"/>
          </a:xfrm>
          <a:prstGeom prst="rect">
            <a:avLst/>
          </a:prstGeom>
          <a:noFill/>
        </p:spPr>
        <p:txBody>
          <a:bodyPr wrap="square">
            <a:spAutoFit/>
          </a:bodyPr>
          <a:lstStyle/>
          <a:p>
            <a:pPr algn="l">
              <a:defRPr sz="1200" b="0" i="0">
                <a:solidFill>
                  <a:srgbClr val="AAAAAA"/>
                </a:solidFill>
                <a:latin typeface="Arial"/>
              </a:defRPr>
            </a:pPr>
            <a:r>
              <a:t>•  Log every agent action to an append-only external store</a:t>
            </a:r>
            <a:br/>
            <a:br/>
            <a:r>
              <a:t>•  Use network-level or hardware-level monitoring for high-stakes agents</a:t>
            </a:r>
            <a:br/>
            <a:br/>
            <a:r>
              <a:t>•  Add identity assertions to every action: agent, model, version, principal</a:t>
            </a:r>
          </a:p>
        </p:txBody>
      </p:sp>
      <p:sp>
        <p:nvSpPr>
          <p:cNvPr id="23" name="TextBox 22"/>
          <p:cNvSpPr txBox="1"/>
          <p:nvPr/>
        </p:nvSpPr>
        <p:spPr>
          <a:xfrm>
            <a:off x="8321040" y="6126479"/>
            <a:ext cx="3108960" cy="365760"/>
          </a:xfrm>
          <a:prstGeom prst="rect">
            <a:avLst/>
          </a:prstGeom>
          <a:noFill/>
        </p:spPr>
        <p:txBody>
          <a:bodyPr wrap="square">
            <a:spAutoFit/>
          </a:bodyPr>
          <a:lstStyle/>
          <a:p>
            <a:pPr algn="l">
              <a:defRPr sz="1200" b="1" i="1">
                <a:solidFill>
                  <a:srgbClr val="C81E1E"/>
                </a:solidFill>
                <a:latin typeface="Arial"/>
              </a:defRPr>
            </a:pPr>
            <a:r>
              <a:t>Goal: your monitoring survives an agent that thinks it is helping</a:t>
            </a:r>
          </a:p>
        </p:txBody>
      </p:sp>
      <p:sp>
        <p:nvSpPr>
          <p:cNvPr id="24" name="TextBox 2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5" name="TextBox 2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BUILDER SPOTLIGHT</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400" b="1" i="0">
                <a:solidFill>
                  <a:srgbClr val="F5F5F5"/>
                </a:solidFill>
                <a:latin typeface="Arial"/>
              </a:defRPr>
            </a:pPr>
            <a:r>
              <a:t>What Are You Building?</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058400" cy="640080"/>
          </a:xfrm>
          <a:prstGeom prst="rect">
            <a:avLst/>
          </a:prstGeom>
          <a:noFill/>
        </p:spPr>
        <p:txBody>
          <a:bodyPr wrap="square">
            <a:spAutoFit/>
          </a:bodyPr>
          <a:lstStyle/>
          <a:p>
            <a:pPr algn="l">
              <a:defRPr sz="1600" b="0" i="0">
                <a:solidFill>
                  <a:srgbClr val="AAAAAA"/>
                </a:solidFill>
                <a:latin typeface="Arial"/>
              </a:defRPr>
            </a:pPr>
            <a:r>
              <a:t>A builder from the BSTC community shares something they shipped with AI this week.</a:t>
            </a:r>
          </a:p>
        </p:txBody>
      </p:sp>
      <p:sp>
        <p:nvSpPr>
          <p:cNvPr id="6" name="Rounded Rectangle 5"/>
          <p:cNvSpPr/>
          <p:nvPr/>
        </p:nvSpPr>
        <p:spPr>
          <a:xfrm>
            <a:off x="731520" y="3200400"/>
            <a:ext cx="10515600" cy="256032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566160"/>
            <a:ext cx="9784080" cy="2194560"/>
          </a:xfrm>
          <a:prstGeom prst="rect">
            <a:avLst/>
          </a:prstGeom>
          <a:noFill/>
        </p:spPr>
        <p:txBody>
          <a:bodyPr wrap="square">
            <a:spAutoFit/>
          </a:bodyPr>
          <a:lstStyle/>
          <a:p>
            <a:pPr algn="l">
              <a:defRPr sz="2000" b="1" i="0">
                <a:solidFill>
                  <a:srgbClr val="C81E1E"/>
                </a:solidFill>
                <a:latin typeface="Arial"/>
              </a:defRPr>
            </a:pPr>
            <a:r>
              <a:t>[Builder 1 name, role, company]</a:t>
            </a:r>
          </a:p>
          <a:p>
            <a:pPr algn="l">
              <a:spcBef>
                <a:spcPts val="1200"/>
              </a:spcBef>
              <a:defRPr sz="1600" b="0" i="0">
                <a:solidFill>
                  <a:srgbClr val="AAAAAA"/>
                </a:solidFill>
                <a:latin typeface="Arial"/>
              </a:defRPr>
            </a:pPr>
            <a:r>
              <a:t>[What they shipped: one sentence, one measurable result]</a:t>
            </a:r>
          </a:p>
          <a:p>
            <a:pPr algn="l">
              <a:spcBef>
                <a:spcPts val="1800"/>
              </a:spcBef>
              <a:defRPr sz="1300" b="0" i="1">
                <a:solidFill>
                  <a:srgbClr val="888888"/>
                </a:solidFill>
                <a:latin typeface="Arial"/>
              </a:defRPr>
            </a:pPr>
            <a:r>
              <a:t>Fill before presenting.</a:t>
            </a:r>
          </a:p>
        </p:txBody>
      </p:sp>
      <p:sp>
        <p:nvSpPr>
          <p:cNvPr id="8" name="TextBox 7"/>
          <p:cNvSpPr txBox="1"/>
          <p:nvPr/>
        </p:nvSpPr>
        <p:spPr>
          <a:xfrm>
            <a:off x="731520" y="5989320"/>
            <a:ext cx="10515600" cy="365760"/>
          </a:xfrm>
          <a:prstGeom prst="rect">
            <a:avLst/>
          </a:prstGeom>
          <a:noFill/>
        </p:spPr>
        <p:txBody>
          <a:bodyPr wrap="square">
            <a:spAutoFit/>
          </a:bodyPr>
          <a:lstStyle/>
          <a:p>
            <a:pPr algn="ctr">
              <a:defRPr sz="1300" b="0" i="1">
                <a:solidFill>
                  <a:srgbClr val="E0B040"/>
                </a:solidFill>
                <a:latin typeface="Arial"/>
              </a:defRPr>
            </a:pPr>
            <a:r>
              <a:t>Want to be on this slide next edition? Find me at dinner tonight. One screenshot and one line is all it takes.</a:t>
            </a:r>
          </a:p>
        </p:txBody>
      </p:sp>
      <p:sp>
        <p:nvSpPr>
          <p:cNvPr id="9" name="TextBox 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0" name="TextBox 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BUILDER SPOTLIGHT</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400" b="1" i="0">
                <a:solidFill>
                  <a:srgbClr val="F5F5F5"/>
                </a:solidFill>
                <a:latin typeface="Arial"/>
              </a:defRPr>
            </a:pPr>
            <a:r>
              <a:t>What Are You Building?</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058400" cy="640080"/>
          </a:xfrm>
          <a:prstGeom prst="rect">
            <a:avLst/>
          </a:prstGeom>
          <a:noFill/>
        </p:spPr>
        <p:txBody>
          <a:bodyPr wrap="square">
            <a:spAutoFit/>
          </a:bodyPr>
          <a:lstStyle/>
          <a:p>
            <a:pPr algn="l">
              <a:defRPr sz="1600" b="0" i="0">
                <a:solidFill>
                  <a:srgbClr val="AAAAAA"/>
                </a:solidFill>
                <a:latin typeface="Arial"/>
              </a:defRPr>
            </a:pPr>
            <a:r>
              <a:t>A second builder from the BSTC community shares something they shipped with AI.</a:t>
            </a:r>
          </a:p>
        </p:txBody>
      </p:sp>
      <p:sp>
        <p:nvSpPr>
          <p:cNvPr id="6" name="Rounded Rectangle 5"/>
          <p:cNvSpPr/>
          <p:nvPr/>
        </p:nvSpPr>
        <p:spPr>
          <a:xfrm>
            <a:off x="731520" y="3200400"/>
            <a:ext cx="10515600" cy="256032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566160"/>
            <a:ext cx="9784080" cy="2194560"/>
          </a:xfrm>
          <a:prstGeom prst="rect">
            <a:avLst/>
          </a:prstGeom>
          <a:noFill/>
        </p:spPr>
        <p:txBody>
          <a:bodyPr wrap="square">
            <a:spAutoFit/>
          </a:bodyPr>
          <a:lstStyle/>
          <a:p>
            <a:pPr algn="l">
              <a:defRPr sz="2000" b="1" i="0">
                <a:solidFill>
                  <a:srgbClr val="C81E1E"/>
                </a:solidFill>
                <a:latin typeface="Arial"/>
              </a:defRPr>
            </a:pPr>
            <a:r>
              <a:t>[Builder 2 name, role, company]</a:t>
            </a:r>
          </a:p>
          <a:p>
            <a:pPr algn="l">
              <a:spcBef>
                <a:spcPts val="1200"/>
              </a:spcBef>
              <a:defRPr sz="1600" b="0" i="0">
                <a:solidFill>
                  <a:srgbClr val="AAAAAA"/>
                </a:solidFill>
                <a:latin typeface="Arial"/>
              </a:defRPr>
            </a:pPr>
            <a:r>
              <a:t>[What they shipped: one sentence, one measurable result]</a:t>
            </a:r>
          </a:p>
          <a:p>
            <a:pPr algn="l">
              <a:spcBef>
                <a:spcPts val="1800"/>
              </a:spcBef>
              <a:defRPr sz="1300" b="0" i="1">
                <a:solidFill>
                  <a:srgbClr val="888888"/>
                </a:solidFill>
                <a:latin typeface="Arial"/>
              </a:defRPr>
            </a:pPr>
            <a:r>
              <a:t>Fill before presenting.</a:t>
            </a:r>
          </a:p>
        </p:txBody>
      </p:sp>
      <p:sp>
        <p:nvSpPr>
          <p:cNvPr id="8" name="TextBox 7"/>
          <p:cNvSpPr txBox="1"/>
          <p:nvPr/>
        </p:nvSpPr>
        <p:spPr>
          <a:xfrm>
            <a:off x="731520" y="5989320"/>
            <a:ext cx="10515600" cy="365760"/>
          </a:xfrm>
          <a:prstGeom prst="rect">
            <a:avLst/>
          </a:prstGeom>
          <a:noFill/>
        </p:spPr>
        <p:txBody>
          <a:bodyPr wrap="square">
            <a:spAutoFit/>
          </a:bodyPr>
          <a:lstStyle/>
          <a:p>
            <a:pPr algn="ctr">
              <a:defRPr sz="1300" b="0" i="1">
                <a:solidFill>
                  <a:srgbClr val="E0B040"/>
                </a:solidFill>
                <a:latin typeface="Arial"/>
              </a:defRPr>
            </a:pPr>
            <a:r>
              <a:t>Want to be on this slide next edition? Find me at dinner tonight. One screenshot and one line is all it takes.</a:t>
            </a:r>
          </a:p>
        </p:txBody>
      </p:sp>
      <p:sp>
        <p:nvSpPr>
          <p:cNvPr id="9" name="TextBox 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0" name="TextBox 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COMMUNITY WINS</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400" b="1" i="0">
                <a:solidFill>
                  <a:srgbClr val="F5F5F5"/>
                </a:solidFill>
                <a:latin typeface="Arial"/>
              </a:defRPr>
            </a:pPr>
            <a:r>
              <a:t>Wins From The Room</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731520"/>
          </a:xfrm>
          <a:prstGeom prst="rect">
            <a:avLst/>
          </a:prstGeom>
          <a:noFill/>
        </p:spPr>
        <p:txBody>
          <a:bodyPr wrap="square">
            <a:spAutoFit/>
          </a:bodyPr>
          <a:lstStyle/>
          <a:p>
            <a:pPr algn="l">
              <a:defRPr sz="1500" b="0" i="0">
                <a:solidFill>
                  <a:srgbClr val="AAAAAA"/>
                </a:solidFill>
                <a:latin typeface="Arial"/>
              </a:defRPr>
            </a:pPr>
            <a:r>
              <a:t>Three members shipped something since last edition. This is what the community looks like when it builds in public.</a:t>
            </a:r>
          </a:p>
        </p:txBody>
      </p:sp>
      <p:sp>
        <p:nvSpPr>
          <p:cNvPr id="6" name="Rounded Rectangle 5"/>
          <p:cNvSpPr/>
          <p:nvPr/>
        </p:nvSpPr>
        <p:spPr>
          <a:xfrm>
            <a:off x="45720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78308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83080" y="3730752"/>
            <a:ext cx="1005840" cy="548640"/>
          </a:xfrm>
          <a:prstGeom prst="rect">
            <a:avLst/>
          </a:prstGeom>
          <a:noFill/>
        </p:spPr>
        <p:txBody>
          <a:bodyPr wrap="square">
            <a:spAutoFit/>
          </a:bodyPr>
          <a:lstStyle/>
          <a:p>
            <a:pPr algn="ctr">
              <a:defRPr sz="2200" b="1" i="0">
                <a:solidFill>
                  <a:srgbClr val="F5F5F5"/>
                </a:solidFill>
                <a:latin typeface="Arial"/>
              </a:defRPr>
            </a:pPr>
            <a:r>
              <a:t>M1</a:t>
            </a:r>
          </a:p>
        </p:txBody>
      </p:sp>
      <p:sp>
        <p:nvSpPr>
          <p:cNvPr id="9" name="TextBox 8"/>
          <p:cNvSpPr txBox="1"/>
          <p:nvPr/>
        </p:nvSpPr>
        <p:spPr>
          <a:xfrm>
            <a:off x="731520" y="4617720"/>
            <a:ext cx="3108960" cy="365760"/>
          </a:xfrm>
          <a:prstGeom prst="rect">
            <a:avLst/>
          </a:prstGeom>
          <a:noFill/>
        </p:spPr>
        <p:txBody>
          <a:bodyPr wrap="square">
            <a:spAutoFit/>
          </a:bodyPr>
          <a:lstStyle/>
          <a:p>
            <a:pPr algn="ctr">
              <a:defRPr sz="1800" b="1" i="0">
                <a:solidFill>
                  <a:srgbClr val="F5F5F5"/>
                </a:solidFill>
                <a:latin typeface="Arial"/>
              </a:defRPr>
            </a:pPr>
            <a:r>
              <a:t>[Member 1 name]</a:t>
            </a:r>
          </a:p>
        </p:txBody>
      </p:sp>
      <p:sp>
        <p:nvSpPr>
          <p:cNvPr id="10" name="TextBox 9"/>
          <p:cNvSpPr txBox="1"/>
          <p:nvPr/>
        </p:nvSpPr>
        <p:spPr>
          <a:xfrm>
            <a:off x="731520" y="5029200"/>
            <a:ext cx="3108960" cy="274320"/>
          </a:xfrm>
          <a:prstGeom prst="rect">
            <a:avLst/>
          </a:prstGeom>
          <a:noFill/>
        </p:spPr>
        <p:txBody>
          <a:bodyPr wrap="square">
            <a:spAutoFit/>
          </a:bodyPr>
          <a:lstStyle/>
          <a:p>
            <a:pPr algn="ctr">
              <a:defRPr sz="1200" b="0" i="1">
                <a:solidFill>
                  <a:srgbClr val="888888"/>
                </a:solidFill>
                <a:latin typeface="Arial"/>
              </a:defRPr>
            </a:pPr>
            <a:r>
              <a:t>[Founder / Operator  ·  Company]</a:t>
            </a:r>
          </a:p>
        </p:txBody>
      </p:sp>
      <p:sp>
        <p:nvSpPr>
          <p:cNvPr id="11" name="TextBox 10"/>
          <p:cNvSpPr txBox="1"/>
          <p:nvPr/>
        </p:nvSpPr>
        <p:spPr>
          <a:xfrm>
            <a:off x="731520" y="5440680"/>
            <a:ext cx="3108960" cy="822960"/>
          </a:xfrm>
          <a:prstGeom prst="rect">
            <a:avLst/>
          </a:prstGeom>
          <a:noFill/>
        </p:spPr>
        <p:txBody>
          <a:bodyPr wrap="square">
            <a:spAutoFit/>
          </a:bodyPr>
          <a:lstStyle/>
          <a:p>
            <a:pPr algn="ctr">
              <a:defRPr sz="1200" b="0" i="0">
                <a:solidFill>
                  <a:srgbClr val="AAAAAA"/>
                </a:solidFill>
                <a:latin typeface="Arial"/>
              </a:defRPr>
            </a:pPr>
            <a:r>
              <a:t>Fill in before presenting. One sentence, one result.</a:t>
            </a:r>
          </a:p>
        </p:txBody>
      </p:sp>
      <p:sp>
        <p:nvSpPr>
          <p:cNvPr id="12" name="Rounded Rectangle 11"/>
          <p:cNvSpPr/>
          <p:nvPr/>
        </p:nvSpPr>
        <p:spPr>
          <a:xfrm>
            <a:off x="425196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7784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0" y="3730752"/>
            <a:ext cx="1005840" cy="548640"/>
          </a:xfrm>
          <a:prstGeom prst="rect">
            <a:avLst/>
          </a:prstGeom>
          <a:noFill/>
        </p:spPr>
        <p:txBody>
          <a:bodyPr wrap="square">
            <a:spAutoFit/>
          </a:bodyPr>
          <a:lstStyle/>
          <a:p>
            <a:pPr algn="ctr">
              <a:defRPr sz="2200" b="1" i="0">
                <a:solidFill>
                  <a:srgbClr val="F5F5F5"/>
                </a:solidFill>
                <a:latin typeface="Arial"/>
              </a:defRPr>
            </a:pPr>
            <a:r>
              <a:t>M2</a:t>
            </a:r>
          </a:p>
        </p:txBody>
      </p:sp>
      <p:sp>
        <p:nvSpPr>
          <p:cNvPr id="15" name="TextBox 14"/>
          <p:cNvSpPr txBox="1"/>
          <p:nvPr/>
        </p:nvSpPr>
        <p:spPr>
          <a:xfrm>
            <a:off x="4526280" y="4617720"/>
            <a:ext cx="3108960" cy="365760"/>
          </a:xfrm>
          <a:prstGeom prst="rect">
            <a:avLst/>
          </a:prstGeom>
          <a:noFill/>
        </p:spPr>
        <p:txBody>
          <a:bodyPr wrap="square">
            <a:spAutoFit/>
          </a:bodyPr>
          <a:lstStyle/>
          <a:p>
            <a:pPr algn="ctr">
              <a:defRPr sz="1800" b="1" i="0">
                <a:solidFill>
                  <a:srgbClr val="F5F5F5"/>
                </a:solidFill>
                <a:latin typeface="Arial"/>
              </a:defRPr>
            </a:pPr>
            <a:r>
              <a:t>[Member 2 name]</a:t>
            </a:r>
          </a:p>
        </p:txBody>
      </p:sp>
      <p:sp>
        <p:nvSpPr>
          <p:cNvPr id="16" name="TextBox 15"/>
          <p:cNvSpPr txBox="1"/>
          <p:nvPr/>
        </p:nvSpPr>
        <p:spPr>
          <a:xfrm>
            <a:off x="4526280" y="5029200"/>
            <a:ext cx="3108960" cy="274320"/>
          </a:xfrm>
          <a:prstGeom prst="rect">
            <a:avLst/>
          </a:prstGeom>
          <a:noFill/>
        </p:spPr>
        <p:txBody>
          <a:bodyPr wrap="square">
            <a:spAutoFit/>
          </a:bodyPr>
          <a:lstStyle/>
          <a:p>
            <a:pPr algn="ctr">
              <a:defRPr sz="1200" b="0" i="1">
                <a:solidFill>
                  <a:srgbClr val="888888"/>
                </a:solidFill>
                <a:latin typeface="Arial"/>
              </a:defRPr>
            </a:pPr>
            <a:r>
              <a:t>[Role  ·  Company]</a:t>
            </a:r>
          </a:p>
        </p:txBody>
      </p:sp>
      <p:sp>
        <p:nvSpPr>
          <p:cNvPr id="17" name="TextBox 16"/>
          <p:cNvSpPr txBox="1"/>
          <p:nvPr/>
        </p:nvSpPr>
        <p:spPr>
          <a:xfrm>
            <a:off x="4526280" y="5440680"/>
            <a:ext cx="3108960" cy="822960"/>
          </a:xfrm>
          <a:prstGeom prst="rect">
            <a:avLst/>
          </a:prstGeom>
          <a:noFill/>
        </p:spPr>
        <p:txBody>
          <a:bodyPr wrap="square">
            <a:spAutoFit/>
          </a:bodyPr>
          <a:lstStyle/>
          <a:p>
            <a:pPr algn="ctr">
              <a:defRPr sz="1200" b="0" i="0">
                <a:solidFill>
                  <a:srgbClr val="AAAAAA"/>
                </a:solidFill>
                <a:latin typeface="Arial"/>
              </a:defRPr>
            </a:pPr>
            <a:r>
              <a:t>Fill in before presenting. One sentence, one result.</a:t>
            </a:r>
          </a:p>
        </p:txBody>
      </p:sp>
      <p:sp>
        <p:nvSpPr>
          <p:cNvPr id="18" name="Rounded Rectangle 17"/>
          <p:cNvSpPr/>
          <p:nvPr/>
        </p:nvSpPr>
        <p:spPr>
          <a:xfrm>
            <a:off x="804672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7260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3730752"/>
            <a:ext cx="1005840" cy="548640"/>
          </a:xfrm>
          <a:prstGeom prst="rect">
            <a:avLst/>
          </a:prstGeom>
          <a:noFill/>
        </p:spPr>
        <p:txBody>
          <a:bodyPr wrap="square">
            <a:spAutoFit/>
          </a:bodyPr>
          <a:lstStyle/>
          <a:p>
            <a:pPr algn="ctr">
              <a:defRPr sz="2200" b="1" i="0">
                <a:solidFill>
                  <a:srgbClr val="F5F5F5"/>
                </a:solidFill>
                <a:latin typeface="Arial"/>
              </a:defRPr>
            </a:pPr>
            <a:r>
              <a:t>M3</a:t>
            </a:r>
          </a:p>
        </p:txBody>
      </p:sp>
      <p:sp>
        <p:nvSpPr>
          <p:cNvPr id="21" name="TextBox 20"/>
          <p:cNvSpPr txBox="1"/>
          <p:nvPr/>
        </p:nvSpPr>
        <p:spPr>
          <a:xfrm>
            <a:off x="8321040" y="4617720"/>
            <a:ext cx="3108960" cy="365760"/>
          </a:xfrm>
          <a:prstGeom prst="rect">
            <a:avLst/>
          </a:prstGeom>
          <a:noFill/>
        </p:spPr>
        <p:txBody>
          <a:bodyPr wrap="square">
            <a:spAutoFit/>
          </a:bodyPr>
          <a:lstStyle/>
          <a:p>
            <a:pPr algn="ctr">
              <a:defRPr sz="1800" b="1" i="0">
                <a:solidFill>
                  <a:srgbClr val="F5F5F5"/>
                </a:solidFill>
                <a:latin typeface="Arial"/>
              </a:defRPr>
            </a:pPr>
            <a:r>
              <a:t>[Member 3 name]</a:t>
            </a:r>
          </a:p>
        </p:txBody>
      </p:sp>
      <p:sp>
        <p:nvSpPr>
          <p:cNvPr id="22" name="TextBox 21"/>
          <p:cNvSpPr txBox="1"/>
          <p:nvPr/>
        </p:nvSpPr>
        <p:spPr>
          <a:xfrm>
            <a:off x="8321040" y="5029200"/>
            <a:ext cx="3108960" cy="274320"/>
          </a:xfrm>
          <a:prstGeom prst="rect">
            <a:avLst/>
          </a:prstGeom>
          <a:noFill/>
        </p:spPr>
        <p:txBody>
          <a:bodyPr wrap="square">
            <a:spAutoFit/>
          </a:bodyPr>
          <a:lstStyle/>
          <a:p>
            <a:pPr algn="ctr">
              <a:defRPr sz="1200" b="0" i="1">
                <a:solidFill>
                  <a:srgbClr val="888888"/>
                </a:solidFill>
                <a:latin typeface="Arial"/>
              </a:defRPr>
            </a:pPr>
            <a:r>
              <a:t>[Role  ·  Company]</a:t>
            </a:r>
          </a:p>
        </p:txBody>
      </p:sp>
      <p:sp>
        <p:nvSpPr>
          <p:cNvPr id="23" name="TextBox 22"/>
          <p:cNvSpPr txBox="1"/>
          <p:nvPr/>
        </p:nvSpPr>
        <p:spPr>
          <a:xfrm>
            <a:off x="8321040" y="5440680"/>
            <a:ext cx="3108960" cy="822960"/>
          </a:xfrm>
          <a:prstGeom prst="rect">
            <a:avLst/>
          </a:prstGeom>
          <a:noFill/>
        </p:spPr>
        <p:txBody>
          <a:bodyPr wrap="square">
            <a:spAutoFit/>
          </a:bodyPr>
          <a:lstStyle/>
          <a:p>
            <a:pPr algn="ctr">
              <a:defRPr sz="1200" b="0" i="0">
                <a:solidFill>
                  <a:srgbClr val="AAAAAA"/>
                </a:solidFill>
                <a:latin typeface="Arial"/>
              </a:defRPr>
            </a:pPr>
            <a:r>
              <a:t>Fill in before presenting. One sentence, one result.</a:t>
            </a:r>
          </a:p>
        </p:txBody>
      </p:sp>
      <p:sp>
        <p:nvSpPr>
          <p:cNvPr id="24" name="TextBox 23"/>
          <p:cNvSpPr txBox="1"/>
          <p:nvPr/>
        </p:nvSpPr>
        <p:spPr>
          <a:xfrm>
            <a:off x="731520" y="6492240"/>
            <a:ext cx="10881360" cy="320040"/>
          </a:xfrm>
          <a:prstGeom prst="rect">
            <a:avLst/>
          </a:prstGeom>
          <a:noFill/>
        </p:spPr>
        <p:txBody>
          <a:bodyPr wrap="square">
            <a:spAutoFit/>
          </a:bodyPr>
          <a:lstStyle/>
          <a:p>
            <a:pPr algn="ctr">
              <a:defRPr sz="1300" b="0" i="1">
                <a:solidFill>
                  <a:srgbClr val="E0B040"/>
                </a:solidFill>
                <a:latin typeface="Arial"/>
              </a:defRPr>
            </a:pPr>
            <a:r>
              <a:t>Want to be on this slide next edition? Tell me what you shipped. No pitch needed, just a screenshot and one line.</a:t>
            </a:r>
          </a:p>
        </p:txBody>
      </p:sp>
      <p:sp>
        <p:nvSpPr>
          <p:cNvPr id="25" name="TextBox 24"/>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6" name="TextBox 25"/>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BEFORE YOU LEAVE</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800" b="1" i="0">
                <a:solidFill>
                  <a:srgbClr val="F5F5F5"/>
                </a:solidFill>
                <a:latin typeface="Arial"/>
              </a:defRPr>
            </a:pPr>
            <a:r>
              <a:t>One Question</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377440"/>
            <a:ext cx="10515600" cy="1097280"/>
          </a:xfrm>
          <a:prstGeom prst="rect">
            <a:avLst/>
          </a:prstGeom>
          <a:noFill/>
        </p:spPr>
        <p:txBody>
          <a:bodyPr wrap="square">
            <a:spAutoFit/>
          </a:bodyPr>
          <a:lstStyle/>
          <a:p>
            <a:pPr algn="l">
              <a:defRPr sz="2400" b="1" i="0">
                <a:solidFill>
                  <a:srgbClr val="E0B040"/>
                </a:solidFill>
                <a:latin typeface="Arial"/>
              </a:defRPr>
            </a:pPr>
            <a:r>
              <a:t>What is one task in your week that an agent could take off your plate by next Wednesday?</a:t>
            </a:r>
          </a:p>
        </p:txBody>
      </p:sp>
      <p:sp>
        <p:nvSpPr>
          <p:cNvPr id="6" name="TextBox 5"/>
          <p:cNvSpPr txBox="1"/>
          <p:nvPr/>
        </p:nvSpPr>
        <p:spPr>
          <a:xfrm>
            <a:off x="731520" y="3657600"/>
            <a:ext cx="10515600" cy="1828800"/>
          </a:xfrm>
          <a:prstGeom prst="rect">
            <a:avLst/>
          </a:prstGeom>
          <a:noFill/>
        </p:spPr>
        <p:txBody>
          <a:bodyPr wrap="square">
            <a:spAutoFit/>
          </a:bodyPr>
          <a:lstStyle/>
          <a:p>
            <a:pPr algn="l">
              <a:defRPr sz="1700" b="0" i="0">
                <a:solidFill>
                  <a:srgbClr val="AAAAAA"/>
                </a:solidFill>
                <a:latin typeface="Arial"/>
              </a:defRPr>
            </a:pPr>
            <a:r>
              <a:t>Computer-use agents just got half as expensive. One is being proactive in your inbox. One is almost as good as the best coding model in the world, and is open-weight. The cost of not acting just went up again.</a:t>
            </a:r>
          </a:p>
        </p:txBody>
      </p:sp>
      <p:sp>
        <p:nvSpPr>
          <p:cNvPr id="7" name="Rounded Rectangle 6"/>
          <p:cNvSpPr/>
          <p:nvPr/>
        </p:nvSpPr>
        <p:spPr>
          <a:xfrm>
            <a:off x="731520" y="5577840"/>
            <a:ext cx="10515600" cy="822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715000"/>
            <a:ext cx="10058400" cy="548640"/>
          </a:xfrm>
          <a:prstGeom prst="rect">
            <a:avLst/>
          </a:prstGeom>
          <a:noFill/>
        </p:spPr>
        <p:txBody>
          <a:bodyPr wrap="square">
            <a:spAutoFit/>
          </a:bodyPr>
          <a:lstStyle/>
          <a:p>
            <a:pPr algn="l">
              <a:defRPr sz="1400" b="0" i="0">
                <a:solidFill>
                  <a:srgbClr val="F5F5F5"/>
                </a:solidFill>
                <a:latin typeface="Arial"/>
              </a:defRPr>
            </a:pPr>
            <a:r>
              <a:t>Find Josh after the session. Tell me what you are building. The BSTC Slack is the place to ship in public and get feedback.</a:t>
            </a:r>
          </a:p>
        </p:txBody>
      </p:sp>
      <p:sp>
        <p:nvSpPr>
          <p:cNvPr id="9" name="TextBox 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0" name="TextBox 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ectangle 1"/>
          <p:cNvSpPr/>
          <p:nvPr/>
        </p:nvSpPr>
        <p:spPr>
          <a:xfrm>
            <a:off x="0" y="0"/>
            <a:ext cx="12191695" cy="762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144000" cy="640080"/>
          </a:xfrm>
          <a:prstGeom prst="rect">
            <a:avLst/>
          </a:prstGeom>
          <a:noFill/>
        </p:spPr>
        <p:txBody>
          <a:bodyPr wrap="square">
            <a:spAutoFit/>
          </a:bodyPr>
          <a:lstStyle/>
          <a:p>
            <a:pPr algn="l">
              <a:defRPr sz="4400" b="1" i="0">
                <a:solidFill>
                  <a:srgbClr val="F5F5F5"/>
                </a:solidFill>
                <a:latin typeface="Arial"/>
              </a:defRPr>
            </a:pPr>
            <a:r>
              <a:t>See You at Edition 30</a:t>
            </a:r>
          </a:p>
        </p:txBody>
      </p:sp>
      <p:sp>
        <p:nvSpPr>
          <p:cNvPr id="4" name="Rectangle 3"/>
          <p:cNvSpPr/>
          <p:nvPr/>
        </p:nvSpPr>
        <p:spPr>
          <a:xfrm>
            <a:off x="1097280" y="2423160"/>
            <a:ext cx="45720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743200"/>
            <a:ext cx="9144000" cy="1371600"/>
          </a:xfrm>
          <a:prstGeom prst="rect">
            <a:avLst/>
          </a:prstGeom>
          <a:noFill/>
        </p:spPr>
        <p:txBody>
          <a:bodyPr wrap="square">
            <a:spAutoFit/>
          </a:bodyPr>
          <a:lstStyle/>
          <a:p>
            <a:pPr algn="l">
              <a:defRPr sz="2200" b="0" i="0">
                <a:solidFill>
                  <a:srgbClr val="AAAAAA"/>
                </a:solidFill>
                <a:latin typeface="Arial"/>
              </a:defRPr>
            </a:pPr>
            <a:r>
              <a:t>Next Wednesday  ·  Edition 30  ·  4 November 2026</a:t>
            </a:r>
          </a:p>
          <a:p>
            <a:pPr algn="l">
              <a:spcBef>
                <a:spcPts val="1000"/>
              </a:spcBef>
              <a:defRPr sz="1700" b="0" i="0">
                <a:solidFill>
                  <a:srgbClr val="888888"/>
                </a:solidFill>
                <a:latin typeface="Arial"/>
              </a:defRPr>
            </a:pPr>
            <a:r>
              <a:t>Seoul Soul Project, Canggu  ·  6:30pm WITA</a:t>
            </a:r>
          </a:p>
        </p:txBody>
      </p:sp>
      <p:sp>
        <p:nvSpPr>
          <p:cNvPr id="6" name="TextBox 5"/>
          <p:cNvSpPr txBox="1"/>
          <p:nvPr/>
        </p:nvSpPr>
        <p:spPr>
          <a:xfrm>
            <a:off x="1097280" y="4389120"/>
            <a:ext cx="9144000" cy="548640"/>
          </a:xfrm>
          <a:prstGeom prst="rect">
            <a:avLst/>
          </a:prstGeom>
          <a:noFill/>
        </p:spPr>
        <p:txBody>
          <a:bodyPr wrap="square">
            <a:spAutoFit/>
          </a:bodyPr>
          <a:lstStyle/>
          <a:p>
            <a:pPr algn="l">
              <a:defRPr sz="1800" b="0" i="1">
                <a:solidFill>
                  <a:srgbClr val="E0B040"/>
                </a:solidFill>
                <a:latin typeface="Arial"/>
              </a:defRPr>
            </a:pPr>
            <a:r>
              <a:t>Build something this week. Break something. Tell the room next time.</a:t>
            </a:r>
          </a:p>
        </p:txBody>
      </p:sp>
      <p:sp>
        <p:nvSpPr>
          <p:cNvPr id="7" name="Rounded Rectangle 6"/>
          <p:cNvSpPr/>
          <p:nvPr/>
        </p:nvSpPr>
        <p:spPr>
          <a:xfrm>
            <a:off x="1097280" y="5212080"/>
            <a:ext cx="5029200" cy="100584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5349240"/>
            <a:ext cx="4480560" cy="731520"/>
          </a:xfrm>
          <a:prstGeom prst="rect">
            <a:avLst/>
          </a:prstGeom>
          <a:noFill/>
        </p:spPr>
        <p:txBody>
          <a:bodyPr wrap="square">
            <a:spAutoFit/>
          </a:bodyPr>
          <a:lstStyle/>
          <a:p>
            <a:pPr algn="l">
              <a:defRPr sz="1600" b="0" i="0">
                <a:solidFill>
                  <a:srgbClr val="F5F5F5"/>
                </a:solidFill>
                <a:latin typeface="Arial"/>
              </a:defRPr>
            </a:pPr>
            <a:r>
              <a:t>Slides and links in the BSTC Slack  #how-i-ai</a:t>
            </a:r>
          </a:p>
        </p:txBody>
      </p:sp>
      <p:sp>
        <p:nvSpPr>
          <p:cNvPr id="9" name="Rectangle 8"/>
          <p:cNvSpPr/>
          <p:nvPr/>
        </p:nvSpPr>
        <p:spPr>
          <a:xfrm>
            <a:off x="0" y="6766560"/>
            <a:ext cx="12191695" cy="508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1" name="TextBox 10"/>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