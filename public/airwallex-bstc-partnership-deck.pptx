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PARTNERSHIP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JUNE 2026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A CATEGORY-EXCLUSIVE PARTNERSHIP</a:t>
            </a:r>
          </a:p>
        </p:txBody>
      </p:sp>
      <p:pic>
        <p:nvPicPr>
          <p:cNvPr id="5" name="Picture 4" descr="airwall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32304"/>
            <a:ext cx="33331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840" y="23317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6E6E6E"/>
                </a:solidFill>
                <a:latin typeface="Georgia"/>
              </a:rPr>
              <a:t>×</a:t>
            </a:r>
          </a:p>
        </p:txBody>
      </p:sp>
      <p:pic>
        <p:nvPicPr>
          <p:cNvPr id="7" name="Picture 6" descr="bstc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33172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23317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5F5"/>
                </a:solidFill>
                <a:latin typeface="Georgia"/>
              </a:rPr>
              <a:t>BSTC</a:t>
            </a:r>
          </a:p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BALI STARTUPS &amp; TECH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5F5F5"/>
                </a:solidFill>
                <a:latin typeface="Georgia"/>
              </a:rPr>
              <a:t>Own the finance category in</a:t>
            </a:r>
          </a:p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C81E1E"/>
                </a:solidFill>
                <a:latin typeface="Georgia"/>
              </a:rPr>
              <a:t>Bali's founder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663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F5F5"/>
                </a:solidFill>
                <a:latin typeface="Georgia"/>
              </a:rPr>
              <a:t>Dushyant, Airwallex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1663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949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F5F5"/>
                </a:solidFill>
                <a:latin typeface="Georgia"/>
              </a:rPr>
              <a:t>BSTC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1663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3949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F5F5"/>
                </a:solidFill>
                <a:latin typeface="Georgia"/>
              </a:rPr>
              <a:t>Tuesday, 3:00pm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AIRWALLEX × BSTC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THE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The cost of starting a company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just collapsed.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AI has democratised building. A single founder can now design, build and ship what used to take a funded team, and a new wave of early-stage founders is the result. It is accelerating, and they are making their first financial decisions right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DEMOCRATISED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0128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Anyone can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330799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AI and no-code tools have removed the technical barrier. An idea becomes a live product without a dev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1850" y="306324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AN AI-NATIVE WAVE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1850" y="3310128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More builders than 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1850" y="3767328"/>
            <a:ext cx="330799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Solo founders and small teams use AI to go from idea to launch in weeks, not quarters. The volume is rising fast.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740" y="306324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THE LAST SIX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0740" y="3310128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About </a:t>
            </a:r>
            <a:r>
              <a:rPr sz="1600" b="1" i="0">
                <a:solidFill>
                  <a:srgbClr val="C81E1E"/>
                </a:solidFill>
                <a:latin typeface="Georgia"/>
              </a:rPr>
              <a:t>10x</a:t>
            </a:r>
            <a:r>
              <a:rPr sz="1600" b="1" i="0">
                <a:solidFill>
                  <a:srgbClr val="F5F5F5"/>
                </a:solidFill>
                <a:latin typeface="Georgia"/>
              </a:rPr>
              <a:t> the requests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0740" y="4481810"/>
            <a:ext cx="310896" cy="71901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7588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7084" y="4496190"/>
            <a:ext cx="310896" cy="57521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3932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3428" y="4453049"/>
            <a:ext cx="310896" cy="100662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20276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9772" y="3805936"/>
            <a:ext cx="310896" cy="747776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620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6116" y="3849076"/>
            <a:ext cx="310896" cy="704635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2964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92460" y="3712464"/>
            <a:ext cx="310896" cy="841248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9308" y="459028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9A9A9A"/>
                </a:solidFill>
                <a:latin typeface="Courier New"/>
              </a:rPr>
              <a:t>117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0740" y="4791456"/>
            <a:ext cx="3307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9A9A"/>
                </a:solidFill>
                <a:latin typeface="Helvetica Neue"/>
              </a:rPr>
              <a:t>New member requests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They go global from day one, and they are choosing their financial stack now. The window to become their default is open.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WHY THIS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You back founders building </a:t>
            </a:r>
            <a:r>
              <a:rPr sz="3300" b="0" i="1">
                <a:solidFill>
                  <a:srgbClr val="F5F5F5"/>
                </a:solidFill>
                <a:latin typeface="Georgia"/>
              </a:rPr>
              <a:t>borderless</a:t>
            </a:r>
            <a:r>
              <a:rPr sz="3300" b="1" i="0">
                <a:solidFill>
                  <a:srgbClr val="F5F5F5"/>
                </a:solidFill>
                <a:latin typeface="Georgia"/>
              </a:rPr>
              <a:t> businesses.</a:t>
            </a:r>
          </a:p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C81E1E"/>
                </a:solidFill>
                <a:latin typeface="Georgia"/>
              </a:rPr>
              <a:t>So do we.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FCFCF"/>
                </a:solidFill>
                <a:latin typeface="Helvetica Neue"/>
              </a:rPr>
              <a:t>Bali has quietly become a real hub for global-first startups. BSTC is its centre of gravity: 2,500+ founders, engineers and operators, most of them running cross-border, multi-currency businesses from day one. That is your customer, in one room, every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SIZE &amp;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Bali's founder community,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in one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05456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2,500+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5468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Founders, engineers &amp; operators in the community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2286000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5690" y="2505456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5690" y="315468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Monthly flagship networking nights, and counting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2286000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2388" y="2505456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40–80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2388" y="3154680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High-signal attendees at every flagship night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59352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78808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82803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Event formats: networking, How I Build with AI, builder sessions, roundtables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658" y="3959352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5690" y="4178808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5F5"/>
                </a:solidFill>
                <a:latin typeface="Georgia"/>
              </a:rPr>
              <a:t>10+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5690" y="482803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Editions of the How I Build with AI series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356" y="3959352"/>
            <a:ext cx="3332378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2388" y="4178808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B04B"/>
                </a:solidFill>
                <a:latin typeface="Georgia"/>
              </a:rPr>
              <a:t>[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388" y="4828032"/>
            <a:ext cx="28751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Events run in the last 12 months  </a:t>
            </a:r>
            <a:r>
              <a:rPr sz="1050" b="0" i="0">
                <a:solidFill>
                  <a:srgbClr val="FF8A3D"/>
                </a:solidFill>
                <a:latin typeface="Helvetica Neue"/>
              </a:rPr>
              <a:t>(confirm)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F5F5F5"/>
                </a:solidFill>
                <a:latin typeface="Georgia"/>
              </a:rPr>
              <a:t>Compounding every month, </a:t>
            </a:r>
            <a:r>
              <a:rPr sz="3000" b="1" i="0">
                <a:solidFill>
                  <a:srgbClr val="C81E1E"/>
                </a:solidFill>
                <a:latin typeface="Georgia"/>
              </a:rPr>
              <a:t>with zero paid acquisition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46304" cy="146304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46888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5"/>
                </a:solidFill>
                <a:latin typeface="Helvetica Neue"/>
              </a:rPr>
              <a:t>3+ years of monthly flagships</a:t>
            </a:r>
            <a:r>
              <a:rPr sz="1250" b="0" i="0">
                <a:solidFill>
                  <a:srgbClr val="CFCFCF"/>
                </a:solidFill>
                <a:latin typeface="Helvetica Neue"/>
              </a:rPr>
              <a:t>, now on edition 37, never missed a month.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91840"/>
            <a:ext cx="146304" cy="146304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324612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5"/>
                </a:solidFill>
                <a:latin typeface="Helvetica Neue"/>
              </a:rPr>
              <a:t>Word-of-mouth only. </a:t>
            </a:r>
            <a:r>
              <a:rPr sz="1250" b="0" i="0">
                <a:solidFill>
                  <a:srgbClr val="CFCFCF"/>
                </a:solidFill>
                <a:latin typeface="Helvetica Neue"/>
              </a:rPr>
              <a:t>Growth is organic, driven by the quality of the room, not ad spend.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69080"/>
            <a:ext cx="146304" cy="146304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402336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5"/>
                </a:solidFill>
                <a:latin typeface="Helvetica Neue"/>
              </a:rPr>
              <a:t>An owned audience. </a:t>
            </a:r>
            <a:r>
              <a:rPr sz="1250" b="0" i="0">
                <a:solidFill>
                  <a:srgbClr val="CFCFCF"/>
                </a:solidFill>
                <a:latin typeface="Helvetica Neue"/>
              </a:rPr>
              <a:t>Every member now flows into our CRM with email and consent.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24028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C81E1E"/>
                </a:solidFill>
                <a:latin typeface="Georgia"/>
              </a:rPr>
              <a:t>240%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2918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MEMBER GROWTH, YEAR ON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869180"/>
            <a:ext cx="658368" cy="205739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4640580"/>
            <a:ext cx="658368" cy="43434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4366259"/>
            <a:ext cx="658368" cy="70866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60" y="3931920"/>
            <a:ext cx="658368" cy="1143000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5129783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A9A9A"/>
                </a:solidFill>
                <a:latin typeface="Courier New"/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54406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Helvetica Neue"/>
              </a:rPr>
              <a:t>Directional trajectory · members year on year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THE FIT FOR AIRWALLEX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WHY AIRWALLEX, SPECIFICALLY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Exactly who </a:t>
            </a:r>
            <a:r>
              <a:rPr sz="3300" b="1" i="0">
                <a:solidFill>
                  <a:srgbClr val="FF8A3D"/>
                </a:solidFill>
                <a:latin typeface="Georgia"/>
              </a:rPr>
              <a:t>Airwallex</a:t>
            </a:r>
            <a:r>
              <a:rPr sz="3300" b="1" i="0">
                <a:solidFill>
                  <a:srgbClr val="F5F5F5"/>
                </a:solidFill>
                <a:latin typeface="Georgia"/>
              </a:rPr>
              <a:t> is built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WHO THEY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24912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Global-first 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30799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Founders and operators building from Bali but selling worldwide. Remote teams, international clients, multi-currency from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850" y="246888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WHAT THEY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1850" y="2724912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Borderless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1850" y="3200400"/>
            <a:ext cx="330799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Cross-border payments, multi-currency accounts, global payroll and FX. The exact problems Airwallex solves, felt daily.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0740" y="2468880"/>
            <a:ext cx="330799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WHERE YOU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740" y="2724912"/>
            <a:ext cx="3307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5"/>
                </a:solidFill>
                <a:latin typeface="Georgia"/>
              </a:rPr>
              <a:t>The trusted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0740" y="3200400"/>
            <a:ext cx="330799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9A9A9A"/>
                </a:solidFill>
                <a:latin typeface="Helvetica Neue"/>
              </a:rPr>
              <a:t>Be the finance partner the community learns from and defaults to, through the scaling series you proposed and member perks.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Your email named it: educational workshops on financial best practices for global operations. That is a perfect fit, and the start of something bigger.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WHERE WE'RE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From monthly meetups to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the region's flagship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545775" cy="1097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880360"/>
            <a:ext cx="146304" cy="14630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Monthly flagships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2,500+ members, four event formats, every month in Canggu.</a:t>
            </a:r>
          </a:p>
        </p:txBody>
      </p:sp>
      <p:sp>
        <p:nvSpPr>
          <p:cNvPr id="11" name="Oval 10"/>
          <p:cNvSpPr/>
          <p:nvPr/>
        </p:nvSpPr>
        <p:spPr>
          <a:xfrm>
            <a:off x="3459403" y="2880360"/>
            <a:ext cx="146304" cy="146304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2011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2011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The Podcast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2011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Launching soon. Founder stories and operator playbooks, with partner segments.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6095847" y="2880360"/>
            <a:ext cx="146304" cy="146304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Owned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Aggregated, anonymised ecosystem data from our member CRM.</a:t>
            </a:r>
          </a:p>
        </p:txBody>
      </p:sp>
      <p:sp>
        <p:nvSpPr>
          <p:cNvPr id="19" name="Oval 18"/>
          <p:cNvSpPr/>
          <p:nvPr/>
        </p:nvSpPr>
        <p:spPr>
          <a:xfrm>
            <a:off x="8732291" y="2880360"/>
            <a:ext cx="146304" cy="146304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4899" y="2852928"/>
            <a:ext cx="227068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4899" y="3108960"/>
            <a:ext cx="22706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Annual Conference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4899" y="3520440"/>
            <a:ext cx="22249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Bali's flagship startup &amp; tech conference. The headline stage.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A partner who joins now grows with us, from the monthly room to the podcast feed to the 2027 conference stage.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CATEGORY EXCLUSIVITY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Own the category. Be our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only</a:t>
            </a:r>
            <a:r>
              <a:rPr sz="3300" b="1" i="0">
                <a:solidFill>
                  <a:srgbClr val="F5F5F5"/>
                </a:solidFill>
                <a:latin typeface="Georgia"/>
              </a:rPr>
              <a:t> finance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8A3D"/>
                </a:solidFill>
                <a:latin typeface="Helvetica Neue"/>
              </a:rPr>
              <a:t>Airwallex</a:t>
            </a:r>
            <a:r>
              <a:rPr sz="1300" b="0" i="0">
                <a:solidFill>
                  <a:srgbClr val="CFCFCF"/>
                </a:solidFill>
                <a:latin typeface="Helvetica Neue"/>
              </a:rPr>
              <a:t> as the sole payments and finance brand across every BSTC surface for the term: events, workshops, podcast and the 2027 conference. No competing fintech in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264408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Flagship event sponsorship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666744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Your brand on the monthly room that defines the scene.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5274" y="3063240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4730" y="3264408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The scaling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4730" y="3666744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Co-built workshops on global financial best practice.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7588" y="3063240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7044" y="3264408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Founder perks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044" y="3666744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Tailored Airwallex offers in our member guide and WhatsApp.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07408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4608576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Podcast presence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5010912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Partner segments and host reads as the show launches.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5274" y="4407408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4730" y="4608576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Conference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4730" y="5010912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Headline finance partner of Bali's flagship event.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7588" y="4407408"/>
            <a:ext cx="3381146" cy="114300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7044" y="4608576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F5F5"/>
                </a:solidFill>
                <a:latin typeface="Helvetica Neue"/>
              </a:rPr>
              <a:t>Ecosystem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044" y="5010912"/>
            <a:ext cx="2969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A9A9A"/>
                </a:solidFill>
                <a:latin typeface="Helvetica Neue"/>
              </a:rPr>
              <a:t>Aggregated, anonymised data on how Bali founders scale.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THE PARTNERSHIP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WAYS TO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F5F5F5"/>
                </a:solidFill>
                <a:latin typeface="Georgia"/>
              </a:rPr>
              <a:t>Two ways to partner. </a:t>
            </a:r>
            <a:r>
              <a:rPr sz="3300" b="1" i="0">
                <a:solidFill>
                  <a:srgbClr val="C81E1E"/>
                </a:solidFill>
                <a:latin typeface="Georgia"/>
              </a:rPr>
              <a:t>Annual goes deepest.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4429225" cy="30175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96896"/>
            <a:ext cx="36977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A9A9A"/>
                </a:solidFill>
                <a:latin typeface="Courier New"/>
              </a:rPr>
              <a:t>QUARTERLY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52928"/>
            <a:ext cx="36977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5"/>
                </a:solidFill>
                <a:latin typeface="Georgia"/>
              </a:rPr>
              <a:t>Category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46704"/>
            <a:ext cx="369770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Helvetica Neue"/>
              </a:rPr>
              <a:t>Exclusive finance partner · one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58768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Category exclusivity for the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87952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Flagship event sponsorship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17136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One scaling-series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369770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Founder perks in the member guide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3081" y="2286000"/>
            <a:ext cx="5805653" cy="3017520"/>
          </a:xfrm>
          <a:prstGeom prst="rect">
            <a:avLst/>
          </a:prstGeom>
          <a:solidFill>
            <a:srgbClr val="201414"/>
          </a:solidFill>
          <a:ln w="17780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7129" y="2596896"/>
            <a:ext cx="50375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81E1E"/>
                </a:solidFill>
                <a:latin typeface="Courier New"/>
              </a:rPr>
              <a:t>RECOMMENDED · ANNUAL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7129" y="2852928"/>
            <a:ext cx="50375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5"/>
                </a:solidFill>
                <a:latin typeface="Georgia"/>
              </a:rPr>
              <a:t>Strategic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7129" y="3346704"/>
            <a:ext cx="50375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Helvetica Neue"/>
              </a:rPr>
              <a:t>Exclusive finance partner · the full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7129" y="3858768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Category exclusivity for the full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7129" y="4101083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Every flagship night, all four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7129" y="4343399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Full scaling-series workshop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7129" y="4585715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Podcast presence as it launches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7129" y="4828031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Headline finance partner, Conference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7129" y="5070347"/>
            <a:ext cx="5037557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81E1E"/>
                </a:solidFill>
                <a:latin typeface="Helvetica Neue"/>
              </a:rPr>
              <a:t>+  </a:t>
            </a:r>
            <a:r>
              <a:rPr sz="1050" b="0" i="0">
                <a:solidFill>
                  <a:srgbClr val="CFCFCF"/>
                </a:solidFill>
                <a:latin typeface="Helvetica Neue"/>
              </a:rPr>
              <a:t>Aggregated ecosystem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982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9A9A"/>
                </a:solidFill>
                <a:latin typeface="Helvetica Neue"/>
              </a:rPr>
              <a:t>Scope and investment are a conversation for when the fit is clear. This is a starting point, not a pitch.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WAYS TO PARTNER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96735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A9A9A"/>
                </a:solidFill>
                <a:latin typeface="Courier New"/>
              </a:rPr>
              <a:t>AIRWALLEX × BSTC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81E1E"/>
                </a:solidFill>
                <a:latin typeface="Courier New"/>
              </a:rPr>
              <a:t>LET'S BUILD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5F5F5"/>
                </a:solidFill>
                <a:latin typeface="Georgia"/>
              </a:rPr>
              <a:t>Be the name Bali's founders</a:t>
            </a:r>
          </a:p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5F5F5"/>
                </a:solidFill>
                <a:latin typeface="Georgia"/>
              </a:rPr>
              <a:t>reach for when they </a:t>
            </a:r>
            <a:r>
              <a:rPr sz="4000" b="0" i="1">
                <a:solidFill>
                  <a:srgbClr val="F5F5F5"/>
                </a:solidFill>
                <a:latin typeface="Georgia"/>
              </a:rPr>
              <a:t>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CFCFCF"/>
                </a:solidFill>
                <a:latin typeface="Helvetica Neue"/>
              </a:rPr>
              <a:t>You offered to support the community without a rigid sales pitch. We are offering you the whole category, for a year, including the stage we are building for 2027. Let's lock the shape of it on Tuesday.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Courier New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583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Annual category exclusivity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Courier New"/>
              </a:rPr>
              <a:t>THE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3583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Tuesday, 3:00pm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120640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E6E6E"/>
                </a:solidFill>
                <a:latin typeface="Courier New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3583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5F5"/>
                </a:solidFill>
                <a:latin typeface="Georgia"/>
              </a:rPr>
              <a:t>BSTC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089904"/>
            <a:ext cx="1054577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1630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AIRWALLEX × BSTC · PARTNERSHIP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1630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