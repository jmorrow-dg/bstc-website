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371600"/>
            <a:ext cx="7315200" cy="365760"/>
          </a:xfrm>
          <a:prstGeom prst="rect">
            <a:avLst/>
          </a:prstGeom>
          <a:noFill/>
        </p:spPr>
        <p:txBody>
          <a:bodyPr wrap="square">
            <a:spAutoFit/>
          </a:bodyPr>
          <a:lstStyle/>
          <a:p>
            <a:pPr algn="l">
              <a:defRPr sz="1300" b="1" i="0">
                <a:solidFill>
                  <a:srgbClr val="C81E1E"/>
                </a:solidFill>
                <a:latin typeface="Arial"/>
              </a:defRPr>
            </a:pPr>
            <a:r>
              <a:t>BALI START-UPS &amp; TECH COMMUNITY PRESENTS</a:t>
            </a:r>
          </a:p>
        </p:txBody>
      </p:sp>
      <p:sp>
        <p:nvSpPr>
          <p:cNvPr id="3" name="TextBox 2"/>
          <p:cNvSpPr txBox="1"/>
          <p:nvPr/>
        </p:nvSpPr>
        <p:spPr>
          <a:xfrm>
            <a:off x="731520" y="2011680"/>
            <a:ext cx="9144000" cy="1371600"/>
          </a:xfrm>
          <a:prstGeom prst="rect">
            <a:avLst/>
          </a:prstGeom>
          <a:noFill/>
        </p:spPr>
        <p:txBody>
          <a:bodyPr wrap="square">
            <a:spAutoFit/>
          </a:bodyPr>
          <a:lstStyle/>
          <a:p>
            <a:pPr algn="l">
              <a:defRPr sz="7200" b="1" i="0">
                <a:solidFill>
                  <a:srgbClr val="F5F5F5"/>
                </a:solidFill>
                <a:latin typeface="Arial"/>
              </a:defRPr>
            </a:pPr>
            <a:r>
              <a:t>How I AI</a:t>
            </a:r>
          </a:p>
        </p:txBody>
      </p:sp>
      <p:sp>
        <p:nvSpPr>
          <p:cNvPr id="4" name="TextBox 3"/>
          <p:cNvSpPr txBox="1"/>
          <p:nvPr/>
        </p:nvSpPr>
        <p:spPr>
          <a:xfrm>
            <a:off x="731520" y="3474720"/>
            <a:ext cx="7315200" cy="1097280"/>
          </a:xfrm>
          <a:prstGeom prst="rect">
            <a:avLst/>
          </a:prstGeom>
          <a:noFill/>
        </p:spPr>
        <p:txBody>
          <a:bodyPr wrap="square">
            <a:spAutoFit/>
          </a:bodyPr>
          <a:lstStyle/>
          <a:p>
            <a:pPr algn="l">
              <a:defRPr sz="3200" b="1" i="0">
                <a:solidFill>
                  <a:srgbClr val="F5F5F5"/>
                </a:solidFill>
                <a:latin typeface="Arial"/>
              </a:defRPr>
            </a:pPr>
            <a:r>
              <a:t>Edition 10</a:t>
            </a:r>
          </a:p>
          <a:p>
            <a:pPr algn="l">
              <a:spcBef>
                <a:spcPts val="800"/>
              </a:spcBef>
              <a:defRPr sz="2000" b="0" i="0">
                <a:solidFill>
                  <a:srgbClr val="888888"/>
                </a:solidFill>
                <a:latin typeface="Arial"/>
              </a:defRPr>
            </a:pPr>
            <a:r>
              <a:t>Seoul Soul Project, Canggu  ·  17 June 2026</a:t>
            </a:r>
          </a:p>
        </p:txBody>
      </p:sp>
      <p:sp>
        <p:nvSpPr>
          <p:cNvPr id="5" name="TextBox 4"/>
          <p:cNvSpPr txBox="1"/>
          <p:nvPr/>
        </p:nvSpPr>
        <p:spPr>
          <a:xfrm>
            <a:off x="731520" y="5029200"/>
            <a:ext cx="8229600" cy="365760"/>
          </a:xfrm>
          <a:prstGeom prst="rect">
            <a:avLst/>
          </a:prstGeom>
          <a:noFill/>
        </p:spPr>
        <p:txBody>
          <a:bodyPr wrap="square">
            <a:spAutoFit/>
          </a:bodyPr>
          <a:lstStyle/>
          <a:p>
            <a:pPr algn="l">
              <a:defRPr sz="1500" b="0" i="0">
                <a:solidFill>
                  <a:srgbClr val="888888"/>
                </a:solidFill>
                <a:latin typeface="Arial"/>
              </a:defRPr>
            </a:pPr>
            <a:r>
              <a:t>Builders show tools. Operators share workflows. Everyone leaves sharper.</a:t>
            </a:r>
          </a:p>
        </p:txBody>
      </p:sp>
      <p:sp>
        <p:nvSpPr>
          <p:cNvPr id="6" name="TextBox 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7" name="TextBox 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TODAY IN BALI  ·  17 JUNE 2026</a:t>
            </a:r>
          </a:p>
        </p:txBody>
      </p:sp>
      <p:sp>
        <p:nvSpPr>
          <p:cNvPr id="3" name="TextBox 2"/>
          <p:cNvSpPr txBox="1"/>
          <p:nvPr/>
        </p:nvSpPr>
        <p:spPr>
          <a:xfrm>
            <a:off x="731520" y="960120"/>
            <a:ext cx="10058400" cy="822960"/>
          </a:xfrm>
          <a:prstGeom prst="rect">
            <a:avLst/>
          </a:prstGeom>
          <a:noFill/>
        </p:spPr>
        <p:txBody>
          <a:bodyPr wrap="square">
            <a:spAutoFit/>
          </a:bodyPr>
          <a:lstStyle/>
          <a:p>
            <a:pPr algn="l">
              <a:defRPr sz="4600" b="1" i="0">
                <a:solidFill>
                  <a:srgbClr val="F5F5F5"/>
                </a:solidFill>
                <a:latin typeface="Arial"/>
              </a:defRPr>
            </a:pPr>
            <a:r>
              <a:t>Selamat Hari Galungan</a:t>
            </a:r>
          </a:p>
        </p:txBody>
      </p:sp>
      <p:sp>
        <p:nvSpPr>
          <p:cNvPr id="4" name="Rectangle 3"/>
          <p:cNvSpPr/>
          <p:nvPr/>
        </p:nvSpPr>
        <p:spPr>
          <a:xfrm>
            <a:off x="731520" y="1874519"/>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55664" y="2112264"/>
            <a:ext cx="5010912" cy="3364992"/>
          </a:xfrm>
          <a:prstGeom prst="rect">
            <a:avLst/>
          </a:prstGeom>
          <a:solidFill>
            <a:srgbClr val="333333"/>
          </a:solidFill>
          <a:ln w="19050">
            <a:solidFill>
              <a:srgbClr val="E0B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alungan.jpg"/>
          <p:cNvPicPr>
            <a:picLocks noChangeAspect="1"/>
          </p:cNvPicPr>
          <p:nvPr/>
        </p:nvPicPr>
        <p:blipFill>
          <a:blip r:embed="rId2"/>
          <a:stretch>
            <a:fillRect/>
          </a:stretch>
        </p:blipFill>
        <p:spPr>
          <a:xfrm>
            <a:off x="6492240" y="2148840"/>
            <a:ext cx="4937760" cy="3291840"/>
          </a:xfrm>
          <a:prstGeom prst="rect">
            <a:avLst/>
          </a:prstGeom>
        </p:spPr>
      </p:pic>
      <p:sp>
        <p:nvSpPr>
          <p:cNvPr id="7" name="TextBox 6"/>
          <p:cNvSpPr txBox="1"/>
          <p:nvPr/>
        </p:nvSpPr>
        <p:spPr>
          <a:xfrm>
            <a:off x="6492240" y="5532120"/>
            <a:ext cx="4937760" cy="365760"/>
          </a:xfrm>
          <a:prstGeom prst="rect">
            <a:avLst/>
          </a:prstGeom>
          <a:noFill/>
        </p:spPr>
        <p:txBody>
          <a:bodyPr wrap="square">
            <a:spAutoFit/>
          </a:bodyPr>
          <a:lstStyle/>
          <a:p>
            <a:pPr algn="ctr">
              <a:defRPr sz="1100" b="0" i="1">
                <a:solidFill>
                  <a:srgbClr val="888888"/>
                </a:solidFill>
                <a:latin typeface="Arial"/>
              </a:defRPr>
            </a:pPr>
            <a:r>
              <a:t>Penjor lining a Balinese village street during Galungan.</a:t>
            </a:r>
          </a:p>
        </p:txBody>
      </p:sp>
      <p:sp>
        <p:nvSpPr>
          <p:cNvPr id="8" name="TextBox 7"/>
          <p:cNvSpPr txBox="1"/>
          <p:nvPr/>
        </p:nvSpPr>
        <p:spPr>
          <a:xfrm>
            <a:off x="731520" y="2194560"/>
            <a:ext cx="5394960" cy="3840480"/>
          </a:xfrm>
          <a:prstGeom prst="rect">
            <a:avLst/>
          </a:prstGeom>
          <a:noFill/>
        </p:spPr>
        <p:txBody>
          <a:bodyPr wrap="square">
            <a:spAutoFit/>
          </a:bodyPr>
          <a:lstStyle/>
          <a:p>
            <a:pPr algn="l">
              <a:defRPr sz="1500" b="0" i="0">
                <a:solidFill>
                  <a:srgbClr val="F5F5F5"/>
                </a:solidFill>
                <a:latin typeface="Arial"/>
              </a:defRPr>
            </a:pPr>
            <a:r>
              <a:t>Today Bali celebrates Galungan, one of the most important holy days in Balinese culture.</a:t>
            </a:r>
          </a:p>
          <a:p>
            <a:pPr algn="l">
              <a:spcBef>
                <a:spcPts val="1200"/>
              </a:spcBef>
              <a:defRPr sz="1500" b="0" i="0">
                <a:solidFill>
                  <a:srgbClr val="AAAAAA"/>
                </a:solidFill>
                <a:latin typeface="Arial"/>
              </a:defRPr>
            </a:pPr>
            <a:r>
              <a:t>It marks the start of ten sacred days when families honour their ancestors and celebrate the victory of dharma over adharma, good over evil.</a:t>
            </a:r>
          </a:p>
          <a:p>
            <a:pPr algn="l">
              <a:spcBef>
                <a:spcPts val="1200"/>
              </a:spcBef>
              <a:defRPr sz="1500" b="0" i="0">
                <a:solidFill>
                  <a:srgbClr val="AAAAAA"/>
                </a:solidFill>
                <a:latin typeface="Arial"/>
              </a:defRPr>
            </a:pPr>
            <a:r>
              <a:t>Across the island you will see the penjor, the tall curved bamboo poles lining every street. Their arch honours Gunung Agung, Bali's holiest mountain, and gives thanks for the Earth's bounty. The celebration runs through to Kuningan on 27 June.</a:t>
            </a:r>
          </a:p>
          <a:p>
            <a:pPr algn="l">
              <a:spcBef>
                <a:spcPts val="1200"/>
              </a:spcBef>
              <a:defRPr sz="1500" b="0" i="0">
                <a:solidFill>
                  <a:srgbClr val="AAAAAA"/>
                </a:solidFill>
                <a:latin typeface="Arial"/>
              </a:defRPr>
            </a:pPr>
            <a:r>
              <a:t>We are guests on this island. Before we look at the week ahead in AI, we pay respect to the culture that hosts us.</a:t>
            </a:r>
          </a:p>
          <a:p>
            <a:pPr algn="l">
              <a:spcBef>
                <a:spcPts val="1400"/>
              </a:spcBef>
              <a:defRPr sz="1800" b="1" i="1">
                <a:solidFill>
                  <a:srgbClr val="E0B040"/>
                </a:solidFill>
                <a:latin typeface="Arial"/>
              </a:defRPr>
            </a:pPr>
            <a:r>
              <a:t>Selamat Hari Galungan.</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731520"/>
            <a:ext cx="7315200" cy="365760"/>
          </a:xfrm>
          <a:prstGeom prst="rect">
            <a:avLst/>
          </a:prstGeom>
          <a:noFill/>
        </p:spPr>
        <p:txBody>
          <a:bodyPr wrap="square">
            <a:spAutoFit/>
          </a:bodyPr>
          <a:lstStyle/>
          <a:p>
            <a:pPr algn="l">
              <a:defRPr sz="1300" b="1" i="0">
                <a:solidFill>
                  <a:srgbClr val="C81E1E"/>
                </a:solidFill>
                <a:latin typeface="Arial"/>
              </a:defRPr>
            </a:pPr>
            <a:r>
              <a:t>MY BACKGROUND</a:t>
            </a:r>
          </a:p>
        </p:txBody>
      </p:sp>
      <p:sp>
        <p:nvSpPr>
          <p:cNvPr id="3" name="TextBox 2"/>
          <p:cNvSpPr txBox="1"/>
          <p:nvPr/>
        </p:nvSpPr>
        <p:spPr>
          <a:xfrm>
            <a:off x="731520" y="1645920"/>
            <a:ext cx="3200400" cy="548640"/>
          </a:xfrm>
          <a:prstGeom prst="rect">
            <a:avLst/>
          </a:prstGeom>
          <a:noFill/>
        </p:spPr>
        <p:txBody>
          <a:bodyPr wrap="square">
            <a:spAutoFit/>
          </a:bodyPr>
          <a:lstStyle/>
          <a:p>
            <a:pPr algn="l">
              <a:defRPr sz="2800" b="1" i="0">
                <a:solidFill>
                  <a:srgbClr val="F5F5F5"/>
                </a:solidFill>
                <a:latin typeface="Arial"/>
              </a:defRPr>
            </a:pPr>
            <a:r>
              <a:t>Josh Morrow</a:t>
            </a:r>
          </a:p>
        </p:txBody>
      </p:sp>
      <p:sp>
        <p:nvSpPr>
          <p:cNvPr id="4" name="TextBox 3"/>
          <p:cNvSpPr txBox="1"/>
          <p:nvPr/>
        </p:nvSpPr>
        <p:spPr>
          <a:xfrm>
            <a:off x="731520" y="2377440"/>
            <a:ext cx="3200400" cy="2743200"/>
          </a:xfrm>
          <a:prstGeom prst="rect">
            <a:avLst/>
          </a:prstGeom>
          <a:noFill/>
        </p:spPr>
        <p:txBody>
          <a:bodyPr wrap="square">
            <a:spAutoFit/>
          </a:bodyPr>
          <a:lstStyle/>
          <a:p>
            <a:pPr algn="l">
              <a:defRPr sz="1600" b="0" i="0">
                <a:solidFill>
                  <a:srgbClr val="888888"/>
                </a:solidFill>
                <a:latin typeface="Arial"/>
              </a:defRPr>
            </a:pPr>
            <a:r>
              <a:t>•  5+ years in B2B technology</a:t>
            </a:r>
          </a:p>
          <a:p>
            <a:pPr algn="l">
              <a:spcBef>
                <a:spcPts val="1000"/>
              </a:spcBef>
              <a:defRPr sz="1600" b="0" i="0">
                <a:solidFill>
                  <a:srgbClr val="888888"/>
                </a:solidFill>
                <a:latin typeface="Arial"/>
              </a:defRPr>
            </a:pPr>
            <a:r>
              <a:t>•  Oxford/MIT AI Programmes / Legal Background</a:t>
            </a:r>
          </a:p>
          <a:p>
            <a:pPr algn="l">
              <a:spcBef>
                <a:spcPts val="1000"/>
              </a:spcBef>
              <a:defRPr sz="1600" b="0" i="0">
                <a:solidFill>
                  <a:srgbClr val="888888"/>
                </a:solidFill>
                <a:latin typeface="Arial"/>
              </a:defRPr>
            </a:pPr>
            <a:r>
              <a:t>•  Co-Founder of Bali Start-Up &amp; Tech (3k+ folks on Meetup/WA)</a:t>
            </a:r>
          </a:p>
        </p:txBody>
      </p:sp>
      <p:sp>
        <p:nvSpPr>
          <p:cNvPr id="5" name="TextBox 4"/>
          <p:cNvSpPr txBox="1"/>
          <p:nvPr/>
        </p:nvSpPr>
        <p:spPr>
          <a:xfrm>
            <a:off x="4572000" y="1645920"/>
            <a:ext cx="3200400" cy="548640"/>
          </a:xfrm>
          <a:prstGeom prst="rect">
            <a:avLst/>
          </a:prstGeom>
          <a:noFill/>
        </p:spPr>
        <p:txBody>
          <a:bodyPr wrap="square">
            <a:spAutoFit/>
          </a:bodyPr>
          <a:lstStyle/>
          <a:p>
            <a:pPr algn="l">
              <a:defRPr sz="2800" b="1" i="0">
                <a:solidFill>
                  <a:srgbClr val="F5F5F5"/>
                </a:solidFill>
                <a:latin typeface="Arial"/>
              </a:defRPr>
            </a:pPr>
            <a:r>
              <a:t>David &amp; Goliath</a:t>
            </a:r>
          </a:p>
        </p:txBody>
      </p:sp>
      <p:sp>
        <p:nvSpPr>
          <p:cNvPr id="6" name="TextBox 5"/>
          <p:cNvSpPr txBox="1"/>
          <p:nvPr/>
        </p:nvSpPr>
        <p:spPr>
          <a:xfrm>
            <a:off x="4572000" y="2377440"/>
            <a:ext cx="3200400" cy="2743200"/>
          </a:xfrm>
          <a:prstGeom prst="rect">
            <a:avLst/>
          </a:prstGeom>
          <a:noFill/>
        </p:spPr>
        <p:txBody>
          <a:bodyPr wrap="square">
            <a:spAutoFit/>
          </a:bodyPr>
          <a:lstStyle/>
          <a:p>
            <a:pPr algn="l">
              <a:defRPr sz="1600" b="0" i="0">
                <a:solidFill>
                  <a:srgbClr val="888888"/>
                </a:solidFill>
                <a:latin typeface="Arial"/>
              </a:defRPr>
            </a:pPr>
            <a:r>
              <a:t>•  AI systems firm for ambitious teams</a:t>
            </a:r>
          </a:p>
          <a:p>
            <a:pPr algn="l">
              <a:spcBef>
                <a:spcPts val="1000"/>
              </a:spcBef>
              <a:defRPr sz="1600" b="0" i="0">
                <a:solidFill>
                  <a:srgbClr val="888888"/>
                </a:solidFill>
                <a:latin typeface="Arial"/>
              </a:defRPr>
            </a:pPr>
            <a:r>
              <a:t>•  Australia founded and globally minded</a:t>
            </a:r>
          </a:p>
          <a:p>
            <a:pPr algn="l">
              <a:spcBef>
                <a:spcPts val="1000"/>
              </a:spcBef>
              <a:defRPr sz="1600" b="0" i="0">
                <a:solidFill>
                  <a:srgbClr val="888888"/>
                </a:solidFill>
                <a:latin typeface="Arial"/>
              </a:defRPr>
            </a:pPr>
            <a:r>
              <a:t>•  We build operating AI infrastructure across revenue, capacity &amp; AI security</a:t>
            </a:r>
          </a:p>
        </p:txBody>
      </p:sp>
      <p:sp>
        <p:nvSpPr>
          <p:cNvPr id="7" name="TextBox 6"/>
          <p:cNvSpPr txBox="1"/>
          <p:nvPr/>
        </p:nvSpPr>
        <p:spPr>
          <a:xfrm>
            <a:off x="8412480" y="1645920"/>
            <a:ext cx="3200400" cy="548640"/>
          </a:xfrm>
          <a:prstGeom prst="rect">
            <a:avLst/>
          </a:prstGeom>
          <a:noFill/>
        </p:spPr>
        <p:txBody>
          <a:bodyPr wrap="square">
            <a:spAutoFit/>
          </a:bodyPr>
          <a:lstStyle/>
          <a:p>
            <a:pPr algn="l">
              <a:defRPr sz="2800" b="1" i="0">
                <a:solidFill>
                  <a:srgbClr val="F5F5F5"/>
                </a:solidFill>
                <a:latin typeface="Arial"/>
              </a:defRPr>
            </a:pPr>
            <a:r>
              <a:t>Oligo Security</a:t>
            </a:r>
          </a:p>
        </p:txBody>
      </p:sp>
      <p:sp>
        <p:nvSpPr>
          <p:cNvPr id="8" name="TextBox 7"/>
          <p:cNvSpPr txBox="1"/>
          <p:nvPr/>
        </p:nvSpPr>
        <p:spPr>
          <a:xfrm>
            <a:off x="8412480" y="2377440"/>
            <a:ext cx="3200400" cy="2743200"/>
          </a:xfrm>
          <a:prstGeom prst="rect">
            <a:avLst/>
          </a:prstGeom>
          <a:noFill/>
        </p:spPr>
        <p:txBody>
          <a:bodyPr wrap="square">
            <a:spAutoFit/>
          </a:bodyPr>
          <a:lstStyle/>
          <a:p>
            <a:pPr algn="l">
              <a:defRPr sz="1600" b="0" i="0">
                <a:solidFill>
                  <a:srgbClr val="888888"/>
                </a:solidFill>
                <a:latin typeface="Arial"/>
              </a:defRPr>
            </a:pPr>
            <a:r>
              <a:t>•  Selected as runtime AI security vendor in AWS Security Hub</a:t>
            </a:r>
          </a:p>
          <a:p>
            <a:pPr algn="l">
              <a:spcBef>
                <a:spcPts val="1000"/>
              </a:spcBef>
              <a:defRPr sz="1600" b="0" i="0">
                <a:solidFill>
                  <a:srgbClr val="888888"/>
                </a:solidFill>
                <a:latin typeface="Arial"/>
              </a:defRPr>
            </a:pPr>
            <a:r>
              <a:t>•  Working with security leaders at APAC's largest companies</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a:spAutoFit/>
          </a:bodyPr>
          <a:lstStyle/>
          <a:p>
            <a:pPr algn="l">
              <a:defRPr sz="1300" b="1" i="0">
                <a:solidFill>
                  <a:srgbClr val="C81E1E"/>
                </a:solidFill>
                <a:latin typeface="Arial"/>
              </a:defRPr>
            </a:pPr>
            <a:r>
              <a:t>6:30 PM</a:t>
            </a:r>
          </a:p>
        </p:txBody>
      </p:sp>
      <p:sp>
        <p:nvSpPr>
          <p:cNvPr id="3" name="TextBox 2"/>
          <p:cNvSpPr txBox="1"/>
          <p:nvPr/>
        </p:nvSpPr>
        <p:spPr>
          <a:xfrm>
            <a:off x="731520" y="1828800"/>
            <a:ext cx="9144000" cy="914400"/>
          </a:xfrm>
          <a:prstGeom prst="rect">
            <a:avLst/>
          </a:prstGeom>
          <a:noFill/>
        </p:spPr>
        <p:txBody>
          <a:bodyPr wrap="square">
            <a:spAutoFit/>
          </a:bodyPr>
          <a:lstStyle/>
          <a:p>
            <a:pPr algn="l">
              <a:defRPr sz="6400" b="1" i="0">
                <a:solidFill>
                  <a:srgbClr val="F5F5F5"/>
                </a:solidFill>
                <a:latin typeface="Arial"/>
              </a:defRPr>
            </a:pPr>
            <a:r>
              <a:t>Money Round</a:t>
            </a:r>
          </a:p>
        </p:txBody>
      </p:sp>
      <p:sp>
        <p:nvSpPr>
          <p:cNvPr id="4" name="Rectangle 3"/>
          <p:cNvSpPr/>
          <p:nvPr/>
        </p:nvSpPr>
        <p:spPr>
          <a:xfrm>
            <a:off x="731520" y="29260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00400"/>
            <a:ext cx="7315200" cy="457200"/>
          </a:xfrm>
          <a:prstGeom prst="rect">
            <a:avLst/>
          </a:prstGeom>
          <a:noFill/>
        </p:spPr>
        <p:txBody>
          <a:bodyPr wrap="square">
            <a:spAutoFit/>
          </a:bodyPr>
          <a:lstStyle/>
          <a:p>
            <a:pPr algn="l">
              <a:defRPr sz="2800" b="1" i="0">
                <a:solidFill>
                  <a:srgbClr val="F5F5F5"/>
                </a:solidFill>
                <a:latin typeface="Arial"/>
              </a:defRPr>
            </a:pPr>
            <a:r>
              <a:t>60-second intros</a:t>
            </a:r>
          </a:p>
        </p:txBody>
      </p:sp>
      <p:sp>
        <p:nvSpPr>
          <p:cNvPr id="6" name="TextBox 5"/>
          <p:cNvSpPr txBox="1"/>
          <p:nvPr/>
        </p:nvSpPr>
        <p:spPr>
          <a:xfrm>
            <a:off x="731520" y="3840480"/>
            <a:ext cx="9144000" cy="731520"/>
          </a:xfrm>
          <a:prstGeom prst="rect">
            <a:avLst/>
          </a:prstGeom>
          <a:noFill/>
        </p:spPr>
        <p:txBody>
          <a:bodyPr wrap="square">
            <a:spAutoFit/>
          </a:bodyPr>
          <a:lstStyle/>
          <a:p>
            <a:pPr algn="l">
              <a:defRPr sz="2000" b="0" i="0">
                <a:solidFill>
                  <a:srgbClr val="888888"/>
                </a:solidFill>
                <a:latin typeface="Arial"/>
              </a:defRPr>
            </a:pPr>
            <a:r>
              <a:t>One way AI made you money, saved you money,</a:t>
            </a:r>
            <a:br/>
            <a:r>
              <a:t>or saved you serious time. No pitches. Just results.</a:t>
            </a:r>
          </a:p>
        </p:txBody>
      </p:sp>
      <p:sp>
        <p:nvSpPr>
          <p:cNvPr id="7" name="Rounded Rectangle 6"/>
          <p:cNvSpPr/>
          <p:nvPr/>
        </p:nvSpPr>
        <p:spPr>
          <a:xfrm>
            <a:off x="731520" y="5029200"/>
            <a:ext cx="1645920" cy="109728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120640"/>
            <a:ext cx="1463040" cy="914400"/>
          </a:xfrm>
          <a:prstGeom prst="rect">
            <a:avLst/>
          </a:prstGeom>
          <a:noFill/>
        </p:spPr>
        <p:txBody>
          <a:bodyPr wrap="square">
            <a:spAutoFit/>
          </a:bodyPr>
          <a:lstStyle/>
          <a:p>
            <a:pPr algn="ctr">
              <a:defRPr sz="4000" b="1" i="0">
                <a:solidFill>
                  <a:srgbClr val="F5F5F5"/>
                </a:solidFill>
                <a:latin typeface="Arial"/>
              </a:defRPr>
            </a:pPr>
            <a:r>
              <a:t>60s</a:t>
            </a:r>
          </a:p>
          <a:p>
            <a:pPr algn="ctr">
              <a:defRPr sz="1100" b="0" i="0">
                <a:solidFill>
                  <a:srgbClr val="F5F5F5"/>
                </a:solidFill>
                <a:latin typeface="Arial"/>
              </a:defRPr>
            </a:pPr>
            <a:r>
              <a:t>PER PERSON</a:t>
            </a:r>
          </a:p>
        </p:txBody>
      </p:sp>
      <p:sp>
        <p:nvSpPr>
          <p:cNvPr id="9" name="Rounded Rectangle 8"/>
          <p:cNvSpPr/>
          <p:nvPr/>
        </p:nvSpPr>
        <p:spPr>
          <a:xfrm>
            <a:off x="2743200" y="5029200"/>
            <a:ext cx="32004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5120640"/>
            <a:ext cx="3017520" cy="914400"/>
          </a:xfrm>
          <a:prstGeom prst="rect">
            <a:avLst/>
          </a:prstGeom>
          <a:noFill/>
        </p:spPr>
        <p:txBody>
          <a:bodyPr wrap="square">
            <a:spAutoFit/>
          </a:bodyPr>
          <a:lstStyle/>
          <a:p>
            <a:pPr algn="ctr">
              <a:defRPr sz="3200" b="1" i="0">
                <a:solidFill>
                  <a:srgbClr val="F5F5F5"/>
                </a:solidFill>
                <a:latin typeface="Arial"/>
              </a:defRPr>
            </a:pPr>
            <a:r>
              <a:t>3 Parts</a:t>
            </a:r>
          </a:p>
          <a:p>
            <a:pPr algn="ctr">
              <a:defRPr sz="1300" b="0" i="0">
                <a:solidFill>
                  <a:srgbClr val="888888"/>
                </a:solidFill>
                <a:latin typeface="Arial"/>
              </a:defRPr>
            </a:pPr>
            <a:r>
              <a:t>Tool / Workflow / Result</a:t>
            </a:r>
          </a:p>
        </p:txBody>
      </p:sp>
      <p:sp>
        <p:nvSpPr>
          <p:cNvPr id="11" name="TextBox 10"/>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2" name="TextBox 11"/>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BEFORE WE START</a:t>
            </a:r>
          </a:p>
        </p:txBody>
      </p:sp>
      <p:sp>
        <p:nvSpPr>
          <p:cNvPr id="3" name="TextBox 2"/>
          <p:cNvSpPr txBox="1"/>
          <p:nvPr/>
        </p:nvSpPr>
        <p:spPr>
          <a:xfrm>
            <a:off x="731520" y="1005840"/>
            <a:ext cx="10058400" cy="822960"/>
          </a:xfrm>
          <a:prstGeom prst="rect">
            <a:avLst/>
          </a:prstGeom>
          <a:noFill/>
        </p:spPr>
        <p:txBody>
          <a:bodyPr wrap="square">
            <a:spAutoFit/>
          </a:bodyPr>
          <a:lstStyle/>
          <a:p>
            <a:pPr algn="l">
              <a:defRPr sz="4800" b="1" i="0">
                <a:solidFill>
                  <a:srgbClr val="F5F5F5"/>
                </a:solidFill>
                <a:latin typeface="Arial"/>
              </a:defRPr>
            </a:pPr>
            <a:r>
              <a:t>Jargon Buster</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10058400" cy="548640"/>
          </a:xfrm>
          <a:prstGeom prst="rect">
            <a:avLst/>
          </a:prstGeom>
          <a:noFill/>
        </p:spPr>
        <p:txBody>
          <a:bodyPr wrap="square">
            <a:spAutoFit/>
          </a:bodyPr>
          <a:lstStyle/>
          <a:p>
            <a:pPr algn="l">
              <a:defRPr sz="1600" b="0" i="0">
                <a:solidFill>
                  <a:srgbClr val="AAAAAA"/>
                </a:solidFill>
                <a:latin typeface="Arial"/>
              </a:defRPr>
            </a:pPr>
            <a:r>
              <a:t>Five terms you will hear tonight. Lock these in first and the signals land harder.</a:t>
            </a:r>
          </a:p>
        </p:txBody>
      </p:sp>
      <p:sp>
        <p:nvSpPr>
          <p:cNvPr id="6" name="TextBox 5"/>
          <p:cNvSpPr txBox="1"/>
          <p:nvPr/>
        </p:nvSpPr>
        <p:spPr>
          <a:xfrm>
            <a:off x="731520" y="3090672"/>
            <a:ext cx="3474720" cy="566928"/>
          </a:xfrm>
          <a:prstGeom prst="rect">
            <a:avLst/>
          </a:prstGeom>
          <a:noFill/>
        </p:spPr>
        <p:txBody>
          <a:bodyPr wrap="square">
            <a:spAutoFit/>
          </a:bodyPr>
          <a:lstStyle/>
          <a:p>
            <a:pPr algn="l">
              <a:defRPr sz="1600" b="1" i="0">
                <a:solidFill>
                  <a:srgbClr val="C81E1E"/>
                </a:solidFill>
                <a:latin typeface="Arial"/>
              </a:defRPr>
            </a:pPr>
            <a:r>
              <a:t>Natural-language coding</a:t>
            </a:r>
          </a:p>
        </p:txBody>
      </p:sp>
      <p:sp>
        <p:nvSpPr>
          <p:cNvPr id="7" name="TextBox 6"/>
          <p:cNvSpPr txBox="1"/>
          <p:nvPr/>
        </p:nvSpPr>
        <p:spPr>
          <a:xfrm>
            <a:off x="4389120" y="3090672"/>
            <a:ext cx="7223760" cy="566928"/>
          </a:xfrm>
          <a:prstGeom prst="rect">
            <a:avLst/>
          </a:prstGeom>
          <a:noFill/>
        </p:spPr>
        <p:txBody>
          <a:bodyPr wrap="square">
            <a:spAutoFit/>
          </a:bodyPr>
          <a:lstStyle/>
          <a:p>
            <a:pPr algn="l">
              <a:defRPr sz="1400" b="0" i="0">
                <a:solidFill>
                  <a:srgbClr val="F5F5F5"/>
                </a:solidFill>
                <a:latin typeface="Arial"/>
              </a:defRPr>
            </a:pPr>
            <a:r>
              <a:t>Describing software in plain English and letting an agent write it. Cursor's whole thesis.</a:t>
            </a:r>
          </a:p>
        </p:txBody>
      </p:sp>
      <p:sp>
        <p:nvSpPr>
          <p:cNvPr id="8" name="Rectangle 7"/>
          <p:cNvSpPr/>
          <p:nvPr/>
        </p:nvSpPr>
        <p:spPr>
          <a:xfrm>
            <a:off x="731520" y="3566160"/>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657600"/>
            <a:ext cx="3474720" cy="566928"/>
          </a:xfrm>
          <a:prstGeom prst="rect">
            <a:avLst/>
          </a:prstGeom>
          <a:noFill/>
        </p:spPr>
        <p:txBody>
          <a:bodyPr wrap="square">
            <a:spAutoFit/>
          </a:bodyPr>
          <a:lstStyle/>
          <a:p>
            <a:pPr algn="l">
              <a:defRPr sz="1600" b="1" i="0">
                <a:solidFill>
                  <a:srgbClr val="C81E1E"/>
                </a:solidFill>
                <a:latin typeface="Arial"/>
              </a:defRPr>
            </a:pPr>
            <a:r>
              <a:t>Mythos-class</a:t>
            </a:r>
          </a:p>
        </p:txBody>
      </p:sp>
      <p:sp>
        <p:nvSpPr>
          <p:cNvPr id="10" name="TextBox 9"/>
          <p:cNvSpPr txBox="1"/>
          <p:nvPr/>
        </p:nvSpPr>
        <p:spPr>
          <a:xfrm>
            <a:off x="4389120" y="3657600"/>
            <a:ext cx="7223760" cy="566928"/>
          </a:xfrm>
          <a:prstGeom prst="rect">
            <a:avLst/>
          </a:prstGeom>
          <a:noFill/>
        </p:spPr>
        <p:txBody>
          <a:bodyPr wrap="square">
            <a:spAutoFit/>
          </a:bodyPr>
          <a:lstStyle/>
          <a:p>
            <a:pPr algn="l">
              <a:defRPr sz="1400" b="0" i="0">
                <a:solidFill>
                  <a:srgbClr val="F5F5F5"/>
                </a:solidFill>
                <a:latin typeface="Arial"/>
              </a:defRPr>
            </a:pPr>
            <a:r>
              <a:t>Anthropic's top capability tier. Claude Fable 5 is the first one released to the public.</a:t>
            </a:r>
          </a:p>
        </p:txBody>
      </p:sp>
      <p:sp>
        <p:nvSpPr>
          <p:cNvPr id="11" name="Rectangle 10"/>
          <p:cNvSpPr/>
          <p:nvPr/>
        </p:nvSpPr>
        <p:spPr>
          <a:xfrm>
            <a:off x="731520" y="4133088"/>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24528"/>
            <a:ext cx="3474720" cy="566928"/>
          </a:xfrm>
          <a:prstGeom prst="rect">
            <a:avLst/>
          </a:prstGeom>
          <a:noFill/>
        </p:spPr>
        <p:txBody>
          <a:bodyPr wrap="square">
            <a:spAutoFit/>
          </a:bodyPr>
          <a:lstStyle/>
          <a:p>
            <a:pPr algn="l">
              <a:defRPr sz="1600" b="1" i="0">
                <a:solidFill>
                  <a:srgbClr val="C81E1E"/>
                </a:solidFill>
                <a:latin typeface="Arial"/>
              </a:defRPr>
            </a:pPr>
            <a:r>
              <a:t>Export Directive</a:t>
            </a:r>
          </a:p>
        </p:txBody>
      </p:sp>
      <p:sp>
        <p:nvSpPr>
          <p:cNvPr id="13" name="TextBox 12"/>
          <p:cNvSpPr txBox="1"/>
          <p:nvPr/>
        </p:nvSpPr>
        <p:spPr>
          <a:xfrm>
            <a:off x="4389120" y="4224528"/>
            <a:ext cx="7223760" cy="566928"/>
          </a:xfrm>
          <a:prstGeom prst="rect">
            <a:avLst/>
          </a:prstGeom>
          <a:noFill/>
        </p:spPr>
        <p:txBody>
          <a:bodyPr wrap="square">
            <a:spAutoFit/>
          </a:bodyPr>
          <a:lstStyle/>
          <a:p>
            <a:pPr algn="l">
              <a:defRPr sz="1400" b="0" i="0">
                <a:solidFill>
                  <a:srgbClr val="F5F5F5"/>
                </a:solidFill>
                <a:latin typeface="Arial"/>
              </a:defRPr>
            </a:pPr>
            <a:r>
              <a:t>A government order that can restrict or pull a model from sale. The reason Fable 5 went offline.</a:t>
            </a:r>
          </a:p>
        </p:txBody>
      </p:sp>
      <p:sp>
        <p:nvSpPr>
          <p:cNvPr id="14" name="Rectangle 13"/>
          <p:cNvSpPr/>
          <p:nvPr/>
        </p:nvSpPr>
        <p:spPr>
          <a:xfrm>
            <a:off x="731520" y="4700016"/>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91456"/>
            <a:ext cx="3474720" cy="566928"/>
          </a:xfrm>
          <a:prstGeom prst="rect">
            <a:avLst/>
          </a:prstGeom>
          <a:noFill/>
        </p:spPr>
        <p:txBody>
          <a:bodyPr wrap="square">
            <a:spAutoFit/>
          </a:bodyPr>
          <a:lstStyle/>
          <a:p>
            <a:pPr algn="l">
              <a:defRPr sz="1600" b="1" i="0">
                <a:solidFill>
                  <a:srgbClr val="C81E1E"/>
                </a:solidFill>
                <a:latin typeface="Arial"/>
              </a:defRPr>
            </a:pPr>
            <a:r>
              <a:t>Token Capital</a:t>
            </a:r>
          </a:p>
        </p:txBody>
      </p:sp>
      <p:sp>
        <p:nvSpPr>
          <p:cNvPr id="16" name="TextBox 15"/>
          <p:cNvSpPr txBox="1"/>
          <p:nvPr/>
        </p:nvSpPr>
        <p:spPr>
          <a:xfrm>
            <a:off x="4389120" y="4791456"/>
            <a:ext cx="7223760" cy="566928"/>
          </a:xfrm>
          <a:prstGeom prst="rect">
            <a:avLst/>
          </a:prstGeom>
          <a:noFill/>
        </p:spPr>
        <p:txBody>
          <a:bodyPr wrap="square">
            <a:spAutoFit/>
          </a:bodyPr>
          <a:lstStyle/>
          <a:p>
            <a:pPr algn="l">
              <a:defRPr sz="1400" b="0" i="0">
                <a:solidFill>
                  <a:srgbClr val="F5F5F5"/>
                </a:solidFill>
                <a:latin typeface="Arial"/>
              </a:defRPr>
            </a:pPr>
            <a:r>
              <a:t>Nadella's term: the AI capability a firm builds and owns, sitting alongside its human capital.</a:t>
            </a:r>
          </a:p>
        </p:txBody>
      </p:sp>
      <p:sp>
        <p:nvSpPr>
          <p:cNvPr id="17" name="Rectangle 16"/>
          <p:cNvSpPr/>
          <p:nvPr/>
        </p:nvSpPr>
        <p:spPr>
          <a:xfrm>
            <a:off x="731520" y="5266944"/>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358384"/>
            <a:ext cx="3474720" cy="566928"/>
          </a:xfrm>
          <a:prstGeom prst="rect">
            <a:avLst/>
          </a:prstGeom>
          <a:noFill/>
        </p:spPr>
        <p:txBody>
          <a:bodyPr wrap="square">
            <a:spAutoFit/>
          </a:bodyPr>
          <a:lstStyle/>
          <a:p>
            <a:pPr algn="l">
              <a:defRPr sz="1600" b="1" i="0">
                <a:solidFill>
                  <a:srgbClr val="C81E1E"/>
                </a:solidFill>
                <a:latin typeface="Arial"/>
              </a:defRPr>
            </a:pPr>
            <a:r>
              <a:t>Workspace Agent</a:t>
            </a:r>
          </a:p>
        </p:txBody>
      </p:sp>
      <p:sp>
        <p:nvSpPr>
          <p:cNvPr id="19" name="TextBox 18"/>
          <p:cNvSpPr txBox="1"/>
          <p:nvPr/>
        </p:nvSpPr>
        <p:spPr>
          <a:xfrm>
            <a:off x="4389120" y="5358384"/>
            <a:ext cx="7223760" cy="566928"/>
          </a:xfrm>
          <a:prstGeom prst="rect">
            <a:avLst/>
          </a:prstGeom>
          <a:noFill/>
        </p:spPr>
        <p:txBody>
          <a:bodyPr wrap="square">
            <a:spAutoFit/>
          </a:bodyPr>
          <a:lstStyle/>
          <a:p>
            <a:pPr algn="l">
              <a:defRPr sz="1400" b="0" i="0">
                <a:solidFill>
                  <a:srgbClr val="F5F5F5"/>
                </a:solidFill>
                <a:latin typeface="Arial"/>
              </a:defRPr>
            </a:pPr>
            <a:r>
              <a:t>A shared team agent that owns a whole workflow, with admins setting which actions it can take.</a:t>
            </a:r>
          </a:p>
        </p:txBody>
      </p:sp>
      <p:sp>
        <p:nvSpPr>
          <p:cNvPr id="20" name="Rectangle 19"/>
          <p:cNvSpPr/>
          <p:nvPr/>
        </p:nvSpPr>
        <p:spPr>
          <a:xfrm>
            <a:off x="731520" y="5833872"/>
            <a:ext cx="10881360" cy="127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6263640"/>
            <a:ext cx="10881360" cy="274320"/>
          </a:xfrm>
          <a:prstGeom prst="rect">
            <a:avLst/>
          </a:prstGeom>
          <a:noFill/>
        </p:spPr>
        <p:txBody>
          <a:bodyPr wrap="square">
            <a:spAutoFit/>
          </a:bodyPr>
          <a:lstStyle/>
          <a:p>
            <a:pPr algn="l">
              <a:defRPr sz="1300" b="0" i="1">
                <a:solidFill>
                  <a:srgbClr val="888888"/>
                </a:solidFill>
                <a:latin typeface="Arial"/>
              </a:defRPr>
            </a:pPr>
            <a:r>
              <a:t>If any of these feel fuzzy, find me at dinner. No dumb questions in this room.</a:t>
            </a:r>
          </a:p>
        </p:txBody>
      </p:sp>
      <p:sp>
        <p:nvSpPr>
          <p:cNvPr id="22" name="TextBox 21"/>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3" name="TextBox 22"/>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1097280"/>
            <a:ext cx="7315200" cy="365760"/>
          </a:xfrm>
          <a:prstGeom prst="rect">
            <a:avLst/>
          </a:prstGeom>
          <a:noFill/>
        </p:spPr>
        <p:txBody>
          <a:bodyPr wrap="square">
            <a:spAutoFit/>
          </a:bodyPr>
          <a:lstStyle/>
          <a:p>
            <a:pPr algn="l">
              <a:defRPr sz="1300" b="1" i="0">
                <a:solidFill>
                  <a:srgbClr val="C81E1E"/>
                </a:solidFill>
                <a:latin typeface="Arial"/>
              </a:defRPr>
            </a:pPr>
            <a:r>
              <a:t>7:00 PM — AI INTEL DROP</a:t>
            </a:r>
          </a:p>
        </p:txBody>
      </p:sp>
      <p:sp>
        <p:nvSpPr>
          <p:cNvPr id="3" name="TextBox 2"/>
          <p:cNvSpPr txBox="1"/>
          <p:nvPr/>
        </p:nvSpPr>
        <p:spPr>
          <a:xfrm>
            <a:off x="731520" y="2011680"/>
            <a:ext cx="9144000" cy="914400"/>
          </a:xfrm>
          <a:prstGeom prst="rect">
            <a:avLst/>
          </a:prstGeom>
          <a:noFill/>
        </p:spPr>
        <p:txBody>
          <a:bodyPr wrap="square">
            <a:spAutoFit/>
          </a:bodyPr>
          <a:lstStyle/>
          <a:p>
            <a:pPr algn="l">
              <a:defRPr sz="5400" b="1" i="0">
                <a:solidFill>
                  <a:srgbClr val="F5F5F5"/>
                </a:solidFill>
                <a:latin typeface="Arial"/>
              </a:defRPr>
            </a:pPr>
            <a:r>
              <a:t>This Week in AI</a:t>
            </a:r>
          </a:p>
        </p:txBody>
      </p:sp>
      <p:sp>
        <p:nvSpPr>
          <p:cNvPr id="4" name="Rectangle 3"/>
          <p:cNvSpPr/>
          <p:nvPr/>
        </p:nvSpPr>
        <p:spPr>
          <a:xfrm>
            <a:off x="731520" y="3108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474720"/>
            <a:ext cx="10515600" cy="822960"/>
          </a:xfrm>
          <a:prstGeom prst="rect">
            <a:avLst/>
          </a:prstGeom>
          <a:noFill/>
        </p:spPr>
        <p:txBody>
          <a:bodyPr wrap="square">
            <a:spAutoFit/>
          </a:bodyPr>
          <a:lstStyle/>
          <a:p>
            <a:pPr algn="l">
              <a:defRPr sz="1800" b="0" i="0">
                <a:solidFill>
                  <a:srgbClr val="888888"/>
                </a:solidFill>
                <a:latin typeface="Arial"/>
              </a:defRPr>
            </a:pPr>
            <a:r>
              <a:t>Six signals from the last fortnight. What happened, and what it means for you.</a:t>
            </a:r>
            <a:br/>
            <a:r>
              <a:t>The theme this week: the frontier is consolidating. You will always rent the model. The edge is the learning loop you own.</a:t>
            </a:r>
          </a:p>
        </p:txBody>
      </p:sp>
      <p:sp>
        <p:nvSpPr>
          <p:cNvPr id="6" name="Rounded Rectangle 5"/>
          <p:cNvSpPr/>
          <p:nvPr/>
        </p:nvSpPr>
        <p:spPr>
          <a:xfrm>
            <a:off x="13716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029200"/>
            <a:ext cx="2286000" cy="457200"/>
          </a:xfrm>
          <a:prstGeom prst="rect">
            <a:avLst/>
          </a:prstGeom>
          <a:noFill/>
        </p:spPr>
        <p:txBody>
          <a:bodyPr wrap="square">
            <a:spAutoFit/>
          </a:bodyPr>
          <a:lstStyle/>
          <a:p>
            <a:pPr algn="ctr">
              <a:defRPr sz="1400" b="1" i="0">
                <a:solidFill>
                  <a:srgbClr val="F5F5F5"/>
                </a:solidFill>
                <a:latin typeface="Arial"/>
              </a:defRPr>
            </a:pPr>
            <a:r>
              <a:t>50+ Sources</a:t>
            </a:r>
          </a:p>
        </p:txBody>
      </p:sp>
      <p:sp>
        <p:nvSpPr>
          <p:cNvPr id="8" name="TextBox 7"/>
          <p:cNvSpPr txBox="1"/>
          <p:nvPr/>
        </p:nvSpPr>
        <p:spPr>
          <a:xfrm>
            <a:off x="3840480" y="4983480"/>
            <a:ext cx="457200" cy="457200"/>
          </a:xfrm>
          <a:prstGeom prst="rect">
            <a:avLst/>
          </a:prstGeom>
          <a:noFill/>
        </p:spPr>
        <p:txBody>
          <a:bodyPr wrap="square">
            <a:spAutoFit/>
          </a:bodyPr>
          <a:lstStyle/>
          <a:p>
            <a:pPr algn="ctr">
              <a:defRPr sz="2800" b="0" i="0">
                <a:solidFill>
                  <a:srgbClr val="C81E1E"/>
                </a:solidFill>
                <a:latin typeface="Arial"/>
              </a:defRPr>
            </a:pPr>
            <a:r>
              <a:t>→</a:t>
            </a:r>
          </a:p>
        </p:txBody>
      </p:sp>
      <p:sp>
        <p:nvSpPr>
          <p:cNvPr id="9" name="Rounded Rectangle 8"/>
          <p:cNvSpPr/>
          <p:nvPr/>
        </p:nvSpPr>
        <p:spPr>
          <a:xfrm>
            <a:off x="45720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5029200"/>
            <a:ext cx="2286000" cy="457200"/>
          </a:xfrm>
          <a:prstGeom prst="rect">
            <a:avLst/>
          </a:prstGeom>
          <a:noFill/>
        </p:spPr>
        <p:txBody>
          <a:bodyPr wrap="square">
            <a:spAutoFit/>
          </a:bodyPr>
          <a:lstStyle/>
          <a:p>
            <a:pPr algn="ctr">
              <a:defRPr sz="1400" b="1" i="0">
                <a:solidFill>
                  <a:srgbClr val="F5F5F5"/>
                </a:solidFill>
                <a:latin typeface="Arial"/>
              </a:defRPr>
            </a:pPr>
            <a:r>
              <a:t>Signal Scoring</a:t>
            </a:r>
          </a:p>
        </p:txBody>
      </p:sp>
      <p:sp>
        <p:nvSpPr>
          <p:cNvPr id="11" name="TextBox 10"/>
          <p:cNvSpPr txBox="1"/>
          <p:nvPr/>
        </p:nvSpPr>
        <p:spPr>
          <a:xfrm>
            <a:off x="7040880" y="4983480"/>
            <a:ext cx="457200" cy="457200"/>
          </a:xfrm>
          <a:prstGeom prst="rect">
            <a:avLst/>
          </a:prstGeom>
          <a:noFill/>
        </p:spPr>
        <p:txBody>
          <a:bodyPr wrap="square">
            <a:spAutoFit/>
          </a:bodyPr>
          <a:lstStyle/>
          <a:p>
            <a:pPr algn="ctr">
              <a:defRPr sz="2800" b="0" i="0">
                <a:solidFill>
                  <a:srgbClr val="C81E1E"/>
                </a:solidFill>
                <a:latin typeface="Arial"/>
              </a:defRPr>
            </a:pPr>
            <a:r>
              <a:t>→</a:t>
            </a:r>
          </a:p>
        </p:txBody>
      </p:sp>
      <p:sp>
        <p:nvSpPr>
          <p:cNvPr id="12" name="Rounded Rectangle 11"/>
          <p:cNvSpPr/>
          <p:nvPr/>
        </p:nvSpPr>
        <p:spPr>
          <a:xfrm>
            <a:off x="7772400" y="4937760"/>
            <a:ext cx="2286000" cy="6400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5029200"/>
            <a:ext cx="2286000" cy="457200"/>
          </a:xfrm>
          <a:prstGeom prst="rect">
            <a:avLst/>
          </a:prstGeom>
          <a:noFill/>
        </p:spPr>
        <p:txBody>
          <a:bodyPr wrap="square">
            <a:spAutoFit/>
          </a:bodyPr>
          <a:lstStyle/>
          <a:p>
            <a:pPr algn="ctr">
              <a:defRPr sz="1400" b="1" i="0">
                <a:solidFill>
                  <a:srgbClr val="F5F5F5"/>
                </a:solidFill>
                <a:latin typeface="Arial"/>
              </a:defRPr>
            </a:pPr>
            <a:r>
              <a:t>Top 6 Tonight</a:t>
            </a:r>
          </a:p>
        </p:txBody>
      </p:sp>
      <p:sp>
        <p:nvSpPr>
          <p:cNvPr id="14" name="TextBox 1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5" name="TextBox 1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01</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600" b="1" i="0">
                <a:solidFill>
                  <a:srgbClr val="F5F5F5"/>
                </a:solidFill>
                <a:latin typeface="Arial"/>
              </a:defRPr>
            </a:pPr>
            <a:r>
              <a:t>SpaceX Buys Cursor</a:t>
            </a:r>
            <a:br/>
            <a:r>
              <a:t>for $60 Billion</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SpaceX signed an agreement to acquire Anysphere, the maker of Cursor, in an all-stock deal worth around $60 billion, filed with the SEC on 16 June. Cursor is the fastest-growing coding tool in the world, near $2.6 billion in annual revenue. Its whole thesis is that you describe software in plain English and an agent writes it. The deal is expected to close in the third quarter.</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FILED 16 JUNE 2026  ·  CLOSES Q3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Coding in plain English just got a rocket-sized backer, and the frontier is consolidating into a few giants. The skill that matters is no longer syntax. It is describing what you want clearly enough for an agent to build it. Everyone in this room can now ship software.</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$60B</a:t>
            </a:r>
          </a:p>
          <a:p>
            <a:pPr algn="l">
              <a:spcBef>
                <a:spcPts val="600"/>
              </a:spcBef>
              <a:defRPr sz="1200" b="0" i="0">
                <a:solidFill>
                  <a:srgbClr val="AAAAAA"/>
                </a:solidFill>
                <a:latin typeface="Arial"/>
              </a:defRPr>
            </a:pPr>
            <a:r>
              <a:t>All-stock acquisition of Anysphere</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$2.6B</a:t>
            </a:r>
          </a:p>
          <a:p>
            <a:pPr algn="l">
              <a:spcBef>
                <a:spcPts val="600"/>
              </a:spcBef>
              <a:defRPr sz="1200" b="0" i="0">
                <a:solidFill>
                  <a:srgbClr val="AAAAAA"/>
                </a:solidFill>
                <a:latin typeface="Arial"/>
              </a:defRPr>
            </a:pPr>
            <a:r>
              <a:t>Cursor annual revenue, from a 2023 start</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Plain English</a:t>
            </a:r>
          </a:p>
          <a:p>
            <a:pPr algn="l">
              <a:spcBef>
                <a:spcPts val="600"/>
              </a:spcBef>
              <a:defRPr sz="1200" b="0" i="0">
                <a:solidFill>
                  <a:srgbClr val="AAAAAA"/>
                </a:solidFill>
                <a:latin typeface="Arial"/>
              </a:defRPr>
            </a:pPr>
            <a:r>
              <a:t>Is becoming the way you write software</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02</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000" b="1" i="0">
                <a:solidFill>
                  <a:srgbClr val="F5F5F5"/>
                </a:solidFill>
                <a:latin typeface="Arial"/>
              </a:defRPr>
            </a:pPr>
            <a:r>
              <a:t>Claude Fable 5 Ships</a:t>
            </a:r>
            <a:br/>
            <a:r>
              <a:t>to Everyone, Then Vanishes</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On 9 June Anthropic released Claude Fable 5, its first Mythos-class model available to the public and the most capable it has ever shipped, scoring more than 10 percent above Opus 4.8 on some benchmarks and free on every paid plan. Within three days a United States export directive forced it temporarily offline.</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RELEASED 9 JUNE 2026  ·  PULLED WITHIN 3 DAYS</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Frontier capability is now a default-tier commodity, not a premium pilot. But model availability is now a geopolitical variable. Do not hard-wire your stack to one model or endpoint. Build for portability and keep a fallback model wired in.</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10%+</a:t>
            </a:r>
          </a:p>
          <a:p>
            <a:pPr algn="l">
              <a:spcBef>
                <a:spcPts val="600"/>
              </a:spcBef>
              <a:defRPr sz="1200" b="0" i="0">
                <a:solidFill>
                  <a:srgbClr val="AAAAAA"/>
                </a:solidFill>
                <a:latin typeface="Arial"/>
              </a:defRPr>
            </a:pPr>
            <a:r>
              <a:t>Above Opus 4.8 on some benchmarks</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Free</a:t>
            </a:r>
          </a:p>
          <a:p>
            <a:pPr algn="l">
              <a:spcBef>
                <a:spcPts val="600"/>
              </a:spcBef>
              <a:defRPr sz="1200" b="0" i="0">
                <a:solidFill>
                  <a:srgbClr val="AAAAAA"/>
                </a:solidFill>
                <a:latin typeface="Arial"/>
              </a:defRPr>
            </a:pPr>
            <a:r>
              <a:t>On every paid plan, through 22 June</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3 days</a:t>
            </a:r>
          </a:p>
          <a:p>
            <a:pPr algn="l">
              <a:spcBef>
                <a:spcPts val="600"/>
              </a:spcBef>
              <a:defRPr sz="1200" b="0" i="0">
                <a:solidFill>
                  <a:srgbClr val="AAAAAA"/>
                </a:solidFill>
                <a:latin typeface="Arial"/>
              </a:defRPr>
            </a:pPr>
            <a:r>
              <a:t>From launch to export-forced offline</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03</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400" b="1" i="0">
                <a:solidFill>
                  <a:srgbClr val="F5F5F5"/>
                </a:solidFill>
                <a:latin typeface="Arial"/>
              </a:defRPr>
            </a:pPr>
            <a:r>
              <a:t>Apple Lets You Pick</a:t>
            </a:r>
            <a:br/>
            <a:r>
              <a:t>Your AI on iPhone</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At WWDC on 8 June, Apple opened iOS 27 with Extensions, a marketplace that lets you set Claude, ChatGPT, Gemini or Grok as your default AI across Apple Intelligence. Siri itself is being rebuilt on Google Gemini, running through Apple's Private Cloud Compute. Betas land in July, with a full launch later in the year.</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WWDC 8 JUNE 2026  ·  BETA JULY, LAUNCH LATER IN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model layer is being commoditised at the operating-system level. Distribution flows to whoever owns the surface, and the phone is the biggest surface there is. If you build on AI, stay model-agnostic and meet people inside the tools they already open.</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4</a:t>
            </a:r>
          </a:p>
          <a:p>
            <a:pPr algn="l">
              <a:spcBef>
                <a:spcPts val="600"/>
              </a:spcBef>
              <a:defRPr sz="1200" b="0" i="0">
                <a:solidFill>
                  <a:srgbClr val="AAAAAA"/>
                </a:solidFill>
                <a:latin typeface="Arial"/>
              </a:defRPr>
            </a:pPr>
            <a:r>
              <a:t>Providers you can set as default</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1B+</a:t>
            </a:r>
          </a:p>
          <a:p>
            <a:pPr algn="l">
              <a:spcBef>
                <a:spcPts val="600"/>
              </a:spcBef>
              <a:defRPr sz="1200" b="0" i="0">
                <a:solidFill>
                  <a:srgbClr val="AAAAAA"/>
                </a:solidFill>
                <a:latin typeface="Arial"/>
              </a:defRPr>
            </a:pPr>
            <a:r>
              <a:t>iPhones in the marketplace</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Gemini</a:t>
            </a:r>
          </a:p>
          <a:p>
            <a:pPr algn="l">
              <a:spcBef>
                <a:spcPts val="600"/>
              </a:spcBef>
              <a:defRPr sz="1200" b="0" i="0">
                <a:solidFill>
                  <a:srgbClr val="AAAAAA"/>
                </a:solidFill>
                <a:latin typeface="Arial"/>
              </a:defRPr>
            </a:pPr>
            <a:r>
              <a:t>Now powers the new Siri</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09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04</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200" b="1" i="0">
                <a:solidFill>
                  <a:srgbClr val="F5F5F5"/>
                </a:solidFill>
                <a:latin typeface="Arial"/>
              </a:defRPr>
            </a:pPr>
            <a:r>
              <a:t>Nadella: A Frontier</a:t>
            </a:r>
            <a:br/>
            <a:r>
              <a:t>Without an Ecosystem</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In a long post that drew more than 28 million views on 14 June, Microsoft's Satya Nadella argued the prize is not picking the best model. It is building a learning loop on top of models where human capital, the judgement and pattern recognition of your people, and token capital, the AI capability you own, compound together. You can offload a task, but you can never offload your learning.</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POSTED 14 JUNE 2026  ·  28M+ VIEWS</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Your moat is not the model you rent. It is the institutional knowledge you encode into systems that improve every time you use them. Capture your judgement, run private evals on outcomes that matter, and keep the company-veteran expertise even when you swap the generalist model underneath.</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Human Capital</a:t>
            </a:r>
          </a:p>
          <a:p>
            <a:pPr algn="l">
              <a:spcBef>
                <a:spcPts val="600"/>
              </a:spcBef>
              <a:defRPr sz="1200" b="0" i="0">
                <a:solidFill>
                  <a:srgbClr val="AAAAAA"/>
                </a:solidFill>
                <a:latin typeface="Arial"/>
              </a:defRPr>
            </a:pPr>
            <a:r>
              <a:t>Judgement, relationships, pattern recognition</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Token Capital</a:t>
            </a:r>
          </a:p>
          <a:p>
            <a:pPr algn="l">
              <a:spcBef>
                <a:spcPts val="600"/>
              </a:spcBef>
              <a:defRPr sz="1200" b="0" i="0">
                <a:solidFill>
                  <a:srgbClr val="AAAAAA"/>
                </a:solidFill>
                <a:latin typeface="Arial"/>
              </a:defRPr>
            </a:pPr>
            <a:r>
              <a:t>The AI capability you build and own</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The Loop</a:t>
            </a:r>
          </a:p>
          <a:p>
            <a:pPr algn="l">
              <a:spcBef>
                <a:spcPts val="600"/>
              </a:spcBef>
              <a:defRPr sz="1200" b="0" i="0">
                <a:solidFill>
                  <a:srgbClr val="AAAAAA"/>
                </a:solidFill>
                <a:latin typeface="Arial"/>
              </a:defRPr>
            </a:pPr>
            <a:r>
              <a:t>Where the two compound is your IP</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05</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200" b="1" i="0">
                <a:solidFill>
                  <a:srgbClr val="F5F5F5"/>
                </a:solidFill>
                <a:latin typeface="Arial"/>
              </a:defRPr>
            </a:pPr>
            <a:r>
              <a:t>ChatGPT Becomes a</a:t>
            </a:r>
            <a:br/>
            <a:r>
              <a:t>Team Operating Surface</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OpenAI is turning ChatGPT into a superapp: agents, Codex coding tools, image generation and partner apps like Canva and Booking.com inside one interface, reported on 7 June. For teams, new Workspace Agents let a shared agent own a whole workflow, with admins setting which actions it can take and watching its usage.</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REPORTED 7 JUNE 2026  ·  ROLLING OUT NOW</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The assistant is becoming the place your team works, not a chatbot you visit. The question stops being which chatbot is best and becomes which workflows you hand over, and what guardrails you set before you do.</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Superapp</a:t>
            </a:r>
          </a:p>
          <a:p>
            <a:pPr algn="l">
              <a:spcBef>
                <a:spcPts val="600"/>
              </a:spcBef>
              <a:defRPr sz="1200" b="0" i="0">
                <a:solidFill>
                  <a:srgbClr val="AAAAAA"/>
                </a:solidFill>
                <a:latin typeface="Arial"/>
              </a:defRPr>
            </a:pPr>
            <a:r>
              <a:t>Agents, Codex, images, partner apps</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Workspace</a:t>
            </a:r>
          </a:p>
          <a:p>
            <a:pPr algn="l">
              <a:spcBef>
                <a:spcPts val="600"/>
              </a:spcBef>
              <a:defRPr sz="1200" b="0" i="0">
                <a:solidFill>
                  <a:srgbClr val="AAAAAA"/>
                </a:solidFill>
                <a:latin typeface="Arial"/>
              </a:defRPr>
            </a:pPr>
            <a:r>
              <a:t>A shared agent owns a workflow</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Admin</a:t>
            </a:r>
          </a:p>
          <a:p>
            <a:pPr algn="l">
              <a:spcBef>
                <a:spcPts val="600"/>
              </a:spcBef>
              <a:defRPr sz="1200" b="0" i="0">
                <a:solidFill>
                  <a:srgbClr val="AAAAAA"/>
                </a:solidFill>
                <a:latin typeface="Arial"/>
              </a:defRPr>
            </a:pPr>
            <a:r>
              <a:t>Set allowed actions, watch usage</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SIGNAL 06</a:t>
            </a:r>
          </a:p>
        </p:txBody>
      </p:sp>
      <p:sp>
        <p:nvSpPr>
          <p:cNvPr id="3" name="TextBox 2"/>
          <p:cNvSpPr txBox="1"/>
          <p:nvPr/>
        </p:nvSpPr>
        <p:spPr>
          <a:xfrm>
            <a:off x="731520" y="1005840"/>
            <a:ext cx="7315200" cy="1371600"/>
          </a:xfrm>
          <a:prstGeom prst="rect">
            <a:avLst/>
          </a:prstGeom>
          <a:noFill/>
        </p:spPr>
        <p:txBody>
          <a:bodyPr wrap="square">
            <a:spAutoFit/>
          </a:bodyPr>
          <a:lstStyle/>
          <a:p>
            <a:pPr algn="l">
              <a:defRPr sz="4400" b="1" i="0">
                <a:solidFill>
                  <a:srgbClr val="F5F5F5"/>
                </a:solidFill>
                <a:latin typeface="Arial"/>
              </a:defRPr>
            </a:pPr>
            <a:r>
              <a:t>Grok Adds a Cockpit</a:t>
            </a:r>
            <a:br/>
            <a:r>
              <a:t>for Many Agents at Once</a:t>
            </a:r>
          </a:p>
        </p:txBody>
      </p:sp>
      <p:sp>
        <p:nvSpPr>
          <p:cNvPr id="4" name="Rectangle 3"/>
          <p:cNvSpPr/>
          <p:nvPr/>
        </p:nvSpPr>
        <p:spPr>
          <a:xfrm>
            <a:off x="731520" y="233172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606040"/>
            <a:ext cx="6858000" cy="1463040"/>
          </a:xfrm>
          <a:prstGeom prst="rect">
            <a:avLst/>
          </a:prstGeom>
          <a:noFill/>
        </p:spPr>
        <p:txBody>
          <a:bodyPr wrap="square">
            <a:spAutoFit/>
          </a:bodyPr>
          <a:lstStyle/>
          <a:p>
            <a:pPr algn="l">
              <a:defRPr sz="1500" b="0" i="0">
                <a:solidFill>
                  <a:srgbClr val="AAAAAA"/>
                </a:solidFill>
                <a:latin typeface="Arial"/>
              </a:defRPr>
            </a:pPr>
            <a:r>
              <a:t>xAI shipped an Agent Dashboard for Grok Build, a single screen to run many coding-agent sessions in parallel, track what is blocked, reply inline and dispatch new work without switching windows. It landed alongside Grok 4.20, tuned to close the factuality gap on current events using X's real-time stream.</a:t>
            </a:r>
          </a:p>
        </p:txBody>
      </p:sp>
      <p:sp>
        <p:nvSpPr>
          <p:cNvPr id="6" name="TextBox 5"/>
          <p:cNvSpPr txBox="1"/>
          <p:nvPr/>
        </p:nvSpPr>
        <p:spPr>
          <a:xfrm>
            <a:off x="731520" y="4160520"/>
            <a:ext cx="7315200" cy="274320"/>
          </a:xfrm>
          <a:prstGeom prst="rect">
            <a:avLst/>
          </a:prstGeom>
          <a:noFill/>
        </p:spPr>
        <p:txBody>
          <a:bodyPr wrap="square">
            <a:spAutoFit/>
          </a:bodyPr>
          <a:lstStyle/>
          <a:p>
            <a:pPr algn="l">
              <a:defRPr sz="1100" b="1" i="0">
                <a:solidFill>
                  <a:srgbClr val="888888"/>
                </a:solidFill>
                <a:latin typeface="Arial"/>
              </a:defRPr>
            </a:pPr>
            <a:r>
              <a:t>MID JUNE 2026</a:t>
            </a:r>
          </a:p>
        </p:txBody>
      </p:sp>
      <p:sp>
        <p:nvSpPr>
          <p:cNvPr id="7" name="Rounded Rectangle 6"/>
          <p:cNvSpPr/>
          <p:nvPr/>
        </p:nvSpPr>
        <p:spPr>
          <a:xfrm>
            <a:off x="731520" y="5349240"/>
            <a:ext cx="6858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349240"/>
            <a:ext cx="50800" cy="109728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58968"/>
            <a:ext cx="6537960" cy="91440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Working with one agent is last year's skill. The new one is supervising a fleet of them at once. The bottleneck shifts from doing the work to reviewing and unblocking several agents running in parallel. Set up your own cockpit before you have ten agents and no way to watch them.</a:t>
            </a:r>
          </a:p>
        </p:txBody>
      </p:sp>
      <p:sp>
        <p:nvSpPr>
          <p:cNvPr id="10" name="Rounded Rectangle 9"/>
          <p:cNvSpPr/>
          <p:nvPr/>
        </p:nvSpPr>
        <p:spPr>
          <a:xfrm>
            <a:off x="7863840" y="128016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92440" y="1463040"/>
            <a:ext cx="3520440" cy="1097280"/>
          </a:xfrm>
          <a:prstGeom prst="rect">
            <a:avLst/>
          </a:prstGeom>
          <a:noFill/>
        </p:spPr>
        <p:txBody>
          <a:bodyPr wrap="square">
            <a:spAutoFit/>
          </a:bodyPr>
          <a:lstStyle/>
          <a:p>
            <a:pPr algn="l">
              <a:defRPr sz="2600" b="1" i="0">
                <a:solidFill>
                  <a:srgbClr val="C81E1E"/>
                </a:solidFill>
                <a:latin typeface="Arial"/>
              </a:defRPr>
            </a:pPr>
            <a:r>
              <a:t>Many</a:t>
            </a:r>
          </a:p>
          <a:p>
            <a:pPr algn="l">
              <a:spcBef>
                <a:spcPts val="600"/>
              </a:spcBef>
              <a:defRPr sz="1200" b="0" i="0">
                <a:solidFill>
                  <a:srgbClr val="AAAAAA"/>
                </a:solidFill>
                <a:latin typeface="Arial"/>
              </a:defRPr>
            </a:pPr>
            <a:r>
              <a:t>Agent sessions on one screen</a:t>
            </a:r>
          </a:p>
        </p:txBody>
      </p:sp>
      <p:sp>
        <p:nvSpPr>
          <p:cNvPr id="12" name="Rounded Rectangle 11"/>
          <p:cNvSpPr/>
          <p:nvPr/>
        </p:nvSpPr>
        <p:spPr>
          <a:xfrm>
            <a:off x="7863840" y="283464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017520"/>
            <a:ext cx="3520440" cy="1097280"/>
          </a:xfrm>
          <a:prstGeom prst="rect">
            <a:avLst/>
          </a:prstGeom>
          <a:noFill/>
        </p:spPr>
        <p:txBody>
          <a:bodyPr wrap="square">
            <a:spAutoFit/>
          </a:bodyPr>
          <a:lstStyle/>
          <a:p>
            <a:pPr algn="l">
              <a:defRPr sz="2600" b="1" i="0">
                <a:solidFill>
                  <a:srgbClr val="C81E1E"/>
                </a:solidFill>
                <a:latin typeface="Arial"/>
              </a:defRPr>
            </a:pPr>
            <a:r>
              <a:t>Inline</a:t>
            </a:r>
          </a:p>
          <a:p>
            <a:pPr algn="l">
              <a:spcBef>
                <a:spcPts val="600"/>
              </a:spcBef>
              <a:defRPr sz="1200" b="0" i="0">
                <a:solidFill>
                  <a:srgbClr val="AAAAAA"/>
                </a:solidFill>
                <a:latin typeface="Arial"/>
              </a:defRPr>
            </a:pPr>
            <a:r>
              <a:t>Reply and unblock without switching</a:t>
            </a:r>
          </a:p>
        </p:txBody>
      </p:sp>
      <p:sp>
        <p:nvSpPr>
          <p:cNvPr id="14" name="Rounded Rectangle 13"/>
          <p:cNvSpPr/>
          <p:nvPr/>
        </p:nvSpPr>
        <p:spPr>
          <a:xfrm>
            <a:off x="7863840" y="4389120"/>
            <a:ext cx="3931920" cy="13716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4572000"/>
            <a:ext cx="3520440" cy="1097280"/>
          </a:xfrm>
          <a:prstGeom prst="rect">
            <a:avLst/>
          </a:prstGeom>
          <a:noFill/>
        </p:spPr>
        <p:txBody>
          <a:bodyPr wrap="square">
            <a:spAutoFit/>
          </a:bodyPr>
          <a:lstStyle/>
          <a:p>
            <a:pPr algn="l">
              <a:defRPr sz="2600" b="1" i="0">
                <a:solidFill>
                  <a:srgbClr val="C81E1E"/>
                </a:solidFill>
                <a:latin typeface="Arial"/>
              </a:defRPr>
            </a:pPr>
            <a:r>
              <a:t>Real-time</a:t>
            </a:r>
          </a:p>
          <a:p>
            <a:pPr algn="l">
              <a:spcBef>
                <a:spcPts val="600"/>
              </a:spcBef>
              <a:defRPr sz="1200" b="0" i="0">
                <a:solidFill>
                  <a:srgbClr val="AAAAAA"/>
                </a:solidFill>
                <a:latin typeface="Arial"/>
              </a:defRPr>
            </a:pPr>
            <a:r>
              <a:t>Grok 4.20 reads current events from X</a:t>
            </a:r>
          </a:p>
        </p:txBody>
      </p:sp>
      <p:sp>
        <p:nvSpPr>
          <p:cNvPr id="16" name="TextBox 15"/>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7" name="TextBox 16"/>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THE THROUGHLINE · SATYA NADELLA</a:t>
            </a:r>
          </a:p>
        </p:txBody>
      </p:sp>
      <p:sp>
        <p:nvSpPr>
          <p:cNvPr id="3" name="TextBox 2"/>
          <p:cNvSpPr txBox="1"/>
          <p:nvPr/>
        </p:nvSpPr>
        <p:spPr>
          <a:xfrm>
            <a:off x="731520" y="960120"/>
            <a:ext cx="10972800" cy="822960"/>
          </a:xfrm>
          <a:prstGeom prst="rect">
            <a:avLst/>
          </a:prstGeom>
          <a:noFill/>
        </p:spPr>
        <p:txBody>
          <a:bodyPr wrap="square">
            <a:spAutoFit/>
          </a:bodyPr>
          <a:lstStyle/>
          <a:p>
            <a:pPr algn="l">
              <a:defRPr sz="4000" b="1" i="0">
                <a:solidFill>
                  <a:srgbClr val="F5F5F5"/>
                </a:solidFill>
                <a:latin typeface="Arial"/>
              </a:defRPr>
            </a:pPr>
            <a:r>
              <a:t>Models Are Not the Moat. The Loop Is.</a:t>
            </a:r>
          </a:p>
        </p:txBody>
      </p:sp>
      <p:sp>
        <p:nvSpPr>
          <p:cNvPr id="4" name="Rectangle 3"/>
          <p:cNvSpPr/>
          <p:nvPr/>
        </p:nvSpPr>
        <p:spPr>
          <a:xfrm>
            <a:off x="731520" y="18288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57400"/>
            <a:ext cx="10698480" cy="822960"/>
          </a:xfrm>
          <a:prstGeom prst="rect">
            <a:avLst/>
          </a:prstGeom>
          <a:noFill/>
        </p:spPr>
        <p:txBody>
          <a:bodyPr wrap="square">
            <a:spAutoFit/>
          </a:bodyPr>
          <a:lstStyle/>
          <a:p>
            <a:pPr algn="l">
              <a:defRPr sz="1500" b="0" i="0">
                <a:solidFill>
                  <a:srgbClr val="AAAAAA"/>
                </a:solidFill>
                <a:latin typeface="Arial"/>
              </a:defRPr>
            </a:pPr>
            <a:r>
              <a:t>Every signal tonight rhymes with Nadella's post this week. Everyone rents the same models. Your edge is the learning loop you build on top, where your people's judgement and your AI compound every time work gets done.</a:t>
            </a:r>
          </a:p>
        </p:txBody>
      </p:sp>
      <p:sp>
        <p:nvSpPr>
          <p:cNvPr id="6" name="Rounded Rectangle 5"/>
          <p:cNvSpPr/>
          <p:nvPr/>
        </p:nvSpPr>
        <p:spPr>
          <a:xfrm>
            <a:off x="731520" y="3063240"/>
            <a:ext cx="5257800" cy="16002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063240"/>
            <a:ext cx="5257800" cy="50800"/>
          </a:xfrm>
          <a:prstGeom prst="rect">
            <a:avLst/>
          </a:prstGeom>
          <a:solidFill>
            <a:srgbClr val="E0B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291840"/>
            <a:ext cx="4800600" cy="365760"/>
          </a:xfrm>
          <a:prstGeom prst="rect">
            <a:avLst/>
          </a:prstGeom>
          <a:noFill/>
        </p:spPr>
        <p:txBody>
          <a:bodyPr wrap="square">
            <a:spAutoFit/>
          </a:bodyPr>
          <a:lstStyle/>
          <a:p>
            <a:pPr algn="l">
              <a:defRPr sz="1500" b="1" i="0">
                <a:solidFill>
                  <a:srgbClr val="E0B040"/>
                </a:solidFill>
                <a:latin typeface="Arial"/>
              </a:defRPr>
            </a:pPr>
            <a:r>
              <a:t>HUMAN CAPITAL</a:t>
            </a:r>
          </a:p>
        </p:txBody>
      </p:sp>
      <p:sp>
        <p:nvSpPr>
          <p:cNvPr id="9" name="TextBox 8"/>
          <p:cNvSpPr txBox="1"/>
          <p:nvPr/>
        </p:nvSpPr>
        <p:spPr>
          <a:xfrm>
            <a:off x="960120" y="3703320"/>
            <a:ext cx="4800600" cy="914400"/>
          </a:xfrm>
          <a:prstGeom prst="rect">
            <a:avLst/>
          </a:prstGeom>
          <a:noFill/>
        </p:spPr>
        <p:txBody>
          <a:bodyPr wrap="square">
            <a:spAutoFit/>
          </a:bodyPr>
          <a:lstStyle/>
          <a:p>
            <a:pPr algn="l">
              <a:defRPr sz="1300" b="0" i="0">
                <a:solidFill>
                  <a:srgbClr val="AAAAAA"/>
                </a:solidFill>
                <a:latin typeface="Arial"/>
              </a:defRPr>
            </a:pPr>
            <a:r>
              <a:t>Judgement, taste, relationships and pattern recognition. The expertise that lives, undocumented, in your best people's heads.</a:t>
            </a:r>
          </a:p>
        </p:txBody>
      </p:sp>
      <p:sp>
        <p:nvSpPr>
          <p:cNvPr id="10" name="Rounded Rectangle 9"/>
          <p:cNvSpPr/>
          <p:nvPr/>
        </p:nvSpPr>
        <p:spPr>
          <a:xfrm>
            <a:off x="6355080" y="3063240"/>
            <a:ext cx="5257800" cy="16002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3063240"/>
            <a:ext cx="52578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291840"/>
            <a:ext cx="4800600" cy="365760"/>
          </a:xfrm>
          <a:prstGeom prst="rect">
            <a:avLst/>
          </a:prstGeom>
          <a:noFill/>
        </p:spPr>
        <p:txBody>
          <a:bodyPr wrap="square">
            <a:spAutoFit/>
          </a:bodyPr>
          <a:lstStyle/>
          <a:p>
            <a:pPr algn="l">
              <a:defRPr sz="1500" b="1" i="0">
                <a:solidFill>
                  <a:srgbClr val="C81E1E"/>
                </a:solidFill>
                <a:latin typeface="Arial"/>
              </a:defRPr>
            </a:pPr>
            <a:r>
              <a:t>TOKEN CAPITAL</a:t>
            </a:r>
          </a:p>
        </p:txBody>
      </p:sp>
      <p:sp>
        <p:nvSpPr>
          <p:cNvPr id="13" name="TextBox 12"/>
          <p:cNvSpPr txBox="1"/>
          <p:nvPr/>
        </p:nvSpPr>
        <p:spPr>
          <a:xfrm>
            <a:off x="6583680" y="3703320"/>
            <a:ext cx="4800600" cy="914400"/>
          </a:xfrm>
          <a:prstGeom prst="rect">
            <a:avLst/>
          </a:prstGeom>
          <a:noFill/>
        </p:spPr>
        <p:txBody>
          <a:bodyPr wrap="square">
            <a:spAutoFit/>
          </a:bodyPr>
          <a:lstStyle/>
          <a:p>
            <a:pPr algn="l">
              <a:defRPr sz="1300" b="0" i="0">
                <a:solidFill>
                  <a:srgbClr val="AAAAAA"/>
                </a:solidFill>
                <a:latin typeface="Arial"/>
              </a:defRPr>
            </a:pPr>
            <a:r>
              <a:t>The AI capability you build and own. Your agents, context, prompts and evals. Not the rented model underneath.</a:t>
            </a:r>
          </a:p>
        </p:txBody>
      </p:sp>
      <p:sp>
        <p:nvSpPr>
          <p:cNvPr id="14" name="TextBox 13"/>
          <p:cNvSpPr txBox="1"/>
          <p:nvPr/>
        </p:nvSpPr>
        <p:spPr>
          <a:xfrm>
            <a:off x="731520" y="4800600"/>
            <a:ext cx="10698480" cy="365760"/>
          </a:xfrm>
          <a:prstGeom prst="rect">
            <a:avLst/>
          </a:prstGeom>
          <a:noFill/>
        </p:spPr>
        <p:txBody>
          <a:bodyPr wrap="square">
            <a:spAutoFit/>
          </a:bodyPr>
          <a:lstStyle/>
          <a:p>
            <a:pPr algn="ctr">
              <a:defRPr sz="1300" b="0" i="1">
                <a:solidFill>
                  <a:srgbClr val="C81E1E"/>
                </a:solidFill>
                <a:latin typeface="Arial"/>
              </a:defRPr>
            </a:pPr>
            <a:r>
              <a:t>Build the loop every model plugs into. The value is in the loop between them, not either one alone.</a:t>
            </a:r>
          </a:p>
        </p:txBody>
      </p:sp>
      <p:sp>
        <p:nvSpPr>
          <p:cNvPr id="15" name="Rounded Rectangle 14"/>
          <p:cNvSpPr/>
          <p:nvPr/>
        </p:nvSpPr>
        <p:spPr>
          <a:xfrm>
            <a:off x="731520" y="5303520"/>
            <a:ext cx="10698480" cy="1051560"/>
          </a:xfrm>
          <a:prstGeom prst="roundRect">
            <a:avLst/>
          </a:prstGeom>
          <a:solidFill>
            <a:srgbClr val="333333"/>
          </a:solidFill>
          <a:ln w="127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0680"/>
            <a:ext cx="10332720" cy="868680"/>
          </a:xfrm>
          <a:prstGeom prst="rect">
            <a:avLst/>
          </a:prstGeom>
          <a:noFill/>
        </p:spPr>
        <p:txBody>
          <a:bodyPr wrap="square">
            <a:spAutoFit/>
          </a:bodyPr>
          <a:lstStyle/>
          <a:p>
            <a:pPr algn="ctr">
              <a:defRPr sz="2200" b="1" i="0">
                <a:solidFill>
                  <a:srgbClr val="F5F5F5"/>
                </a:solidFill>
                <a:latin typeface="Arial"/>
              </a:defRPr>
            </a:pPr>
            <a:r>
              <a:t>You can offload a task. You can never offload your learning.</a:t>
            </a:r>
          </a:p>
          <a:p>
            <a:pPr algn="ctr">
              <a:spcBef>
                <a:spcPts val="800"/>
              </a:spcBef>
              <a:defRPr sz="1200" b="0" i="0">
                <a:solidFill>
                  <a:srgbClr val="AAAAAA"/>
                </a:solidFill>
                <a:latin typeface="Arial"/>
              </a:defRPr>
            </a:pPr>
            <a:r>
              <a:t>Capture corrections, run private evals on outcomes that matter, and swap the model without losing the company veteran. The loop compounds. That is the moat.</a:t>
            </a:r>
          </a:p>
        </p:txBody>
      </p:sp>
      <p:sp>
        <p:nvSpPr>
          <p:cNvPr id="17" name="TextBox 1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8" name="TextBox 1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ACTION OF THE WEEK</a:t>
            </a:r>
          </a:p>
        </p:txBody>
      </p:sp>
      <p:sp>
        <p:nvSpPr>
          <p:cNvPr id="3" name="TextBox 2"/>
          <p:cNvSpPr txBox="1"/>
          <p:nvPr/>
        </p:nvSpPr>
        <p:spPr>
          <a:xfrm>
            <a:off x="731520" y="1005840"/>
            <a:ext cx="9144000" cy="914400"/>
          </a:xfrm>
          <a:prstGeom prst="rect">
            <a:avLst/>
          </a:prstGeom>
          <a:noFill/>
        </p:spPr>
        <p:txBody>
          <a:bodyPr wrap="square">
            <a:spAutoFit/>
          </a:bodyPr>
          <a:lstStyle/>
          <a:p>
            <a:pPr algn="l">
              <a:defRPr sz="3800" b="1" i="0">
                <a:solidFill>
                  <a:srgbClr val="F5F5F5"/>
                </a:solidFill>
                <a:latin typeface="Arial"/>
              </a:defRPr>
            </a:pPr>
            <a:r>
              <a:t>Start Your Own Learning Loop</a:t>
            </a:r>
          </a:p>
        </p:txBody>
      </p:sp>
      <p:sp>
        <p:nvSpPr>
          <p:cNvPr id="4" name="Rectangle 3"/>
          <p:cNvSpPr/>
          <p:nvPr/>
        </p:nvSpPr>
        <p:spPr>
          <a:xfrm>
            <a:off x="731520" y="196596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40280"/>
            <a:ext cx="8503920" cy="914400"/>
          </a:xfrm>
          <a:prstGeom prst="rect">
            <a:avLst/>
          </a:prstGeom>
          <a:noFill/>
        </p:spPr>
        <p:txBody>
          <a:bodyPr wrap="square">
            <a:spAutoFit/>
          </a:bodyPr>
          <a:lstStyle/>
          <a:p>
            <a:pPr algn="l">
              <a:defRPr sz="1500" b="0" i="0">
                <a:solidFill>
                  <a:srgbClr val="AAAAAA"/>
                </a:solidFill>
                <a:latin typeface="Arial"/>
              </a:defRPr>
            </a:pPr>
            <a:r>
              <a:t>Every signal tonight says the same thing. The model is the rented part. Your durable edge is the workflow and judgement you turn into a system that improves each time you use it. Start one this week.</a:t>
            </a:r>
          </a:p>
        </p:txBody>
      </p:sp>
      <p:sp>
        <p:nvSpPr>
          <p:cNvPr id="6" name="Rounded Rectangle 5"/>
          <p:cNvSpPr/>
          <p:nvPr/>
        </p:nvSpPr>
        <p:spPr>
          <a:xfrm>
            <a:off x="9601200" y="1097280"/>
            <a:ext cx="2194560" cy="1645920"/>
          </a:xfrm>
          <a:prstGeom prst="round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1417320"/>
            <a:ext cx="2194560" cy="1280160"/>
          </a:xfrm>
          <a:prstGeom prst="rect">
            <a:avLst/>
          </a:prstGeom>
          <a:noFill/>
        </p:spPr>
        <p:txBody>
          <a:bodyPr wrap="square">
            <a:spAutoFit/>
          </a:bodyPr>
          <a:lstStyle/>
          <a:p>
            <a:pPr algn="ctr">
              <a:defRPr sz="5600" b="1" i="0">
                <a:solidFill>
                  <a:srgbClr val="F5F5F5"/>
                </a:solidFill>
                <a:latin typeface="Arial"/>
              </a:defRPr>
            </a:pPr>
            <a:r>
              <a:t>10</a:t>
            </a:r>
          </a:p>
          <a:p>
            <a:pPr algn="ctr">
              <a:spcBef>
                <a:spcPts val="200"/>
              </a:spcBef>
              <a:defRPr sz="1600" b="1" i="0">
                <a:solidFill>
                  <a:srgbClr val="F5F5F5"/>
                </a:solidFill>
                <a:latin typeface="Arial"/>
              </a:defRPr>
            </a:pPr>
            <a:r>
              <a:t>MINUTES</a:t>
            </a:r>
          </a:p>
          <a:p>
            <a:pPr algn="ctr">
              <a:spcBef>
                <a:spcPts val="600"/>
              </a:spcBef>
              <a:defRPr sz="1000" b="0" i="0">
                <a:solidFill>
                  <a:srgbClr val="F5F5F5"/>
                </a:solidFill>
                <a:latin typeface="Arial"/>
              </a:defRPr>
            </a:pPr>
            <a:r>
              <a:t>To capture the first one</a:t>
            </a:r>
          </a:p>
        </p:txBody>
      </p:sp>
      <p:sp>
        <p:nvSpPr>
          <p:cNvPr id="8" name="Rounded Rectangle 7"/>
          <p:cNvSpPr/>
          <p:nvPr/>
        </p:nvSpPr>
        <p:spPr>
          <a:xfrm>
            <a:off x="54864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39312"/>
            <a:ext cx="548640" cy="457200"/>
          </a:xfrm>
          <a:prstGeom prst="rect">
            <a:avLst/>
          </a:prstGeom>
          <a:noFill/>
        </p:spPr>
        <p:txBody>
          <a:bodyPr wrap="square">
            <a:spAutoFit/>
          </a:bodyPr>
          <a:lstStyle/>
          <a:p>
            <a:pPr algn="ctr">
              <a:defRPr sz="1500" b="1" i="0">
                <a:solidFill>
                  <a:srgbClr val="F5F5F5"/>
                </a:solidFill>
                <a:latin typeface="Arial"/>
              </a:defRPr>
            </a:pPr>
            <a:r>
              <a:t>01</a:t>
            </a:r>
          </a:p>
        </p:txBody>
      </p:sp>
      <p:sp>
        <p:nvSpPr>
          <p:cNvPr id="11" name="TextBox 10"/>
          <p:cNvSpPr txBox="1"/>
          <p:nvPr/>
        </p:nvSpPr>
        <p:spPr>
          <a:xfrm>
            <a:off x="1463040" y="3639312"/>
            <a:ext cx="1691640" cy="411480"/>
          </a:xfrm>
          <a:prstGeom prst="rect">
            <a:avLst/>
          </a:prstGeom>
          <a:noFill/>
        </p:spPr>
        <p:txBody>
          <a:bodyPr wrap="square">
            <a:spAutoFit/>
          </a:bodyPr>
          <a:lstStyle/>
          <a:p>
            <a:pPr algn="l">
              <a:defRPr sz="1800" b="1" i="0">
                <a:solidFill>
                  <a:srgbClr val="F5F5F5"/>
                </a:solidFill>
                <a:latin typeface="Arial"/>
              </a:defRPr>
            </a:pPr>
            <a:r>
              <a:t>Pick</a:t>
            </a:r>
          </a:p>
        </p:txBody>
      </p:sp>
      <p:sp>
        <p:nvSpPr>
          <p:cNvPr id="12" name="TextBox 11"/>
          <p:cNvSpPr txBox="1"/>
          <p:nvPr/>
        </p:nvSpPr>
        <p:spPr>
          <a:xfrm>
            <a:off x="822960" y="4251960"/>
            <a:ext cx="2240280" cy="640080"/>
          </a:xfrm>
          <a:prstGeom prst="rect">
            <a:avLst/>
          </a:prstGeom>
          <a:noFill/>
        </p:spPr>
        <p:txBody>
          <a:bodyPr wrap="square">
            <a:spAutoFit/>
          </a:bodyPr>
          <a:lstStyle/>
          <a:p>
            <a:pPr algn="l">
              <a:defRPr sz="1200" b="0" i="0">
                <a:solidFill>
                  <a:srgbClr val="AAAAAA"/>
                </a:solidFill>
                <a:latin typeface="Arial"/>
              </a:defRPr>
            </a:pPr>
            <a:r>
              <a:t>One workflow you repeat: a proposal, a research digest, a code review</a:t>
            </a:r>
          </a:p>
        </p:txBody>
      </p:sp>
      <p:sp>
        <p:nvSpPr>
          <p:cNvPr id="13" name="TextBox 12"/>
          <p:cNvSpPr txBox="1"/>
          <p:nvPr/>
        </p:nvSpPr>
        <p:spPr>
          <a:xfrm>
            <a:off x="320497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14" name="Rounded Rectangle 13"/>
          <p:cNvSpPr/>
          <p:nvPr/>
        </p:nvSpPr>
        <p:spPr>
          <a:xfrm>
            <a:off x="333756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1188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639312"/>
            <a:ext cx="548640" cy="457200"/>
          </a:xfrm>
          <a:prstGeom prst="rect">
            <a:avLst/>
          </a:prstGeom>
          <a:noFill/>
        </p:spPr>
        <p:txBody>
          <a:bodyPr wrap="square">
            <a:spAutoFit/>
          </a:bodyPr>
          <a:lstStyle/>
          <a:p>
            <a:pPr algn="ctr">
              <a:defRPr sz="1500" b="1" i="0">
                <a:solidFill>
                  <a:srgbClr val="F5F5F5"/>
                </a:solidFill>
                <a:latin typeface="Arial"/>
              </a:defRPr>
            </a:pPr>
            <a:r>
              <a:t>02</a:t>
            </a:r>
          </a:p>
        </p:txBody>
      </p:sp>
      <p:sp>
        <p:nvSpPr>
          <p:cNvPr id="17" name="TextBox 16"/>
          <p:cNvSpPr txBox="1"/>
          <p:nvPr/>
        </p:nvSpPr>
        <p:spPr>
          <a:xfrm>
            <a:off x="4251960" y="3639312"/>
            <a:ext cx="1691640" cy="411480"/>
          </a:xfrm>
          <a:prstGeom prst="rect">
            <a:avLst/>
          </a:prstGeom>
          <a:noFill/>
        </p:spPr>
        <p:txBody>
          <a:bodyPr wrap="square">
            <a:spAutoFit/>
          </a:bodyPr>
          <a:lstStyle/>
          <a:p>
            <a:pPr algn="l">
              <a:defRPr sz="1800" b="1" i="0">
                <a:solidFill>
                  <a:srgbClr val="F5F5F5"/>
                </a:solidFill>
                <a:latin typeface="Arial"/>
              </a:defRPr>
            </a:pPr>
            <a:r>
              <a:t>Capture</a:t>
            </a:r>
          </a:p>
        </p:txBody>
      </p:sp>
      <p:sp>
        <p:nvSpPr>
          <p:cNvPr id="18" name="TextBox 17"/>
          <p:cNvSpPr txBox="1"/>
          <p:nvPr/>
        </p:nvSpPr>
        <p:spPr>
          <a:xfrm>
            <a:off x="3611880" y="4251960"/>
            <a:ext cx="2240280" cy="640080"/>
          </a:xfrm>
          <a:prstGeom prst="rect">
            <a:avLst/>
          </a:prstGeom>
          <a:noFill/>
        </p:spPr>
        <p:txBody>
          <a:bodyPr wrap="square">
            <a:spAutoFit/>
          </a:bodyPr>
          <a:lstStyle/>
          <a:p>
            <a:pPr algn="l">
              <a:defRPr sz="1200" b="0" i="0">
                <a:solidFill>
                  <a:srgbClr val="AAAAAA"/>
                </a:solidFill>
                <a:latin typeface="Arial"/>
              </a:defRPr>
            </a:pPr>
            <a:r>
              <a:t>Write down the judgement you apply: good examples, rules, the gotchas</a:t>
            </a:r>
          </a:p>
        </p:txBody>
      </p:sp>
      <p:sp>
        <p:nvSpPr>
          <p:cNvPr id="19" name="TextBox 18"/>
          <p:cNvSpPr txBox="1"/>
          <p:nvPr/>
        </p:nvSpPr>
        <p:spPr>
          <a:xfrm>
            <a:off x="599389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0" name="Rounded Rectangle 19"/>
          <p:cNvSpPr/>
          <p:nvPr/>
        </p:nvSpPr>
        <p:spPr>
          <a:xfrm>
            <a:off x="612648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639312"/>
            <a:ext cx="548640" cy="457200"/>
          </a:xfrm>
          <a:prstGeom prst="rect">
            <a:avLst/>
          </a:prstGeom>
          <a:noFill/>
        </p:spPr>
        <p:txBody>
          <a:bodyPr wrap="square">
            <a:spAutoFit/>
          </a:bodyPr>
          <a:lstStyle/>
          <a:p>
            <a:pPr algn="ctr">
              <a:defRPr sz="1500" b="1" i="0">
                <a:solidFill>
                  <a:srgbClr val="F5F5F5"/>
                </a:solidFill>
                <a:latin typeface="Arial"/>
              </a:defRPr>
            </a:pPr>
            <a:r>
              <a:t>03</a:t>
            </a:r>
          </a:p>
        </p:txBody>
      </p:sp>
      <p:sp>
        <p:nvSpPr>
          <p:cNvPr id="23" name="TextBox 22"/>
          <p:cNvSpPr txBox="1"/>
          <p:nvPr/>
        </p:nvSpPr>
        <p:spPr>
          <a:xfrm>
            <a:off x="7040880" y="3639312"/>
            <a:ext cx="1691640" cy="411480"/>
          </a:xfrm>
          <a:prstGeom prst="rect">
            <a:avLst/>
          </a:prstGeom>
          <a:noFill/>
        </p:spPr>
        <p:txBody>
          <a:bodyPr wrap="square">
            <a:spAutoFit/>
          </a:bodyPr>
          <a:lstStyle/>
          <a:p>
            <a:pPr algn="l">
              <a:defRPr sz="1800" b="1" i="0">
                <a:solidFill>
                  <a:srgbClr val="F5F5F5"/>
                </a:solidFill>
                <a:latin typeface="Arial"/>
              </a:defRPr>
            </a:pPr>
            <a:r>
              <a:t>Encode</a:t>
            </a:r>
          </a:p>
        </p:txBody>
      </p:sp>
      <p:sp>
        <p:nvSpPr>
          <p:cNvPr id="24" name="TextBox 23"/>
          <p:cNvSpPr txBox="1"/>
          <p:nvPr/>
        </p:nvSpPr>
        <p:spPr>
          <a:xfrm>
            <a:off x="6400800" y="4251960"/>
            <a:ext cx="2240280" cy="640080"/>
          </a:xfrm>
          <a:prstGeom prst="rect">
            <a:avLst/>
          </a:prstGeom>
          <a:noFill/>
        </p:spPr>
        <p:txBody>
          <a:bodyPr wrap="square">
            <a:spAutoFit/>
          </a:bodyPr>
          <a:lstStyle/>
          <a:p>
            <a:pPr algn="l">
              <a:defRPr sz="1200" b="0" i="0">
                <a:solidFill>
                  <a:srgbClr val="AAAAAA"/>
                </a:solidFill>
                <a:latin typeface="Arial"/>
              </a:defRPr>
            </a:pPr>
            <a:r>
              <a:t>Turn it into a prompt, skill or agent that any model can run</a:t>
            </a:r>
          </a:p>
        </p:txBody>
      </p:sp>
      <p:sp>
        <p:nvSpPr>
          <p:cNvPr id="25" name="TextBox 24"/>
          <p:cNvSpPr txBox="1"/>
          <p:nvPr/>
        </p:nvSpPr>
        <p:spPr>
          <a:xfrm>
            <a:off x="8782812" y="3931920"/>
            <a:ext cx="182880" cy="457200"/>
          </a:xfrm>
          <a:prstGeom prst="rect">
            <a:avLst/>
          </a:prstGeom>
          <a:noFill/>
        </p:spPr>
        <p:txBody>
          <a:bodyPr wrap="square">
            <a:spAutoFit/>
          </a:bodyPr>
          <a:lstStyle/>
          <a:p>
            <a:pPr algn="ctr">
              <a:defRPr sz="2200" b="1" i="0">
                <a:solidFill>
                  <a:srgbClr val="C81E1E"/>
                </a:solidFill>
                <a:latin typeface="Arial"/>
              </a:defRPr>
            </a:pPr>
            <a:r>
              <a:t>›</a:t>
            </a:r>
          </a:p>
        </p:txBody>
      </p:sp>
      <p:sp>
        <p:nvSpPr>
          <p:cNvPr id="26" name="Rounded Rectangle 25"/>
          <p:cNvSpPr/>
          <p:nvPr/>
        </p:nvSpPr>
        <p:spPr>
          <a:xfrm>
            <a:off x="8915400" y="3383280"/>
            <a:ext cx="2697480" cy="15544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35661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639312"/>
            <a:ext cx="548640" cy="457200"/>
          </a:xfrm>
          <a:prstGeom prst="rect">
            <a:avLst/>
          </a:prstGeom>
          <a:noFill/>
        </p:spPr>
        <p:txBody>
          <a:bodyPr wrap="square">
            <a:spAutoFit/>
          </a:bodyPr>
          <a:lstStyle/>
          <a:p>
            <a:pPr algn="ctr">
              <a:defRPr sz="1500" b="1" i="0">
                <a:solidFill>
                  <a:srgbClr val="F5F5F5"/>
                </a:solidFill>
                <a:latin typeface="Arial"/>
              </a:defRPr>
            </a:pPr>
            <a:r>
              <a:t>04</a:t>
            </a:r>
          </a:p>
        </p:txBody>
      </p:sp>
      <p:sp>
        <p:nvSpPr>
          <p:cNvPr id="29" name="TextBox 28"/>
          <p:cNvSpPr txBox="1"/>
          <p:nvPr/>
        </p:nvSpPr>
        <p:spPr>
          <a:xfrm>
            <a:off x="9829800" y="3639312"/>
            <a:ext cx="1691640" cy="411480"/>
          </a:xfrm>
          <a:prstGeom prst="rect">
            <a:avLst/>
          </a:prstGeom>
          <a:noFill/>
        </p:spPr>
        <p:txBody>
          <a:bodyPr wrap="square">
            <a:spAutoFit/>
          </a:bodyPr>
          <a:lstStyle/>
          <a:p>
            <a:pPr algn="l">
              <a:defRPr sz="1800" b="1" i="0">
                <a:solidFill>
                  <a:srgbClr val="F5F5F5"/>
                </a:solidFill>
                <a:latin typeface="Arial"/>
              </a:defRPr>
            </a:pPr>
            <a:r>
              <a:t>Compound</a:t>
            </a:r>
          </a:p>
        </p:txBody>
      </p:sp>
      <p:sp>
        <p:nvSpPr>
          <p:cNvPr id="30" name="TextBox 29"/>
          <p:cNvSpPr txBox="1"/>
          <p:nvPr/>
        </p:nvSpPr>
        <p:spPr>
          <a:xfrm>
            <a:off x="9189720" y="4251960"/>
            <a:ext cx="2240280" cy="640080"/>
          </a:xfrm>
          <a:prstGeom prst="rect">
            <a:avLst/>
          </a:prstGeom>
          <a:noFill/>
        </p:spPr>
        <p:txBody>
          <a:bodyPr wrap="square">
            <a:spAutoFit/>
          </a:bodyPr>
          <a:lstStyle/>
          <a:p>
            <a:pPr algn="l">
              <a:defRPr sz="1200" b="0" i="0">
                <a:solidFill>
                  <a:srgbClr val="AAAAAA"/>
                </a:solidFill>
                <a:latin typeface="Arial"/>
              </a:defRPr>
            </a:pPr>
            <a:r>
              <a:t>Save every correction back in. Each run makes the next one better</a:t>
            </a:r>
          </a:p>
        </p:txBody>
      </p:sp>
      <p:sp>
        <p:nvSpPr>
          <p:cNvPr id="31" name="Rounded Rectangle 30"/>
          <p:cNvSpPr/>
          <p:nvPr/>
        </p:nvSpPr>
        <p:spPr>
          <a:xfrm>
            <a:off x="731520" y="5257800"/>
            <a:ext cx="10698480" cy="114300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257800"/>
            <a:ext cx="50800" cy="11430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367528"/>
            <a:ext cx="10378440" cy="960120"/>
          </a:xfrm>
          <a:prstGeom prst="rect">
            <a:avLst/>
          </a:prstGeom>
          <a:noFill/>
        </p:spPr>
        <p:txBody>
          <a:bodyPr wrap="square">
            <a:spAutoFit/>
          </a:bodyPr>
          <a:lstStyle/>
          <a:p>
            <a:pPr algn="l">
              <a:defRPr sz="1300" b="1" i="0">
                <a:solidFill>
                  <a:srgbClr val="F5F5F5"/>
                </a:solidFill>
                <a:latin typeface="Arial"/>
              </a:defRPr>
            </a:pPr>
            <a:r>
              <a:t>What this means for you:</a:t>
            </a:r>
          </a:p>
          <a:p>
            <a:pPr algn="l">
              <a:spcBef>
                <a:spcPts val="600"/>
              </a:spcBef>
              <a:defRPr sz="1200" b="0" i="0">
                <a:solidFill>
                  <a:srgbClr val="AAAAAA"/>
                </a:solidFill>
                <a:latin typeface="Arial"/>
              </a:defRPr>
            </a:pPr>
            <a:r>
              <a:t>You can offload a task, but you can never offload your learning. The teams that win are not the ones renting the best model. They are the ones whose systems get smarter every week, on whatever model is best, cheapest, or simply still online. That loop is your moat.</a:t>
            </a:r>
          </a:p>
        </p:txBody>
      </p:sp>
      <p:sp>
        <p:nvSpPr>
          <p:cNvPr id="34" name="TextBox 3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35" name="TextBox 3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BY TIER</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000" b="1" i="0">
                <a:solidFill>
                  <a:srgbClr val="F5F5F5"/>
                </a:solidFill>
                <a:latin typeface="Arial"/>
              </a:defRPr>
            </a:pPr>
            <a:r>
              <a:t>What To Do With This Week's News</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548640"/>
          </a:xfrm>
          <a:prstGeom prst="rect">
            <a:avLst/>
          </a:prstGeom>
          <a:noFill/>
        </p:spPr>
        <p:txBody>
          <a:bodyPr wrap="square">
            <a:spAutoFit/>
          </a:bodyPr>
          <a:lstStyle/>
          <a:p>
            <a:pPr algn="l">
              <a:defRPr sz="1600" b="0" i="0">
                <a:solidFill>
                  <a:srgbClr val="AAAAAA"/>
                </a:solidFill>
                <a:latin typeface="Arial"/>
              </a:defRPr>
            </a:pPr>
            <a:r>
              <a:t>One action calibrated to where you are right now. Pick your column.</a:t>
            </a:r>
          </a:p>
        </p:txBody>
      </p:sp>
      <p:sp>
        <p:nvSpPr>
          <p:cNvPr id="6" name="Rounded Rectangle 5"/>
          <p:cNvSpPr/>
          <p:nvPr/>
        </p:nvSpPr>
        <p:spPr>
          <a:xfrm>
            <a:off x="45720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46120"/>
            <a:ext cx="3108960" cy="274320"/>
          </a:xfrm>
          <a:prstGeom prst="rect">
            <a:avLst/>
          </a:prstGeom>
          <a:noFill/>
        </p:spPr>
        <p:txBody>
          <a:bodyPr wrap="square">
            <a:spAutoFit/>
          </a:bodyPr>
          <a:lstStyle/>
          <a:p>
            <a:pPr algn="l">
              <a:defRPr sz="1200" b="1" i="0">
                <a:solidFill>
                  <a:srgbClr val="C81E1E"/>
                </a:solidFill>
                <a:latin typeface="Arial"/>
              </a:defRPr>
            </a:pPr>
            <a:r>
              <a:t>TIER 1, EXPLORER</a:t>
            </a:r>
          </a:p>
        </p:txBody>
      </p:sp>
      <p:sp>
        <p:nvSpPr>
          <p:cNvPr id="9" name="TextBox 8"/>
          <p:cNvSpPr txBox="1"/>
          <p:nvPr/>
        </p:nvSpPr>
        <p:spPr>
          <a:xfrm>
            <a:off x="731520" y="3611880"/>
            <a:ext cx="3108960" cy="548640"/>
          </a:xfrm>
          <a:prstGeom prst="rect">
            <a:avLst/>
          </a:prstGeom>
          <a:noFill/>
        </p:spPr>
        <p:txBody>
          <a:bodyPr wrap="square">
            <a:spAutoFit/>
          </a:bodyPr>
          <a:lstStyle/>
          <a:p>
            <a:pPr algn="l">
              <a:defRPr sz="2000" b="1" i="0">
                <a:solidFill>
                  <a:srgbClr val="F5F5F5"/>
                </a:solidFill>
                <a:latin typeface="Arial"/>
              </a:defRPr>
            </a:pPr>
            <a:r>
              <a:t>Notice your judgement</a:t>
            </a:r>
          </a:p>
        </p:txBody>
      </p:sp>
      <p:sp>
        <p:nvSpPr>
          <p:cNvPr id="10" name="TextBox 9"/>
          <p:cNvSpPr txBox="1"/>
          <p:nvPr/>
        </p:nvSpPr>
        <p:spPr>
          <a:xfrm>
            <a:off x="731520" y="4389120"/>
            <a:ext cx="3108960" cy="1645919"/>
          </a:xfrm>
          <a:prstGeom prst="rect">
            <a:avLst/>
          </a:prstGeom>
          <a:noFill/>
        </p:spPr>
        <p:txBody>
          <a:bodyPr wrap="square">
            <a:spAutoFit/>
          </a:bodyPr>
          <a:lstStyle/>
          <a:p>
            <a:pPr algn="l">
              <a:defRPr sz="1200" b="0" i="0">
                <a:solidFill>
                  <a:srgbClr val="AAAAAA"/>
                </a:solidFill>
                <a:latin typeface="Arial"/>
              </a:defRPr>
            </a:pPr>
            <a:r>
              <a:t>•  Next time AI helps you, write down what you had to correct or add</a:t>
            </a:r>
            <a:br/>
            <a:br/>
            <a:r>
              <a:t>•  Keep a running note of the prompts that actually worked</a:t>
            </a:r>
            <a:br/>
            <a:br/>
            <a:r>
              <a:t>•  Reuse one of them next week instead of starting from scratch</a:t>
            </a:r>
          </a:p>
        </p:txBody>
      </p:sp>
      <p:sp>
        <p:nvSpPr>
          <p:cNvPr id="11" name="TextBox 10"/>
          <p:cNvSpPr txBox="1"/>
          <p:nvPr/>
        </p:nvSpPr>
        <p:spPr>
          <a:xfrm>
            <a:off x="731520" y="6126479"/>
            <a:ext cx="3108960" cy="365760"/>
          </a:xfrm>
          <a:prstGeom prst="rect">
            <a:avLst/>
          </a:prstGeom>
          <a:noFill/>
        </p:spPr>
        <p:txBody>
          <a:bodyPr wrap="square">
            <a:spAutoFit/>
          </a:bodyPr>
          <a:lstStyle/>
          <a:p>
            <a:pPr algn="l">
              <a:defRPr sz="1200" b="1" i="1">
                <a:solidFill>
                  <a:srgbClr val="C81E1E"/>
                </a:solidFill>
                <a:latin typeface="Arial"/>
              </a:defRPr>
            </a:pPr>
            <a:r>
              <a:t>Goal: see your expertise as something you can capture</a:t>
            </a:r>
          </a:p>
        </p:txBody>
      </p:sp>
      <p:sp>
        <p:nvSpPr>
          <p:cNvPr id="12" name="Rounded Rectangle 11"/>
          <p:cNvSpPr/>
          <p:nvPr/>
        </p:nvSpPr>
        <p:spPr>
          <a:xfrm>
            <a:off x="425196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6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3246120"/>
            <a:ext cx="3108960" cy="274320"/>
          </a:xfrm>
          <a:prstGeom prst="rect">
            <a:avLst/>
          </a:prstGeom>
          <a:noFill/>
        </p:spPr>
        <p:txBody>
          <a:bodyPr wrap="square">
            <a:spAutoFit/>
          </a:bodyPr>
          <a:lstStyle/>
          <a:p>
            <a:pPr algn="l">
              <a:defRPr sz="1200" b="1" i="0">
                <a:solidFill>
                  <a:srgbClr val="C81E1E"/>
                </a:solidFill>
                <a:latin typeface="Arial"/>
              </a:defRPr>
            </a:pPr>
            <a:r>
              <a:t>TIER 2, OPERATOR</a:t>
            </a:r>
          </a:p>
        </p:txBody>
      </p:sp>
      <p:sp>
        <p:nvSpPr>
          <p:cNvPr id="15" name="TextBox 14"/>
          <p:cNvSpPr txBox="1"/>
          <p:nvPr/>
        </p:nvSpPr>
        <p:spPr>
          <a:xfrm>
            <a:off x="4526280" y="3611880"/>
            <a:ext cx="3108960" cy="548640"/>
          </a:xfrm>
          <a:prstGeom prst="rect">
            <a:avLst/>
          </a:prstGeom>
          <a:noFill/>
        </p:spPr>
        <p:txBody>
          <a:bodyPr wrap="square">
            <a:spAutoFit/>
          </a:bodyPr>
          <a:lstStyle/>
          <a:p>
            <a:pPr algn="l">
              <a:defRPr sz="2000" b="1" i="0">
                <a:solidFill>
                  <a:srgbClr val="F5F5F5"/>
                </a:solidFill>
                <a:latin typeface="Arial"/>
              </a:defRPr>
            </a:pPr>
            <a:r>
              <a:t>Encode one workflow</a:t>
            </a:r>
          </a:p>
        </p:txBody>
      </p:sp>
      <p:sp>
        <p:nvSpPr>
          <p:cNvPr id="16" name="TextBox 15"/>
          <p:cNvSpPr txBox="1"/>
          <p:nvPr/>
        </p:nvSpPr>
        <p:spPr>
          <a:xfrm>
            <a:off x="4526280" y="4389120"/>
            <a:ext cx="3108960" cy="1645919"/>
          </a:xfrm>
          <a:prstGeom prst="rect">
            <a:avLst/>
          </a:prstGeom>
          <a:noFill/>
        </p:spPr>
        <p:txBody>
          <a:bodyPr wrap="square">
            <a:spAutoFit/>
          </a:bodyPr>
          <a:lstStyle/>
          <a:p>
            <a:pPr algn="l">
              <a:defRPr sz="1200" b="0" i="0">
                <a:solidFill>
                  <a:srgbClr val="AAAAAA"/>
                </a:solidFill>
                <a:latin typeface="Arial"/>
              </a:defRPr>
            </a:pPr>
            <a:r>
              <a:t>•  Pick a weekly task and write the rules and examples you apply</a:t>
            </a:r>
            <a:br/>
            <a:br/>
            <a:r>
              <a:t>•  Turn it into a saved prompt or skill the whole team can run</a:t>
            </a:r>
            <a:br/>
            <a:br/>
            <a:r>
              <a:t>•  Make it model-agnostic so you can swap providers in a click</a:t>
            </a:r>
          </a:p>
        </p:txBody>
      </p:sp>
      <p:sp>
        <p:nvSpPr>
          <p:cNvPr id="17" name="TextBox 16"/>
          <p:cNvSpPr txBox="1"/>
          <p:nvPr/>
        </p:nvSpPr>
        <p:spPr>
          <a:xfrm>
            <a:off x="4526280" y="6126479"/>
            <a:ext cx="3108960" cy="365760"/>
          </a:xfrm>
          <a:prstGeom prst="rect">
            <a:avLst/>
          </a:prstGeom>
          <a:noFill/>
        </p:spPr>
        <p:txBody>
          <a:bodyPr wrap="square">
            <a:spAutoFit/>
          </a:bodyPr>
          <a:lstStyle/>
          <a:p>
            <a:pPr algn="l">
              <a:defRPr sz="1200" b="1" i="1">
                <a:solidFill>
                  <a:srgbClr val="C81E1E"/>
                </a:solidFill>
                <a:latin typeface="Arial"/>
              </a:defRPr>
            </a:pPr>
            <a:r>
              <a:t>Goal: turn tacit knowledge into a system that improves</a:t>
            </a:r>
          </a:p>
        </p:txBody>
      </p:sp>
      <p:sp>
        <p:nvSpPr>
          <p:cNvPr id="18" name="Rounded Rectangle 17"/>
          <p:cNvSpPr/>
          <p:nvPr/>
        </p:nvSpPr>
        <p:spPr>
          <a:xfrm>
            <a:off x="8046720" y="3017520"/>
            <a:ext cx="3657600" cy="3749039"/>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3017520"/>
            <a:ext cx="365760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3246120"/>
            <a:ext cx="3108960" cy="274320"/>
          </a:xfrm>
          <a:prstGeom prst="rect">
            <a:avLst/>
          </a:prstGeom>
          <a:noFill/>
        </p:spPr>
        <p:txBody>
          <a:bodyPr wrap="square">
            <a:spAutoFit/>
          </a:bodyPr>
          <a:lstStyle/>
          <a:p>
            <a:pPr algn="l">
              <a:defRPr sz="1200" b="1" i="0">
                <a:solidFill>
                  <a:srgbClr val="C81E1E"/>
                </a:solidFill>
                <a:latin typeface="Arial"/>
              </a:defRPr>
            </a:pPr>
            <a:r>
              <a:t>TIER 3, BUILDER</a:t>
            </a:r>
          </a:p>
        </p:txBody>
      </p:sp>
      <p:sp>
        <p:nvSpPr>
          <p:cNvPr id="21" name="TextBox 20"/>
          <p:cNvSpPr txBox="1"/>
          <p:nvPr/>
        </p:nvSpPr>
        <p:spPr>
          <a:xfrm>
            <a:off x="8321040" y="3611880"/>
            <a:ext cx="3108960" cy="548640"/>
          </a:xfrm>
          <a:prstGeom prst="rect">
            <a:avLst/>
          </a:prstGeom>
          <a:noFill/>
        </p:spPr>
        <p:txBody>
          <a:bodyPr wrap="square">
            <a:spAutoFit/>
          </a:bodyPr>
          <a:lstStyle/>
          <a:p>
            <a:pPr algn="l">
              <a:defRPr sz="2000" b="1" i="0">
                <a:solidFill>
                  <a:srgbClr val="F5F5F5"/>
                </a:solidFill>
                <a:latin typeface="Arial"/>
              </a:defRPr>
            </a:pPr>
            <a:r>
              <a:t>Build the loop</a:t>
            </a:r>
          </a:p>
        </p:txBody>
      </p:sp>
      <p:sp>
        <p:nvSpPr>
          <p:cNvPr id="22" name="TextBox 21"/>
          <p:cNvSpPr txBox="1"/>
          <p:nvPr/>
        </p:nvSpPr>
        <p:spPr>
          <a:xfrm>
            <a:off x="8321040" y="4389120"/>
            <a:ext cx="3108960" cy="1645919"/>
          </a:xfrm>
          <a:prstGeom prst="rect">
            <a:avLst/>
          </a:prstGeom>
          <a:noFill/>
        </p:spPr>
        <p:txBody>
          <a:bodyPr wrap="square">
            <a:spAutoFit/>
          </a:bodyPr>
          <a:lstStyle/>
          <a:p>
            <a:pPr algn="l">
              <a:defRPr sz="1200" b="0" i="0">
                <a:solidFill>
                  <a:srgbClr val="AAAAAA"/>
                </a:solidFill>
                <a:latin typeface="Arial"/>
              </a:defRPr>
            </a:pPr>
            <a:r>
              <a:t>•  Stand up a workflow where every correction feeds back as training signal</a:t>
            </a:r>
            <a:br/>
            <a:br/>
            <a:r>
              <a:t>•  Run private evals on outcomes that matter, not public benchmarks</a:t>
            </a:r>
            <a:br/>
            <a:br/>
            <a:r>
              <a:t>•  Swap the generalist model without losing your company-veteran expertise</a:t>
            </a:r>
          </a:p>
        </p:txBody>
      </p:sp>
      <p:sp>
        <p:nvSpPr>
          <p:cNvPr id="23" name="TextBox 22"/>
          <p:cNvSpPr txBox="1"/>
          <p:nvPr/>
        </p:nvSpPr>
        <p:spPr>
          <a:xfrm>
            <a:off x="8321040" y="6126479"/>
            <a:ext cx="3108960" cy="365760"/>
          </a:xfrm>
          <a:prstGeom prst="rect">
            <a:avLst/>
          </a:prstGeom>
          <a:noFill/>
        </p:spPr>
        <p:txBody>
          <a:bodyPr wrap="square">
            <a:spAutoFit/>
          </a:bodyPr>
          <a:lstStyle/>
          <a:p>
            <a:pPr algn="l">
              <a:defRPr sz="1200" b="1" i="1">
                <a:solidFill>
                  <a:srgbClr val="C81E1E"/>
                </a:solidFill>
                <a:latin typeface="Arial"/>
              </a:defRPr>
            </a:pPr>
            <a:r>
              <a:t>Goal: a hill-climbing machine that compounds</a:t>
            </a:r>
          </a:p>
        </p:txBody>
      </p:sp>
      <p:sp>
        <p:nvSpPr>
          <p:cNvPr id="24" name="TextBox 23"/>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5" name="TextBox 24"/>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4114800" y="1828800"/>
            <a:ext cx="7315200" cy="365760"/>
          </a:xfrm>
          <a:prstGeom prst="rect">
            <a:avLst/>
          </a:prstGeom>
          <a:noFill/>
        </p:spPr>
        <p:txBody>
          <a:bodyPr wrap="square">
            <a:spAutoFit/>
          </a:bodyPr>
          <a:lstStyle/>
          <a:p>
            <a:pPr algn="l">
              <a:defRPr sz="1300" b="1" i="0">
                <a:solidFill>
                  <a:srgbClr val="C81E1E"/>
                </a:solidFill>
                <a:latin typeface="Arial"/>
              </a:defRPr>
            </a:pPr>
            <a:r>
              <a:t>7:15 PM</a:t>
            </a:r>
          </a:p>
        </p:txBody>
      </p:sp>
      <p:sp>
        <p:nvSpPr>
          <p:cNvPr id="3" name="TextBox 2"/>
          <p:cNvSpPr txBox="1"/>
          <p:nvPr/>
        </p:nvSpPr>
        <p:spPr>
          <a:xfrm>
            <a:off x="1371600" y="2560320"/>
            <a:ext cx="9144000" cy="914400"/>
          </a:xfrm>
          <a:prstGeom prst="rect">
            <a:avLst/>
          </a:prstGeom>
          <a:noFill/>
        </p:spPr>
        <p:txBody>
          <a:bodyPr wrap="square">
            <a:spAutoFit/>
          </a:bodyPr>
          <a:lstStyle/>
          <a:p>
            <a:pPr algn="ctr">
              <a:defRPr sz="6400" b="1" i="0">
                <a:solidFill>
                  <a:srgbClr val="F5F5F5"/>
                </a:solidFill>
                <a:latin typeface="Arial"/>
              </a:defRPr>
            </a:pPr>
            <a:r>
              <a:t>Dinner &amp; Drinks</a:t>
            </a:r>
          </a:p>
        </p:txBody>
      </p:sp>
      <p:sp>
        <p:nvSpPr>
          <p:cNvPr id="4" name="Rectangle 3"/>
          <p:cNvSpPr/>
          <p:nvPr/>
        </p:nvSpPr>
        <p:spPr>
          <a:xfrm>
            <a:off x="5669280" y="36576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4114800"/>
            <a:ext cx="8229600" cy="457200"/>
          </a:xfrm>
          <a:prstGeom prst="rect">
            <a:avLst/>
          </a:prstGeom>
          <a:noFill/>
        </p:spPr>
        <p:txBody>
          <a:bodyPr wrap="square">
            <a:spAutoFit/>
          </a:bodyPr>
          <a:lstStyle/>
          <a:p>
            <a:pPr algn="ctr">
              <a:defRPr sz="2200" b="0" i="0">
                <a:solidFill>
                  <a:srgbClr val="888888"/>
                </a:solidFill>
                <a:latin typeface="Arial"/>
              </a:defRPr>
            </a:pPr>
            <a:r>
              <a:t>Order up. Best conversations happen over food.</a:t>
            </a:r>
          </a:p>
        </p:txBody>
      </p:sp>
      <p:sp>
        <p:nvSpPr>
          <p:cNvPr id="6" name="TextBox 5"/>
          <p:cNvSpPr txBox="1"/>
          <p:nvPr/>
        </p:nvSpPr>
        <p:spPr>
          <a:xfrm>
            <a:off x="1828800" y="4754880"/>
            <a:ext cx="8229600" cy="365760"/>
          </a:xfrm>
          <a:prstGeom prst="rect">
            <a:avLst/>
          </a:prstGeom>
          <a:noFill/>
        </p:spPr>
        <p:txBody>
          <a:bodyPr wrap="square">
            <a:spAutoFit/>
          </a:bodyPr>
          <a:lstStyle/>
          <a:p>
            <a:pPr algn="ctr">
              <a:defRPr sz="1700" b="0" i="0">
                <a:solidFill>
                  <a:srgbClr val="888888"/>
                </a:solidFill>
                <a:latin typeface="Arial"/>
              </a:defRPr>
            </a:pPr>
            <a:r>
              <a:t>Builder Spotlights start at 7:30 sharp.</a:t>
            </a:r>
          </a:p>
        </p:txBody>
      </p:sp>
      <p:sp>
        <p:nvSpPr>
          <p:cNvPr id="7" name="TextBox 6"/>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8" name="TextBox 7"/>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4114800" y="1371600"/>
            <a:ext cx="7315200" cy="365760"/>
          </a:xfrm>
          <a:prstGeom prst="rect">
            <a:avLst/>
          </a:prstGeom>
          <a:noFill/>
        </p:spPr>
        <p:txBody>
          <a:bodyPr wrap="square">
            <a:spAutoFit/>
          </a:bodyPr>
          <a:lstStyle/>
          <a:p>
            <a:pPr algn="l">
              <a:defRPr sz="1300" b="1" i="0">
                <a:solidFill>
                  <a:srgbClr val="C81E1E"/>
                </a:solidFill>
                <a:latin typeface="Arial"/>
              </a:defRPr>
            </a:pPr>
            <a:r>
              <a:t>7:30 PM</a:t>
            </a:r>
          </a:p>
        </p:txBody>
      </p:sp>
      <p:sp>
        <p:nvSpPr>
          <p:cNvPr id="3" name="TextBox 2"/>
          <p:cNvSpPr txBox="1"/>
          <p:nvPr/>
        </p:nvSpPr>
        <p:spPr>
          <a:xfrm>
            <a:off x="1371600" y="2011680"/>
            <a:ext cx="9144000" cy="914400"/>
          </a:xfrm>
          <a:prstGeom prst="rect">
            <a:avLst/>
          </a:prstGeom>
          <a:noFill/>
        </p:spPr>
        <p:txBody>
          <a:bodyPr wrap="square">
            <a:spAutoFit/>
          </a:bodyPr>
          <a:lstStyle/>
          <a:p>
            <a:pPr algn="ctr">
              <a:defRPr sz="6400" b="1" i="0">
                <a:solidFill>
                  <a:srgbClr val="F5F5F5"/>
                </a:solidFill>
                <a:latin typeface="Arial"/>
              </a:defRPr>
            </a:pPr>
            <a:r>
              <a:t>Builder Spotlights</a:t>
            </a:r>
          </a:p>
        </p:txBody>
      </p:sp>
      <p:sp>
        <p:nvSpPr>
          <p:cNvPr id="4" name="Rectangle 3"/>
          <p:cNvSpPr/>
          <p:nvPr/>
        </p:nvSpPr>
        <p:spPr>
          <a:xfrm>
            <a:off x="5669280" y="32004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 y="3840480"/>
            <a:ext cx="2926080" cy="20116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0" y="4023360"/>
            <a:ext cx="2926080" cy="1645920"/>
          </a:xfrm>
          <a:prstGeom prst="rect">
            <a:avLst/>
          </a:prstGeom>
          <a:noFill/>
        </p:spPr>
        <p:txBody>
          <a:bodyPr wrap="square">
            <a:spAutoFit/>
          </a:bodyPr>
          <a:lstStyle/>
          <a:p>
            <a:pPr algn="ctr">
              <a:defRPr sz="4400" b="1" i="0">
                <a:solidFill>
                  <a:srgbClr val="C81E1E"/>
                </a:solidFill>
                <a:latin typeface="Arial"/>
              </a:defRPr>
            </a:pPr>
            <a:r>
              <a:t>01</a:t>
            </a:r>
          </a:p>
          <a:p>
            <a:pPr algn="ctr">
              <a:spcBef>
                <a:spcPts val="800"/>
              </a:spcBef>
              <a:defRPr sz="1600" b="1" i="0">
                <a:solidFill>
                  <a:srgbClr val="F5F5F5"/>
                </a:solidFill>
                <a:latin typeface="Arial"/>
              </a:defRPr>
            </a:pPr>
            <a:r>
              <a:t>10 min + 5 min Q&amp;A</a:t>
            </a:r>
          </a:p>
          <a:p>
            <a:pPr algn="ctr">
              <a:spcBef>
                <a:spcPts val="600"/>
              </a:spcBef>
              <a:defRPr sz="1300" b="0" i="0">
                <a:solidFill>
                  <a:srgbClr val="888888"/>
                </a:solidFill>
                <a:latin typeface="Arial"/>
              </a:defRPr>
            </a:pPr>
            <a:r>
              <a:t>[Builder name + what they built]</a:t>
            </a:r>
          </a:p>
        </p:txBody>
      </p:sp>
      <p:sp>
        <p:nvSpPr>
          <p:cNvPr id="7" name="Rounded Rectangle 6"/>
          <p:cNvSpPr/>
          <p:nvPr/>
        </p:nvSpPr>
        <p:spPr>
          <a:xfrm>
            <a:off x="6858000" y="3840480"/>
            <a:ext cx="2926080" cy="20116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4023360"/>
            <a:ext cx="2926080" cy="1645920"/>
          </a:xfrm>
          <a:prstGeom prst="rect">
            <a:avLst/>
          </a:prstGeom>
          <a:noFill/>
        </p:spPr>
        <p:txBody>
          <a:bodyPr wrap="square">
            <a:spAutoFit/>
          </a:bodyPr>
          <a:lstStyle/>
          <a:p>
            <a:pPr algn="ctr">
              <a:defRPr sz="4400" b="1" i="0">
                <a:solidFill>
                  <a:srgbClr val="C81E1E"/>
                </a:solidFill>
                <a:latin typeface="Arial"/>
              </a:defRPr>
            </a:pPr>
            <a:r>
              <a:t>02</a:t>
            </a:r>
          </a:p>
          <a:p>
            <a:pPr algn="ctr">
              <a:spcBef>
                <a:spcPts val="800"/>
              </a:spcBef>
              <a:defRPr sz="1600" b="1" i="0">
                <a:solidFill>
                  <a:srgbClr val="F5F5F5"/>
                </a:solidFill>
                <a:latin typeface="Arial"/>
              </a:defRPr>
            </a:pPr>
            <a:r>
              <a:t>10 min + 5 min Q&amp;A</a:t>
            </a:r>
          </a:p>
          <a:p>
            <a:pPr algn="ctr">
              <a:spcBef>
                <a:spcPts val="600"/>
              </a:spcBef>
              <a:defRPr sz="1300" b="0" i="0">
                <a:solidFill>
                  <a:srgbClr val="888888"/>
                </a:solidFill>
                <a:latin typeface="Arial"/>
              </a:defRPr>
            </a:pPr>
            <a:r>
              <a:t>[Builder name + what they built]</a:t>
            </a:r>
          </a:p>
        </p:txBody>
      </p:sp>
      <p:sp>
        <p:nvSpPr>
          <p:cNvPr id="9" name="TextBox 8"/>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0" name="TextBox 9"/>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lgn="l">
              <a:defRPr sz="1300" b="1" i="0">
                <a:solidFill>
                  <a:srgbClr val="C81E1E"/>
                </a:solidFill>
                <a:latin typeface="Arial"/>
              </a:defRPr>
            </a:pPr>
            <a:r>
              <a:t>COMMUNITY WINS</a:t>
            </a:r>
          </a:p>
        </p:txBody>
      </p:sp>
      <p:sp>
        <p:nvSpPr>
          <p:cNvPr id="3" name="TextBox 2"/>
          <p:cNvSpPr txBox="1"/>
          <p:nvPr/>
        </p:nvSpPr>
        <p:spPr>
          <a:xfrm>
            <a:off x="731520" y="1005840"/>
            <a:ext cx="10972800" cy="822960"/>
          </a:xfrm>
          <a:prstGeom prst="rect">
            <a:avLst/>
          </a:prstGeom>
          <a:noFill/>
        </p:spPr>
        <p:txBody>
          <a:bodyPr wrap="square">
            <a:spAutoFit/>
          </a:bodyPr>
          <a:lstStyle/>
          <a:p>
            <a:pPr algn="l">
              <a:defRPr sz="4400" b="1" i="0">
                <a:solidFill>
                  <a:srgbClr val="F5F5F5"/>
                </a:solidFill>
                <a:latin typeface="Arial"/>
              </a:defRPr>
            </a:pPr>
            <a:r>
              <a:t>Wins From The Room</a:t>
            </a:r>
          </a:p>
        </p:txBody>
      </p:sp>
      <p:sp>
        <p:nvSpPr>
          <p:cNvPr id="4" name="Rectangle 3"/>
          <p:cNvSpPr/>
          <p:nvPr/>
        </p:nvSpPr>
        <p:spPr>
          <a:xfrm>
            <a:off x="731520" y="201168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10972800" cy="731520"/>
          </a:xfrm>
          <a:prstGeom prst="rect">
            <a:avLst/>
          </a:prstGeom>
          <a:noFill/>
        </p:spPr>
        <p:txBody>
          <a:bodyPr wrap="square">
            <a:spAutoFit/>
          </a:bodyPr>
          <a:lstStyle/>
          <a:p>
            <a:pPr algn="l">
              <a:defRPr sz="1500" b="0" i="0">
                <a:solidFill>
                  <a:srgbClr val="AAAAAA"/>
                </a:solidFill>
                <a:latin typeface="Arial"/>
              </a:defRPr>
            </a:pPr>
            <a:r>
              <a:t>Members who shipped something since last edition. This is what the community looks like when it builds in public.</a:t>
            </a:r>
          </a:p>
        </p:txBody>
      </p:sp>
      <p:sp>
        <p:nvSpPr>
          <p:cNvPr id="6" name="Rounded Rectangle 5"/>
          <p:cNvSpPr/>
          <p:nvPr/>
        </p:nvSpPr>
        <p:spPr>
          <a:xfrm>
            <a:off x="45720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78308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83080" y="3730752"/>
            <a:ext cx="1005840" cy="548640"/>
          </a:xfrm>
          <a:prstGeom prst="rect">
            <a:avLst/>
          </a:prstGeom>
          <a:noFill/>
        </p:spPr>
        <p:txBody>
          <a:bodyPr wrap="square">
            <a:spAutoFit/>
          </a:bodyPr>
          <a:lstStyle/>
          <a:p>
            <a:pPr algn="ctr">
              <a:defRPr sz="2200" b="1" i="0">
                <a:solidFill>
                  <a:srgbClr val="F5F5F5"/>
                </a:solidFill>
                <a:latin typeface="Arial"/>
              </a:defRPr>
            </a:pPr>
            <a:r>
              <a:t>M1</a:t>
            </a:r>
          </a:p>
        </p:txBody>
      </p:sp>
      <p:sp>
        <p:nvSpPr>
          <p:cNvPr id="9" name="TextBox 8"/>
          <p:cNvSpPr txBox="1"/>
          <p:nvPr/>
        </p:nvSpPr>
        <p:spPr>
          <a:xfrm>
            <a:off x="731520" y="4617720"/>
            <a:ext cx="3108960" cy="365760"/>
          </a:xfrm>
          <a:prstGeom prst="rect">
            <a:avLst/>
          </a:prstGeom>
          <a:noFill/>
        </p:spPr>
        <p:txBody>
          <a:bodyPr wrap="square">
            <a:spAutoFit/>
          </a:bodyPr>
          <a:lstStyle/>
          <a:p>
            <a:pPr algn="ctr">
              <a:defRPr sz="1800" b="1" i="0">
                <a:solidFill>
                  <a:srgbClr val="F5F5F5"/>
                </a:solidFill>
                <a:latin typeface="Arial"/>
              </a:defRPr>
            </a:pPr>
            <a:r>
              <a:t>[Member name]</a:t>
            </a:r>
          </a:p>
        </p:txBody>
      </p:sp>
      <p:sp>
        <p:nvSpPr>
          <p:cNvPr id="10" name="TextBox 9"/>
          <p:cNvSpPr txBox="1"/>
          <p:nvPr/>
        </p:nvSpPr>
        <p:spPr>
          <a:xfrm>
            <a:off x="73152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1" name="TextBox 10"/>
          <p:cNvSpPr txBox="1"/>
          <p:nvPr/>
        </p:nvSpPr>
        <p:spPr>
          <a:xfrm>
            <a:off x="73152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12" name="Rounded Rectangle 11"/>
          <p:cNvSpPr/>
          <p:nvPr/>
        </p:nvSpPr>
        <p:spPr>
          <a:xfrm>
            <a:off x="425196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7784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730752"/>
            <a:ext cx="1005840" cy="548640"/>
          </a:xfrm>
          <a:prstGeom prst="rect">
            <a:avLst/>
          </a:prstGeom>
          <a:noFill/>
        </p:spPr>
        <p:txBody>
          <a:bodyPr wrap="square">
            <a:spAutoFit/>
          </a:bodyPr>
          <a:lstStyle/>
          <a:p>
            <a:pPr algn="ctr">
              <a:defRPr sz="2200" b="1" i="0">
                <a:solidFill>
                  <a:srgbClr val="F5F5F5"/>
                </a:solidFill>
                <a:latin typeface="Arial"/>
              </a:defRPr>
            </a:pPr>
            <a:r>
              <a:t>M2</a:t>
            </a:r>
          </a:p>
        </p:txBody>
      </p:sp>
      <p:sp>
        <p:nvSpPr>
          <p:cNvPr id="15" name="TextBox 14"/>
          <p:cNvSpPr txBox="1"/>
          <p:nvPr/>
        </p:nvSpPr>
        <p:spPr>
          <a:xfrm>
            <a:off x="4526280" y="4617720"/>
            <a:ext cx="3108960" cy="365760"/>
          </a:xfrm>
          <a:prstGeom prst="rect">
            <a:avLst/>
          </a:prstGeom>
          <a:noFill/>
        </p:spPr>
        <p:txBody>
          <a:bodyPr wrap="square">
            <a:spAutoFit/>
          </a:bodyPr>
          <a:lstStyle/>
          <a:p>
            <a:pPr algn="ctr">
              <a:defRPr sz="1800" b="1" i="0">
                <a:solidFill>
                  <a:srgbClr val="F5F5F5"/>
                </a:solidFill>
                <a:latin typeface="Arial"/>
              </a:defRPr>
            </a:pPr>
            <a:r>
              <a:t>[Member name]</a:t>
            </a:r>
          </a:p>
        </p:txBody>
      </p:sp>
      <p:sp>
        <p:nvSpPr>
          <p:cNvPr id="16" name="TextBox 15"/>
          <p:cNvSpPr txBox="1"/>
          <p:nvPr/>
        </p:nvSpPr>
        <p:spPr>
          <a:xfrm>
            <a:off x="452628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17" name="TextBox 16"/>
          <p:cNvSpPr txBox="1"/>
          <p:nvPr/>
        </p:nvSpPr>
        <p:spPr>
          <a:xfrm>
            <a:off x="452628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18" name="Rounded Rectangle 17"/>
          <p:cNvSpPr/>
          <p:nvPr/>
        </p:nvSpPr>
        <p:spPr>
          <a:xfrm>
            <a:off x="8046720" y="3200400"/>
            <a:ext cx="3657600" cy="310896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72600" y="3474720"/>
            <a:ext cx="1005840" cy="1005840"/>
          </a:xfrm>
          <a:prstGeom prst="ellipse">
            <a:avLst/>
          </a:prstGeom>
          <a:solidFill>
            <a:srgbClr val="444444"/>
          </a:solidFill>
          <a:ln w="254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2600" y="3730752"/>
            <a:ext cx="1005840" cy="548640"/>
          </a:xfrm>
          <a:prstGeom prst="rect">
            <a:avLst/>
          </a:prstGeom>
          <a:noFill/>
        </p:spPr>
        <p:txBody>
          <a:bodyPr wrap="square">
            <a:spAutoFit/>
          </a:bodyPr>
          <a:lstStyle/>
          <a:p>
            <a:pPr algn="ctr">
              <a:defRPr sz="2200" b="1" i="0">
                <a:solidFill>
                  <a:srgbClr val="F5F5F5"/>
                </a:solidFill>
                <a:latin typeface="Arial"/>
              </a:defRPr>
            </a:pPr>
            <a:r>
              <a:t>M3</a:t>
            </a:r>
          </a:p>
        </p:txBody>
      </p:sp>
      <p:sp>
        <p:nvSpPr>
          <p:cNvPr id="21" name="TextBox 20"/>
          <p:cNvSpPr txBox="1"/>
          <p:nvPr/>
        </p:nvSpPr>
        <p:spPr>
          <a:xfrm>
            <a:off x="8321040" y="4617720"/>
            <a:ext cx="3108960" cy="365760"/>
          </a:xfrm>
          <a:prstGeom prst="rect">
            <a:avLst/>
          </a:prstGeom>
          <a:noFill/>
        </p:spPr>
        <p:txBody>
          <a:bodyPr wrap="square">
            <a:spAutoFit/>
          </a:bodyPr>
          <a:lstStyle/>
          <a:p>
            <a:pPr algn="ctr">
              <a:defRPr sz="1800" b="1" i="0">
                <a:solidFill>
                  <a:srgbClr val="F5F5F5"/>
                </a:solidFill>
                <a:latin typeface="Arial"/>
              </a:defRPr>
            </a:pPr>
            <a:r>
              <a:t>[Member name]</a:t>
            </a:r>
          </a:p>
        </p:txBody>
      </p:sp>
      <p:sp>
        <p:nvSpPr>
          <p:cNvPr id="22" name="TextBox 21"/>
          <p:cNvSpPr txBox="1"/>
          <p:nvPr/>
        </p:nvSpPr>
        <p:spPr>
          <a:xfrm>
            <a:off x="8321040" y="5029200"/>
            <a:ext cx="3108960" cy="274320"/>
          </a:xfrm>
          <a:prstGeom prst="rect">
            <a:avLst/>
          </a:prstGeom>
          <a:noFill/>
        </p:spPr>
        <p:txBody>
          <a:bodyPr wrap="square">
            <a:spAutoFit/>
          </a:bodyPr>
          <a:lstStyle/>
          <a:p>
            <a:pPr algn="ctr">
              <a:defRPr sz="1200" b="0" i="1">
                <a:solidFill>
                  <a:srgbClr val="888888"/>
                </a:solidFill>
                <a:latin typeface="Arial"/>
              </a:defRPr>
            </a:pPr>
            <a:r>
              <a:t>[Founder or operator title]</a:t>
            </a:r>
          </a:p>
        </p:txBody>
      </p:sp>
      <p:sp>
        <p:nvSpPr>
          <p:cNvPr id="23" name="TextBox 22"/>
          <p:cNvSpPr txBox="1"/>
          <p:nvPr/>
        </p:nvSpPr>
        <p:spPr>
          <a:xfrm>
            <a:off x="8321040" y="5440680"/>
            <a:ext cx="3108960" cy="822960"/>
          </a:xfrm>
          <a:prstGeom prst="rect">
            <a:avLst/>
          </a:prstGeom>
          <a:noFill/>
        </p:spPr>
        <p:txBody>
          <a:bodyPr wrap="square">
            <a:spAutoFit/>
          </a:bodyPr>
          <a:lstStyle/>
          <a:p>
            <a:pPr algn="ctr">
              <a:defRPr sz="1200" b="0" i="0">
                <a:solidFill>
                  <a:srgbClr val="AAAAAA"/>
                </a:solidFill>
                <a:latin typeface="Arial"/>
              </a:defRPr>
            </a:pPr>
            <a:r>
              <a:t>[What they shipped, one line, with the result or time saved]</a:t>
            </a:r>
          </a:p>
        </p:txBody>
      </p:sp>
      <p:sp>
        <p:nvSpPr>
          <p:cNvPr id="24" name="TextBox 23"/>
          <p:cNvSpPr txBox="1"/>
          <p:nvPr/>
        </p:nvSpPr>
        <p:spPr>
          <a:xfrm>
            <a:off x="731520" y="6492240"/>
            <a:ext cx="10881360" cy="320040"/>
          </a:xfrm>
          <a:prstGeom prst="rect">
            <a:avLst/>
          </a:prstGeom>
          <a:noFill/>
        </p:spPr>
        <p:txBody>
          <a:bodyPr wrap="square">
            <a:spAutoFit/>
          </a:bodyPr>
          <a:lstStyle/>
          <a:p>
            <a:pPr algn="ctr">
              <a:defRPr sz="1300" b="0" i="1">
                <a:solidFill>
                  <a:srgbClr val="E0B040"/>
                </a:solidFill>
                <a:latin typeface="Arial"/>
              </a:defRPr>
            </a:pPr>
            <a:r>
              <a:t>Want to be on this slide next edition? Tell me what you shipped. No pitch needed, just a screenshot and one line.</a:t>
            </a:r>
          </a:p>
        </p:txBody>
      </p:sp>
      <p:sp>
        <p:nvSpPr>
          <p:cNvPr id="25" name="TextBox 24"/>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26" name="TextBox 25"/>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3200400" y="731520"/>
            <a:ext cx="7315200" cy="365760"/>
          </a:xfrm>
          <a:prstGeom prst="rect">
            <a:avLst/>
          </a:prstGeom>
          <a:noFill/>
        </p:spPr>
        <p:txBody>
          <a:bodyPr wrap="square">
            <a:spAutoFit/>
          </a:bodyPr>
          <a:lstStyle/>
          <a:p>
            <a:pPr algn="l">
              <a:defRPr sz="1300" b="1" i="0">
                <a:solidFill>
                  <a:srgbClr val="C81E1E"/>
                </a:solidFill>
                <a:latin typeface="Arial"/>
              </a:defRPr>
            </a:pPr>
            <a:r>
              <a:t>THANK YOU</a:t>
            </a:r>
          </a:p>
        </p:txBody>
      </p:sp>
      <p:sp>
        <p:nvSpPr>
          <p:cNvPr id="3" name="TextBox 2"/>
          <p:cNvSpPr txBox="1"/>
          <p:nvPr/>
        </p:nvSpPr>
        <p:spPr>
          <a:xfrm>
            <a:off x="1371600" y="1371600"/>
            <a:ext cx="9144000" cy="1097280"/>
          </a:xfrm>
          <a:prstGeom prst="rect">
            <a:avLst/>
          </a:prstGeom>
          <a:noFill/>
        </p:spPr>
        <p:txBody>
          <a:bodyPr wrap="square">
            <a:spAutoFit/>
          </a:bodyPr>
          <a:lstStyle/>
          <a:p>
            <a:pPr algn="ctr">
              <a:defRPr sz="5600" b="1" i="0">
                <a:solidFill>
                  <a:srgbClr val="F5F5F5"/>
                </a:solidFill>
                <a:latin typeface="Arial"/>
              </a:defRPr>
            </a:pPr>
            <a:r>
              <a:t>See You at</a:t>
            </a:r>
            <a:br/>
            <a:r>
              <a:t>Edition 11</a:t>
            </a:r>
          </a:p>
        </p:txBody>
      </p:sp>
      <p:sp>
        <p:nvSpPr>
          <p:cNvPr id="4" name="Rectangle 3"/>
          <p:cNvSpPr/>
          <p:nvPr/>
        </p:nvSpPr>
        <p:spPr>
          <a:xfrm>
            <a:off x="5669280" y="2743200"/>
            <a:ext cx="731520" cy="50800"/>
          </a:xfrm>
          <a:prstGeom prst="rect">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2860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3291840"/>
            <a:ext cx="2286000" cy="914400"/>
          </a:xfrm>
          <a:prstGeom prst="rect">
            <a:avLst/>
          </a:prstGeom>
          <a:noFill/>
        </p:spPr>
        <p:txBody>
          <a:bodyPr wrap="square">
            <a:spAutoFit/>
          </a:bodyPr>
          <a:lstStyle/>
          <a:p>
            <a:pPr algn="ctr">
              <a:defRPr sz="1200" b="1" i="0">
                <a:solidFill>
                  <a:srgbClr val="888888"/>
                </a:solidFill>
                <a:latin typeface="Arial"/>
              </a:defRPr>
            </a:pPr>
            <a:r>
              <a:t>YOUTUBE</a:t>
            </a:r>
          </a:p>
          <a:p>
            <a:pPr algn="ctr">
              <a:spcBef>
                <a:spcPts val="800"/>
              </a:spcBef>
              <a:defRPr sz="1700" b="1" i="0">
                <a:solidFill>
                  <a:srgbClr val="F5F5F5"/>
                </a:solidFill>
                <a:latin typeface="Arial"/>
              </a:defRPr>
            </a:pPr>
            <a:r>
              <a:t>@joshbuildswithai</a:t>
            </a:r>
          </a:p>
        </p:txBody>
      </p:sp>
      <p:sp>
        <p:nvSpPr>
          <p:cNvPr id="7" name="Rounded Rectangle 6"/>
          <p:cNvSpPr/>
          <p:nvPr/>
        </p:nvSpPr>
        <p:spPr>
          <a:xfrm>
            <a:off x="50292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0" y="3291840"/>
            <a:ext cx="2286000" cy="914400"/>
          </a:xfrm>
          <a:prstGeom prst="rect">
            <a:avLst/>
          </a:prstGeom>
          <a:noFill/>
        </p:spPr>
        <p:txBody>
          <a:bodyPr wrap="square">
            <a:spAutoFit/>
          </a:bodyPr>
          <a:lstStyle/>
          <a:p>
            <a:pPr algn="ctr">
              <a:defRPr sz="1200" b="1" i="0">
                <a:solidFill>
                  <a:srgbClr val="888888"/>
                </a:solidFill>
                <a:latin typeface="Arial"/>
              </a:defRPr>
            </a:pPr>
            <a:r>
              <a:t>INSTAGRAM</a:t>
            </a:r>
          </a:p>
          <a:p>
            <a:pPr algn="ctr">
              <a:spcBef>
                <a:spcPts val="800"/>
              </a:spcBef>
              <a:defRPr sz="1700" b="1" i="0">
                <a:solidFill>
                  <a:srgbClr val="F5F5F5"/>
                </a:solidFill>
                <a:latin typeface="Arial"/>
              </a:defRPr>
            </a:pPr>
            <a:r>
              <a:t>@joshbuildswithai</a:t>
            </a:r>
          </a:p>
        </p:txBody>
      </p:sp>
      <p:sp>
        <p:nvSpPr>
          <p:cNvPr id="9" name="Rounded Rectangle 8"/>
          <p:cNvSpPr/>
          <p:nvPr/>
        </p:nvSpPr>
        <p:spPr>
          <a:xfrm>
            <a:off x="7772400" y="3200400"/>
            <a:ext cx="2286000" cy="1097280"/>
          </a:xfrm>
          <a:prstGeom prst="roundRect">
            <a:avLst/>
          </a:prstGeom>
          <a:solidFill>
            <a:srgbClr val="333333"/>
          </a:solidFill>
          <a:ln w="12700">
            <a:solidFill>
              <a:srgbClr val="2222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3291840"/>
            <a:ext cx="2286000" cy="914400"/>
          </a:xfrm>
          <a:prstGeom prst="rect">
            <a:avLst/>
          </a:prstGeom>
          <a:noFill/>
        </p:spPr>
        <p:txBody>
          <a:bodyPr wrap="square">
            <a:spAutoFit/>
          </a:bodyPr>
          <a:lstStyle/>
          <a:p>
            <a:pPr algn="ctr">
              <a:defRPr sz="1200" b="1" i="0">
                <a:solidFill>
                  <a:srgbClr val="888888"/>
                </a:solidFill>
                <a:latin typeface="Arial"/>
              </a:defRPr>
            </a:pPr>
            <a:r>
              <a:t>TIKTOK</a:t>
            </a:r>
          </a:p>
          <a:p>
            <a:pPr algn="ctr">
              <a:spcBef>
                <a:spcPts val="800"/>
              </a:spcBef>
              <a:defRPr sz="1700" b="1" i="0">
                <a:solidFill>
                  <a:srgbClr val="F5F5F5"/>
                </a:solidFill>
                <a:latin typeface="Arial"/>
              </a:defRPr>
            </a:pPr>
            <a:r>
              <a:t>@joshbuildswithai</a:t>
            </a:r>
          </a:p>
        </p:txBody>
      </p:sp>
      <p:sp>
        <p:nvSpPr>
          <p:cNvPr id="11" name="Rounded Rectangle 10"/>
          <p:cNvSpPr/>
          <p:nvPr/>
        </p:nvSpPr>
        <p:spPr>
          <a:xfrm>
            <a:off x="2286000" y="4754880"/>
            <a:ext cx="7315200" cy="1645920"/>
          </a:xfrm>
          <a:prstGeom prst="roundRect">
            <a:avLst/>
          </a:prstGeom>
          <a:solidFill>
            <a:srgbClr val="333333"/>
          </a:solidFill>
          <a:ln w="12700">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0" y="4937760"/>
            <a:ext cx="7315200" cy="1280160"/>
          </a:xfrm>
          <a:prstGeom prst="rect">
            <a:avLst/>
          </a:prstGeom>
          <a:noFill/>
        </p:spPr>
        <p:txBody>
          <a:bodyPr wrap="square">
            <a:spAutoFit/>
          </a:bodyPr>
          <a:lstStyle/>
          <a:p>
            <a:pPr algn="ctr">
              <a:defRPr sz="1200" b="1" i="0">
                <a:solidFill>
                  <a:srgbClr val="C81E1E"/>
                </a:solidFill>
                <a:latin typeface="Arial"/>
              </a:defRPr>
            </a:pPr>
            <a:r>
              <a:t>NEXT WEDNESDAY · EDITION 11 · 24 JUNE</a:t>
            </a:r>
          </a:p>
          <a:p>
            <a:pPr algn="ctr">
              <a:spcBef>
                <a:spcPts val="800"/>
              </a:spcBef>
              <a:defRPr sz="2600" b="1" i="0">
                <a:solidFill>
                  <a:srgbClr val="F5F5F5"/>
                </a:solidFill>
                <a:latin typeface="Arial"/>
              </a:defRPr>
            </a:pPr>
            <a:r>
              <a:t>Same room. New signals. Two new builders.</a:t>
            </a:r>
          </a:p>
          <a:p>
            <a:pPr algn="ctr">
              <a:spcBef>
                <a:spcPts val="600"/>
              </a:spcBef>
              <a:defRPr sz="1500" b="0" i="0">
                <a:solidFill>
                  <a:srgbClr val="888888"/>
                </a:solidFill>
                <a:latin typeface="Arial"/>
              </a:defRPr>
            </a:pPr>
            <a:r>
              <a:t>Topic announced on MeetUp. RSVP to hold your seat.</a:t>
            </a:r>
          </a:p>
        </p:txBody>
      </p:sp>
      <p:sp>
        <p:nvSpPr>
          <p:cNvPr id="13" name="TextBox 12"/>
          <p:cNvSpPr txBox="1"/>
          <p:nvPr/>
        </p:nvSpPr>
        <p:spPr>
          <a:xfrm>
            <a:off x="457200" y="6492240"/>
            <a:ext cx="1371600" cy="274320"/>
          </a:xfrm>
          <a:prstGeom prst="rect">
            <a:avLst/>
          </a:prstGeom>
          <a:noFill/>
        </p:spPr>
        <p:txBody>
          <a:bodyPr wrap="square">
            <a:spAutoFit/>
          </a:bodyPr>
          <a:lstStyle/>
          <a:p>
            <a:pPr algn="l">
              <a:defRPr sz="1100" b="1" i="0">
                <a:solidFill>
                  <a:srgbClr val="333333"/>
                </a:solidFill>
                <a:latin typeface="Arial"/>
              </a:defRPr>
            </a:pPr>
            <a:r>
              <a:t>BSTC</a:t>
            </a:r>
          </a:p>
        </p:txBody>
      </p:sp>
      <p:sp>
        <p:nvSpPr>
          <p:cNvPr id="14" name="TextBox 13"/>
          <p:cNvSpPr txBox="1"/>
          <p:nvPr/>
        </p:nvSpPr>
        <p:spPr>
          <a:xfrm>
            <a:off x="10515600" y="6492240"/>
            <a:ext cx="1371600" cy="274320"/>
          </a:xfrm>
          <a:prstGeom prst="rect">
            <a:avLst/>
          </a:prstGeom>
          <a:noFill/>
        </p:spPr>
        <p:txBody>
          <a:bodyPr wrap="square">
            <a:spAutoFit/>
          </a:bodyPr>
          <a:lstStyle/>
          <a:p>
            <a:pPr algn="r">
              <a:defRPr sz="1200" b="0" i="0">
                <a:solidFill>
                  <a:srgbClr val="888888"/>
                </a:solidFill>
                <a:latin typeface="Arial"/>
              </a:defRPr>
            </a:pPr>
            <a: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