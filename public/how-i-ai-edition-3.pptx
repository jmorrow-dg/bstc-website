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11111"/>
        </a:solidFill>
        <a:effectLst/>
      </p:bgPr>
    </p:bg>
    <p:spTree>
      <p:nvGrpSpPr>
        <p:cNvPr id="1" name=""/>
        <p:cNvGrpSpPr/>
        <p:nvPr/>
      </p:nvGrpSpPr>
      <p:grpSpPr/>
      <p:sp>
        <p:nvSpPr>
          <p:cNvPr id="2" name="TextBox 1"/>
          <p:cNvSpPr txBox="1"/>
          <p:nvPr/>
        </p:nvSpPr>
        <p:spPr>
          <a:xfrm>
            <a:off x="731520" y="548640"/>
            <a:ext cx="7315200" cy="365760"/>
          </a:xfrm>
          <a:prstGeom prst="rect">
            <a:avLst/>
          </a:prstGeom>
          <a:noFill/>
        </p:spPr>
        <p:txBody>
          <a:bodyPr wrap="square">
            <a:spAutoFit/>
          </a:bodyPr>
          <a:lstStyle/>
          <a:p>
            <a:pPr algn="l">
              <a:defRPr sz="1300" b="1" i="0">
                <a:solidFill>
                  <a:srgbClr val="C81E1E"/>
                </a:solidFill>
                <a:latin typeface="Arial"/>
              </a:defRPr>
            </a:pPr>
            <a:r>
              <a:t>BEFORE WE START</a:t>
            </a:r>
          </a:p>
        </p:txBody>
      </p:sp>
      <p:sp>
        <p:nvSpPr>
          <p:cNvPr id="3" name="TextBox 2"/>
          <p:cNvSpPr txBox="1"/>
          <p:nvPr/>
        </p:nvSpPr>
        <p:spPr>
          <a:xfrm>
            <a:off x="731520" y="1005840"/>
            <a:ext cx="10058400" cy="822960"/>
          </a:xfrm>
          <a:prstGeom prst="rect">
            <a:avLst/>
          </a:prstGeom>
          <a:noFill/>
        </p:spPr>
        <p:txBody>
          <a:bodyPr wrap="square">
            <a:spAutoFit/>
          </a:bodyPr>
          <a:lstStyle/>
          <a:p>
            <a:pPr algn="l">
              <a:defRPr sz="4800" b="1" i="0">
                <a:solidFill>
                  <a:srgbClr val="F5F5F5"/>
                </a:solidFill>
                <a:latin typeface="Arial"/>
              </a:defRPr>
            </a:pPr>
            <a:r>
              <a:t>Jargon Buster</a:t>
            </a:r>
          </a:p>
        </p:txBody>
      </p:sp>
      <p:sp>
        <p:nvSpPr>
          <p:cNvPr id="4" name="Rectangle 3"/>
          <p:cNvSpPr/>
          <p:nvPr/>
        </p:nvSpPr>
        <p:spPr>
          <a:xfrm>
            <a:off x="731520" y="1965960"/>
            <a:ext cx="731520" cy="50800"/>
          </a:xfrm>
          <a:prstGeom prst="rect">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2240280"/>
            <a:ext cx="10058400" cy="548640"/>
          </a:xfrm>
          <a:prstGeom prst="rect">
            <a:avLst/>
          </a:prstGeom>
          <a:noFill/>
        </p:spPr>
        <p:txBody>
          <a:bodyPr wrap="square">
            <a:spAutoFit/>
          </a:bodyPr>
          <a:lstStyle/>
          <a:p>
            <a:pPr algn="l">
              <a:defRPr sz="1600" b="0" i="0">
                <a:solidFill>
                  <a:srgbClr val="AAAAAA"/>
                </a:solidFill>
                <a:latin typeface="Arial"/>
              </a:defRPr>
            </a:pPr>
            <a:r>
              <a:t>Five terms you will hear tonight. Lock these in first and the signals land harder.</a:t>
            </a:r>
          </a:p>
        </p:txBody>
      </p:sp>
      <p:sp>
        <p:nvSpPr>
          <p:cNvPr id="6" name="TextBox 5"/>
          <p:cNvSpPr txBox="1"/>
          <p:nvPr/>
        </p:nvSpPr>
        <p:spPr>
          <a:xfrm>
            <a:off x="731520" y="3090672"/>
            <a:ext cx="3474720" cy="566928"/>
          </a:xfrm>
          <a:prstGeom prst="rect">
            <a:avLst/>
          </a:prstGeom>
          <a:noFill/>
        </p:spPr>
        <p:txBody>
          <a:bodyPr wrap="square">
            <a:spAutoFit/>
          </a:bodyPr>
          <a:lstStyle/>
          <a:p>
            <a:pPr algn="l">
              <a:defRPr sz="1600" b="1" i="0">
                <a:solidFill>
                  <a:srgbClr val="C81E1E"/>
                </a:solidFill>
                <a:latin typeface="Arial"/>
              </a:defRPr>
            </a:pPr>
            <a:r>
              <a:t>OAuth</a:t>
            </a:r>
          </a:p>
        </p:txBody>
      </p:sp>
      <p:sp>
        <p:nvSpPr>
          <p:cNvPr id="7" name="TextBox 6"/>
          <p:cNvSpPr txBox="1"/>
          <p:nvPr/>
        </p:nvSpPr>
        <p:spPr>
          <a:xfrm>
            <a:off x="4389120" y="3090672"/>
            <a:ext cx="7223760" cy="566928"/>
          </a:xfrm>
          <a:prstGeom prst="rect">
            <a:avLst/>
          </a:prstGeom>
          <a:noFill/>
        </p:spPr>
        <p:txBody>
          <a:bodyPr wrap="square">
            <a:spAutoFit/>
          </a:bodyPr>
          <a:lstStyle/>
          <a:p>
            <a:pPr algn="l">
              <a:defRPr sz="1400" b="0" i="0">
                <a:solidFill>
                  <a:srgbClr val="F5F5F5"/>
                </a:solidFill>
                <a:latin typeface="Arial"/>
              </a:defRPr>
            </a:pPr>
            <a:r>
              <a:t>The permission slip you sign when an app asks 'continue with Google.' It can stay valid for years.</a:t>
            </a:r>
          </a:p>
        </p:txBody>
      </p:sp>
      <p:sp>
        <p:nvSpPr>
          <p:cNvPr id="8" name="Rectangle 7"/>
          <p:cNvSpPr/>
          <p:nvPr/>
        </p:nvSpPr>
        <p:spPr>
          <a:xfrm>
            <a:off x="731520" y="3566160"/>
            <a:ext cx="10881360" cy="12700"/>
          </a:xfrm>
          <a:prstGeom prst="rect">
            <a:avLst/>
          </a:prstGeom>
          <a:solidFill>
            <a:srgbClr val="E0B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3657600"/>
            <a:ext cx="3474720" cy="566928"/>
          </a:xfrm>
          <a:prstGeom prst="rect">
            <a:avLst/>
          </a:prstGeom>
          <a:noFill/>
        </p:spPr>
        <p:txBody>
          <a:bodyPr wrap="square">
            <a:spAutoFit/>
          </a:bodyPr>
          <a:lstStyle/>
          <a:p>
            <a:pPr algn="l">
              <a:defRPr sz="1600" b="1" i="0">
                <a:solidFill>
                  <a:srgbClr val="C81E1E"/>
                </a:solidFill>
                <a:latin typeface="Arial"/>
              </a:defRPr>
            </a:pPr>
            <a:r>
              <a:t>MCP  (Model Context Protocol)</a:t>
            </a:r>
          </a:p>
        </p:txBody>
      </p:sp>
      <p:sp>
        <p:nvSpPr>
          <p:cNvPr id="10" name="TextBox 9"/>
          <p:cNvSpPr txBox="1"/>
          <p:nvPr/>
        </p:nvSpPr>
        <p:spPr>
          <a:xfrm>
            <a:off x="4389120" y="3657600"/>
            <a:ext cx="7223760" cy="566928"/>
          </a:xfrm>
          <a:prstGeom prst="rect">
            <a:avLst/>
          </a:prstGeom>
          <a:noFill/>
        </p:spPr>
        <p:txBody>
          <a:bodyPr wrap="square">
            <a:spAutoFit/>
          </a:bodyPr>
          <a:lstStyle/>
          <a:p>
            <a:pPr algn="l">
              <a:defRPr sz="1400" b="0" i="0">
                <a:solidFill>
                  <a:srgbClr val="F5F5F5"/>
                </a:solidFill>
                <a:latin typeface="Arial"/>
              </a:defRPr>
            </a:pPr>
            <a:r>
              <a:t>The USB-C of AI tools. Lets agents plug into your systems in a standard way.</a:t>
            </a:r>
          </a:p>
        </p:txBody>
      </p:sp>
      <p:sp>
        <p:nvSpPr>
          <p:cNvPr id="11" name="Rectangle 10"/>
          <p:cNvSpPr/>
          <p:nvPr/>
        </p:nvSpPr>
        <p:spPr>
          <a:xfrm>
            <a:off x="731520" y="4133088"/>
            <a:ext cx="10881360" cy="12700"/>
          </a:xfrm>
          <a:prstGeom prst="rect">
            <a:avLst/>
          </a:prstGeom>
          <a:solidFill>
            <a:srgbClr val="E0B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4224528"/>
            <a:ext cx="3474720" cy="566928"/>
          </a:xfrm>
          <a:prstGeom prst="rect">
            <a:avLst/>
          </a:prstGeom>
          <a:noFill/>
        </p:spPr>
        <p:txBody>
          <a:bodyPr wrap="square">
            <a:spAutoFit/>
          </a:bodyPr>
          <a:lstStyle/>
          <a:p>
            <a:pPr algn="l">
              <a:defRPr sz="1600" b="1" i="0">
                <a:solidFill>
                  <a:srgbClr val="C81E1E"/>
                </a:solidFill>
                <a:latin typeface="Arial"/>
              </a:defRPr>
            </a:pPr>
            <a:r>
              <a:t>Non-human identity</a:t>
            </a:r>
          </a:p>
        </p:txBody>
      </p:sp>
      <p:sp>
        <p:nvSpPr>
          <p:cNvPr id="13" name="TextBox 12"/>
          <p:cNvSpPr txBox="1"/>
          <p:nvPr/>
        </p:nvSpPr>
        <p:spPr>
          <a:xfrm>
            <a:off x="4389120" y="4224528"/>
            <a:ext cx="7223760" cy="566928"/>
          </a:xfrm>
          <a:prstGeom prst="rect">
            <a:avLst/>
          </a:prstGeom>
          <a:noFill/>
        </p:spPr>
        <p:txBody>
          <a:bodyPr wrap="square">
            <a:spAutoFit/>
          </a:bodyPr>
          <a:lstStyle/>
          <a:p>
            <a:pPr algn="l">
              <a:defRPr sz="1400" b="0" i="0">
                <a:solidFill>
                  <a:srgbClr val="F5F5F5"/>
                </a:solidFill>
                <a:latin typeface="Arial"/>
              </a:defRPr>
            </a:pPr>
            <a:r>
              <a:t>A user account that is not a person. Your scripts, bots, and agents all have them.</a:t>
            </a:r>
          </a:p>
        </p:txBody>
      </p:sp>
      <p:sp>
        <p:nvSpPr>
          <p:cNvPr id="14" name="Rectangle 13"/>
          <p:cNvSpPr/>
          <p:nvPr/>
        </p:nvSpPr>
        <p:spPr>
          <a:xfrm>
            <a:off x="731520" y="4700016"/>
            <a:ext cx="10881360" cy="12700"/>
          </a:xfrm>
          <a:prstGeom prst="rect">
            <a:avLst/>
          </a:prstGeom>
          <a:solidFill>
            <a:srgbClr val="E0B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4791456"/>
            <a:ext cx="3474720" cy="566928"/>
          </a:xfrm>
          <a:prstGeom prst="rect">
            <a:avLst/>
          </a:prstGeom>
          <a:noFill/>
        </p:spPr>
        <p:txBody>
          <a:bodyPr wrap="square">
            <a:spAutoFit/>
          </a:bodyPr>
          <a:lstStyle/>
          <a:p>
            <a:pPr algn="l">
              <a:defRPr sz="1600" b="1" i="0">
                <a:solidFill>
                  <a:srgbClr val="C81E1E"/>
                </a:solidFill>
                <a:latin typeface="Arial"/>
              </a:defRPr>
            </a:pPr>
            <a:r>
              <a:t>Prompt injection</a:t>
            </a:r>
          </a:p>
        </p:txBody>
      </p:sp>
      <p:sp>
        <p:nvSpPr>
          <p:cNvPr id="16" name="TextBox 15"/>
          <p:cNvSpPr txBox="1"/>
          <p:nvPr/>
        </p:nvSpPr>
        <p:spPr>
          <a:xfrm>
            <a:off x="4389120" y="4791456"/>
            <a:ext cx="7223760" cy="566928"/>
          </a:xfrm>
          <a:prstGeom prst="rect">
            <a:avLst/>
          </a:prstGeom>
          <a:noFill/>
        </p:spPr>
        <p:txBody>
          <a:bodyPr wrap="square">
            <a:spAutoFit/>
          </a:bodyPr>
          <a:lstStyle/>
          <a:p>
            <a:pPr algn="l">
              <a:defRPr sz="1400" b="0" i="0">
                <a:solidFill>
                  <a:srgbClr val="F5F5F5"/>
                </a:solidFill>
                <a:latin typeface="Arial"/>
              </a:defRPr>
            </a:pPr>
            <a:r>
              <a:t>Hiding instructions inside data an AI reads, so it executes commands you did not send.</a:t>
            </a:r>
          </a:p>
        </p:txBody>
      </p:sp>
      <p:sp>
        <p:nvSpPr>
          <p:cNvPr id="17" name="Rectangle 16"/>
          <p:cNvSpPr/>
          <p:nvPr/>
        </p:nvSpPr>
        <p:spPr>
          <a:xfrm>
            <a:off x="731520" y="5266944"/>
            <a:ext cx="10881360" cy="12700"/>
          </a:xfrm>
          <a:prstGeom prst="rect">
            <a:avLst/>
          </a:prstGeom>
          <a:solidFill>
            <a:srgbClr val="E0B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1520" y="5358384"/>
            <a:ext cx="3474720" cy="566928"/>
          </a:xfrm>
          <a:prstGeom prst="rect">
            <a:avLst/>
          </a:prstGeom>
          <a:noFill/>
        </p:spPr>
        <p:txBody>
          <a:bodyPr wrap="square">
            <a:spAutoFit/>
          </a:bodyPr>
          <a:lstStyle/>
          <a:p>
            <a:pPr algn="l">
              <a:defRPr sz="1600" b="1" i="0">
                <a:solidFill>
                  <a:srgbClr val="C81E1E"/>
                </a:solidFill>
                <a:latin typeface="Arial"/>
              </a:defRPr>
            </a:pPr>
            <a:r>
              <a:t>Agent</a:t>
            </a:r>
          </a:p>
        </p:txBody>
      </p:sp>
      <p:sp>
        <p:nvSpPr>
          <p:cNvPr id="19" name="TextBox 18"/>
          <p:cNvSpPr txBox="1"/>
          <p:nvPr/>
        </p:nvSpPr>
        <p:spPr>
          <a:xfrm>
            <a:off x="4389120" y="5358384"/>
            <a:ext cx="7223760" cy="566928"/>
          </a:xfrm>
          <a:prstGeom prst="rect">
            <a:avLst/>
          </a:prstGeom>
          <a:noFill/>
        </p:spPr>
        <p:txBody>
          <a:bodyPr wrap="square">
            <a:spAutoFit/>
          </a:bodyPr>
          <a:lstStyle/>
          <a:p>
            <a:pPr algn="l">
              <a:defRPr sz="1400" b="0" i="0">
                <a:solidFill>
                  <a:srgbClr val="F5F5F5"/>
                </a:solidFill>
                <a:latin typeface="Arial"/>
              </a:defRPr>
            </a:pPr>
            <a:r>
              <a:t>AI that takes actions on your behalf, not just answers questions.</a:t>
            </a:r>
          </a:p>
        </p:txBody>
      </p:sp>
      <p:sp>
        <p:nvSpPr>
          <p:cNvPr id="20" name="Rectangle 19"/>
          <p:cNvSpPr/>
          <p:nvPr/>
        </p:nvSpPr>
        <p:spPr>
          <a:xfrm>
            <a:off x="731520" y="5833872"/>
            <a:ext cx="10881360" cy="12700"/>
          </a:xfrm>
          <a:prstGeom prst="rect">
            <a:avLst/>
          </a:prstGeom>
          <a:solidFill>
            <a:srgbClr val="E0B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6263640"/>
            <a:ext cx="10881360" cy="274320"/>
          </a:xfrm>
          <a:prstGeom prst="rect">
            <a:avLst/>
          </a:prstGeom>
          <a:noFill/>
        </p:spPr>
        <p:txBody>
          <a:bodyPr wrap="square">
            <a:spAutoFit/>
          </a:bodyPr>
          <a:lstStyle/>
          <a:p>
            <a:pPr algn="l">
              <a:defRPr sz="1300" b="0" i="1">
                <a:solidFill>
                  <a:srgbClr val="888888"/>
                </a:solidFill>
                <a:latin typeface="Arial"/>
              </a:defRPr>
            </a:pPr>
            <a:r>
              <a:t>If any of these feel fuzzy, find me at dinner. No dumb questions in this room.</a:t>
            </a:r>
          </a:p>
        </p:txBody>
      </p:sp>
      <p:sp>
        <p:nvSpPr>
          <p:cNvPr id="22" name="TextBox 21"/>
          <p:cNvSpPr txBox="1"/>
          <p:nvPr/>
        </p:nvSpPr>
        <p:spPr>
          <a:xfrm>
            <a:off x="457200" y="6492240"/>
            <a:ext cx="1371600" cy="274320"/>
          </a:xfrm>
          <a:prstGeom prst="rect">
            <a:avLst/>
          </a:prstGeom>
          <a:noFill/>
        </p:spPr>
        <p:txBody>
          <a:bodyPr wrap="square">
            <a:spAutoFit/>
          </a:bodyPr>
          <a:lstStyle/>
          <a:p>
            <a:pPr algn="l">
              <a:defRPr sz="1100" b="1" i="0">
                <a:solidFill>
                  <a:srgbClr val="333333"/>
                </a:solidFill>
                <a:latin typeface="Arial"/>
              </a:defRPr>
            </a:pPr>
            <a:r>
              <a:t>BSTC</a:t>
            </a:r>
          </a:p>
        </p:txBody>
      </p:sp>
      <p:sp>
        <p:nvSpPr>
          <p:cNvPr id="23" name="TextBox 22"/>
          <p:cNvSpPr txBox="1"/>
          <p:nvPr/>
        </p:nvSpPr>
        <p:spPr>
          <a:xfrm>
            <a:off x="10515600" y="6492240"/>
            <a:ext cx="1371600" cy="274320"/>
          </a:xfrm>
          <a:prstGeom prst="rect">
            <a:avLst/>
          </a:prstGeom>
          <a:noFill/>
        </p:spPr>
        <p:txBody>
          <a:bodyPr wrap="square">
            <a:spAutoFit/>
          </a:bodyPr>
          <a:lstStyle/>
          <a:p>
            <a:pPr algn="r">
              <a:defRPr sz="1200" b="0" i="0">
                <a:solidFill>
                  <a:srgbClr val="888888"/>
                </a:solidFill>
                <a:latin typeface="Arial"/>
              </a:defRPr>
            </a:pPr>
            <a:r>
              <a:t>05 / 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11111"/>
        </a:solidFill>
        <a:effectLst/>
      </p:bgPr>
    </p:bg>
    <p:spTree>
      <p:nvGrpSpPr>
        <p:cNvPr id="1" name=""/>
        <p:cNvGrpSpPr/>
        <p:nvPr/>
      </p:nvGrpSpPr>
      <p:grpSpPr/>
      <p:sp>
        <p:nvSpPr>
          <p:cNvPr id="2" name="TextBox 1"/>
          <p:cNvSpPr txBox="1"/>
          <p:nvPr/>
        </p:nvSpPr>
        <p:spPr>
          <a:xfrm>
            <a:off x="731520" y="548640"/>
            <a:ext cx="7315200" cy="365760"/>
          </a:xfrm>
          <a:prstGeom prst="rect">
            <a:avLst/>
          </a:prstGeom>
          <a:noFill/>
        </p:spPr>
        <p:txBody>
          <a:bodyPr wrap="square">
            <a:spAutoFit/>
          </a:bodyPr>
          <a:lstStyle/>
          <a:p>
            <a:pPr algn="l">
              <a:defRPr sz="1300" b="1" i="0">
                <a:solidFill>
                  <a:srgbClr val="C81E1E"/>
                </a:solidFill>
                <a:latin typeface="Arial"/>
              </a:defRPr>
            </a:pPr>
            <a:r>
              <a:t>SIGNAL 01</a:t>
            </a:r>
          </a:p>
        </p:txBody>
      </p:sp>
      <p:sp>
        <p:nvSpPr>
          <p:cNvPr id="3" name="TextBox 2"/>
          <p:cNvSpPr txBox="1"/>
          <p:nvPr/>
        </p:nvSpPr>
        <p:spPr>
          <a:xfrm>
            <a:off x="731520" y="1005840"/>
            <a:ext cx="10058400" cy="822960"/>
          </a:xfrm>
          <a:prstGeom prst="rect">
            <a:avLst/>
          </a:prstGeom>
          <a:noFill/>
        </p:spPr>
        <p:txBody>
          <a:bodyPr wrap="square">
            <a:spAutoFit/>
          </a:bodyPr>
          <a:lstStyle/>
          <a:p>
            <a:pPr algn="l">
              <a:defRPr sz="4800" b="1" i="0">
                <a:solidFill>
                  <a:srgbClr val="F5F5F5"/>
                </a:solidFill>
                <a:latin typeface="Arial"/>
              </a:defRPr>
            </a:pPr>
            <a:r>
              <a:t>The Vercel Breach</a:t>
            </a:r>
          </a:p>
        </p:txBody>
      </p:sp>
      <p:sp>
        <p:nvSpPr>
          <p:cNvPr id="4" name="Rectangle 3"/>
          <p:cNvSpPr/>
          <p:nvPr/>
        </p:nvSpPr>
        <p:spPr>
          <a:xfrm>
            <a:off x="731520" y="2011680"/>
            <a:ext cx="731520" cy="50800"/>
          </a:xfrm>
          <a:prstGeom prst="rect">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2286000"/>
            <a:ext cx="10058400" cy="914400"/>
          </a:xfrm>
          <a:prstGeom prst="rect">
            <a:avLst/>
          </a:prstGeom>
          <a:noFill/>
        </p:spPr>
        <p:txBody>
          <a:bodyPr wrap="square">
            <a:spAutoFit/>
          </a:bodyPr>
          <a:lstStyle/>
          <a:p>
            <a:pPr algn="l">
              <a:defRPr sz="1600" b="0" i="0">
                <a:solidFill>
                  <a:srgbClr val="AAAAAA"/>
                </a:solidFill>
                <a:latin typeface="Arial"/>
              </a:defRPr>
            </a:pPr>
            <a:r>
              <a:t>Attackers compromised Vercel through an AI agent platform's OAuth scope. No model exploit. No prompt injection. OAuth was the skeleton key. Customer environment variables were exposed.</a:t>
            </a:r>
          </a:p>
        </p:txBody>
      </p:sp>
      <p:sp>
        <p:nvSpPr>
          <p:cNvPr id="6" name="TextBox 5"/>
          <p:cNvSpPr txBox="1"/>
          <p:nvPr/>
        </p:nvSpPr>
        <p:spPr>
          <a:xfrm>
            <a:off x="731520" y="3154680"/>
            <a:ext cx="7315200" cy="274320"/>
          </a:xfrm>
          <a:prstGeom prst="rect">
            <a:avLst/>
          </a:prstGeom>
          <a:noFill/>
        </p:spPr>
        <p:txBody>
          <a:bodyPr wrap="square">
            <a:spAutoFit/>
          </a:bodyPr>
          <a:lstStyle/>
          <a:p>
            <a:pPr algn="l">
              <a:defRPr sz="1100" b="1" i="0">
                <a:solidFill>
                  <a:srgbClr val="888888"/>
                </a:solidFill>
                <a:latin typeface="Arial"/>
              </a:defRPr>
            </a:pPr>
            <a:r>
              <a:t>19 APRIL 2026</a:t>
            </a:r>
          </a:p>
        </p:txBody>
      </p:sp>
      <p:sp>
        <p:nvSpPr>
          <p:cNvPr id="7" name="Rounded Rectangle 6"/>
          <p:cNvSpPr/>
          <p:nvPr/>
        </p:nvSpPr>
        <p:spPr>
          <a:xfrm>
            <a:off x="548640" y="3611880"/>
            <a:ext cx="2468880" cy="1005840"/>
          </a:xfrm>
          <a:prstGeom prst="roundRect">
            <a:avLst/>
          </a:prstGeom>
          <a:solidFill>
            <a:srgbClr val="333333"/>
          </a:solidFill>
          <a:ln w="12700">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3794760"/>
            <a:ext cx="2468880" cy="822960"/>
          </a:xfrm>
          <a:prstGeom prst="rect">
            <a:avLst/>
          </a:prstGeom>
          <a:noFill/>
        </p:spPr>
        <p:txBody>
          <a:bodyPr wrap="square">
            <a:spAutoFit/>
          </a:bodyPr>
          <a:lstStyle/>
          <a:p>
            <a:pPr algn="ctr">
              <a:defRPr sz="1400" b="1" i="0">
                <a:solidFill>
                  <a:srgbClr val="F5F5F5"/>
                </a:solidFill>
                <a:latin typeface="Arial"/>
              </a:defRPr>
            </a:pPr>
            <a:r>
              <a:t>Context.ai</a:t>
            </a:r>
          </a:p>
          <a:p>
            <a:pPr algn="ctr">
              <a:spcBef>
                <a:spcPts val="600"/>
              </a:spcBef>
              <a:defRPr sz="1100" b="0" i="0">
                <a:solidFill>
                  <a:srgbClr val="AAAAAA"/>
                </a:solidFill>
                <a:latin typeface="Arial"/>
              </a:defRPr>
            </a:pPr>
            <a:r>
              <a:t>AI agent platform</a:t>
            </a:r>
          </a:p>
        </p:txBody>
      </p:sp>
      <p:sp>
        <p:nvSpPr>
          <p:cNvPr id="9" name="TextBox 8"/>
          <p:cNvSpPr txBox="1"/>
          <p:nvPr/>
        </p:nvSpPr>
        <p:spPr>
          <a:xfrm>
            <a:off x="3035808" y="3931920"/>
            <a:ext cx="228600" cy="457200"/>
          </a:xfrm>
          <a:prstGeom prst="rect">
            <a:avLst/>
          </a:prstGeom>
          <a:noFill/>
        </p:spPr>
        <p:txBody>
          <a:bodyPr wrap="square">
            <a:spAutoFit/>
          </a:bodyPr>
          <a:lstStyle/>
          <a:p>
            <a:pPr algn="ctr">
              <a:defRPr sz="2000" b="1" i="0">
                <a:solidFill>
                  <a:srgbClr val="C81E1E"/>
                </a:solidFill>
                <a:latin typeface="Arial"/>
              </a:defRPr>
            </a:pPr>
            <a:r>
              <a:t>→</a:t>
            </a:r>
          </a:p>
        </p:txBody>
      </p:sp>
      <p:sp>
        <p:nvSpPr>
          <p:cNvPr id="10" name="Rounded Rectangle 9"/>
          <p:cNvSpPr/>
          <p:nvPr/>
        </p:nvSpPr>
        <p:spPr>
          <a:xfrm>
            <a:off x="3246120" y="3611880"/>
            <a:ext cx="2468880" cy="1005840"/>
          </a:xfrm>
          <a:prstGeom prst="roundRect">
            <a:avLst/>
          </a:prstGeom>
          <a:solidFill>
            <a:srgbClr val="333333"/>
          </a:solidFill>
          <a:ln w="12700">
            <a:solidFill>
              <a:srgbClr val="E0B0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246120" y="3794760"/>
            <a:ext cx="2468880" cy="822960"/>
          </a:xfrm>
          <a:prstGeom prst="rect">
            <a:avLst/>
          </a:prstGeom>
          <a:noFill/>
        </p:spPr>
        <p:txBody>
          <a:bodyPr wrap="square">
            <a:spAutoFit/>
          </a:bodyPr>
          <a:lstStyle/>
          <a:p>
            <a:pPr algn="ctr">
              <a:defRPr sz="1400" b="1" i="0">
                <a:solidFill>
                  <a:srgbClr val="E0B040"/>
                </a:solidFill>
                <a:latin typeface="Arial"/>
              </a:defRPr>
            </a:pPr>
            <a:r>
              <a:t>OAuth scope</a:t>
            </a:r>
          </a:p>
          <a:p>
            <a:pPr algn="ctr">
              <a:spcBef>
                <a:spcPts val="600"/>
              </a:spcBef>
              <a:defRPr sz="1100" b="0" i="0">
                <a:solidFill>
                  <a:srgbClr val="AAAAAA"/>
                </a:solidFill>
                <a:latin typeface="Arial"/>
              </a:defRPr>
            </a:pPr>
            <a:r>
              <a:t>Google Workspace</a:t>
            </a:r>
          </a:p>
        </p:txBody>
      </p:sp>
      <p:sp>
        <p:nvSpPr>
          <p:cNvPr id="12" name="TextBox 11"/>
          <p:cNvSpPr txBox="1"/>
          <p:nvPr/>
        </p:nvSpPr>
        <p:spPr>
          <a:xfrm>
            <a:off x="5733288" y="3931920"/>
            <a:ext cx="228600" cy="457200"/>
          </a:xfrm>
          <a:prstGeom prst="rect">
            <a:avLst/>
          </a:prstGeom>
          <a:noFill/>
        </p:spPr>
        <p:txBody>
          <a:bodyPr wrap="square">
            <a:spAutoFit/>
          </a:bodyPr>
          <a:lstStyle/>
          <a:p>
            <a:pPr algn="ctr">
              <a:defRPr sz="2000" b="1" i="0">
                <a:solidFill>
                  <a:srgbClr val="E0B040"/>
                </a:solidFill>
                <a:latin typeface="Arial"/>
              </a:defRPr>
            </a:pPr>
            <a:r>
              <a:t>→</a:t>
            </a:r>
          </a:p>
        </p:txBody>
      </p:sp>
      <p:sp>
        <p:nvSpPr>
          <p:cNvPr id="13" name="Rounded Rectangle 12"/>
          <p:cNvSpPr/>
          <p:nvPr/>
        </p:nvSpPr>
        <p:spPr>
          <a:xfrm>
            <a:off x="5943600" y="3611880"/>
            <a:ext cx="2468880" cy="1005840"/>
          </a:xfrm>
          <a:prstGeom prst="roundRect">
            <a:avLst/>
          </a:prstGeom>
          <a:solidFill>
            <a:srgbClr val="333333"/>
          </a:solidFill>
          <a:ln w="12700">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943600" y="3794760"/>
            <a:ext cx="2468880" cy="822960"/>
          </a:xfrm>
          <a:prstGeom prst="rect">
            <a:avLst/>
          </a:prstGeom>
          <a:noFill/>
        </p:spPr>
        <p:txBody>
          <a:bodyPr wrap="square">
            <a:spAutoFit/>
          </a:bodyPr>
          <a:lstStyle/>
          <a:p>
            <a:pPr algn="ctr">
              <a:defRPr sz="1400" b="1" i="0">
                <a:solidFill>
                  <a:srgbClr val="F5F5F5"/>
                </a:solidFill>
                <a:latin typeface="Arial"/>
              </a:defRPr>
            </a:pPr>
            <a:r>
              <a:t>Employee account</a:t>
            </a:r>
          </a:p>
          <a:p>
            <a:pPr algn="ctr">
              <a:spcBef>
                <a:spcPts val="600"/>
              </a:spcBef>
              <a:defRPr sz="1100" b="0" i="0">
                <a:solidFill>
                  <a:srgbClr val="AAAAAA"/>
                </a:solidFill>
                <a:latin typeface="Arial"/>
              </a:defRPr>
            </a:pPr>
            <a:r>
              <a:t>Vercel</a:t>
            </a:r>
          </a:p>
        </p:txBody>
      </p:sp>
      <p:sp>
        <p:nvSpPr>
          <p:cNvPr id="15" name="TextBox 14"/>
          <p:cNvSpPr txBox="1"/>
          <p:nvPr/>
        </p:nvSpPr>
        <p:spPr>
          <a:xfrm>
            <a:off x="8430768" y="3931920"/>
            <a:ext cx="228600" cy="457200"/>
          </a:xfrm>
          <a:prstGeom prst="rect">
            <a:avLst/>
          </a:prstGeom>
          <a:noFill/>
        </p:spPr>
        <p:txBody>
          <a:bodyPr wrap="square">
            <a:spAutoFit/>
          </a:bodyPr>
          <a:lstStyle/>
          <a:p>
            <a:pPr algn="ctr">
              <a:defRPr sz="2000" b="1" i="0">
                <a:solidFill>
                  <a:srgbClr val="C81E1E"/>
                </a:solidFill>
                <a:latin typeface="Arial"/>
              </a:defRPr>
            </a:pPr>
            <a:r>
              <a:t>→</a:t>
            </a:r>
          </a:p>
        </p:txBody>
      </p:sp>
      <p:sp>
        <p:nvSpPr>
          <p:cNvPr id="16" name="Rounded Rectangle 15"/>
          <p:cNvSpPr/>
          <p:nvPr/>
        </p:nvSpPr>
        <p:spPr>
          <a:xfrm>
            <a:off x="8641080" y="3611880"/>
            <a:ext cx="2468880" cy="1005840"/>
          </a:xfrm>
          <a:prstGeom prst="roundRect">
            <a:avLst/>
          </a:prstGeom>
          <a:solidFill>
            <a:srgbClr val="333333"/>
          </a:solidFill>
          <a:ln w="12700">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41080" y="3794760"/>
            <a:ext cx="2468880" cy="822960"/>
          </a:xfrm>
          <a:prstGeom prst="rect">
            <a:avLst/>
          </a:prstGeom>
          <a:noFill/>
        </p:spPr>
        <p:txBody>
          <a:bodyPr wrap="square">
            <a:spAutoFit/>
          </a:bodyPr>
          <a:lstStyle/>
          <a:p>
            <a:pPr algn="ctr">
              <a:defRPr sz="1400" b="1" i="0">
                <a:solidFill>
                  <a:srgbClr val="F5F5F5"/>
                </a:solidFill>
                <a:latin typeface="Arial"/>
              </a:defRPr>
            </a:pPr>
            <a:r>
              <a:t>Internal systems</a:t>
            </a:r>
          </a:p>
          <a:p>
            <a:pPr algn="ctr">
              <a:spcBef>
                <a:spcPts val="600"/>
              </a:spcBef>
              <a:defRPr sz="1100" b="0" i="0">
                <a:solidFill>
                  <a:srgbClr val="AAAAAA"/>
                </a:solidFill>
                <a:latin typeface="Arial"/>
              </a:defRPr>
            </a:pPr>
            <a:r>
              <a:t>Customer env vars</a:t>
            </a:r>
          </a:p>
        </p:txBody>
      </p:sp>
      <p:sp>
        <p:nvSpPr>
          <p:cNvPr id="18" name="TextBox 17"/>
          <p:cNvSpPr txBox="1"/>
          <p:nvPr/>
        </p:nvSpPr>
        <p:spPr>
          <a:xfrm>
            <a:off x="731520" y="4800600"/>
            <a:ext cx="10698480" cy="365760"/>
          </a:xfrm>
          <a:prstGeom prst="rect">
            <a:avLst/>
          </a:prstGeom>
          <a:noFill/>
        </p:spPr>
        <p:txBody>
          <a:bodyPr wrap="square">
            <a:spAutoFit/>
          </a:bodyPr>
          <a:lstStyle/>
          <a:p>
            <a:pPr algn="ctr">
              <a:defRPr sz="1300" b="0" i="1">
                <a:solidFill>
                  <a:srgbClr val="E0B040"/>
                </a:solidFill>
                <a:latin typeface="Arial"/>
              </a:defRPr>
            </a:pPr>
            <a:r>
              <a:t>No model exploited. No prompt injection. OAuth scope was the skeleton key.</a:t>
            </a:r>
          </a:p>
        </p:txBody>
      </p:sp>
      <p:sp>
        <p:nvSpPr>
          <p:cNvPr id="19" name="Rounded Rectangle 18"/>
          <p:cNvSpPr/>
          <p:nvPr/>
        </p:nvSpPr>
        <p:spPr>
          <a:xfrm>
            <a:off x="731520" y="5349240"/>
            <a:ext cx="10698480" cy="1051560"/>
          </a:xfrm>
          <a:prstGeom prst="roundRect">
            <a:avLst/>
          </a:prstGeom>
          <a:solidFill>
            <a:srgbClr val="333333"/>
          </a:solidFill>
          <a:ln w="12700">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31520" y="5349240"/>
            <a:ext cx="50800" cy="1051560"/>
          </a:xfrm>
          <a:prstGeom prst="rect">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4400" y="5458968"/>
            <a:ext cx="10378440" cy="868680"/>
          </a:xfrm>
          <a:prstGeom prst="rect">
            <a:avLst/>
          </a:prstGeom>
          <a:noFill/>
        </p:spPr>
        <p:txBody>
          <a:bodyPr wrap="square">
            <a:spAutoFit/>
          </a:bodyPr>
          <a:lstStyle/>
          <a:p>
            <a:pPr algn="l">
              <a:defRPr sz="1300" b="1" i="0">
                <a:solidFill>
                  <a:srgbClr val="F5F5F5"/>
                </a:solidFill>
                <a:latin typeface="Arial"/>
              </a:defRPr>
            </a:pPr>
            <a:r>
              <a:t>What this means for you:</a:t>
            </a:r>
          </a:p>
          <a:p>
            <a:pPr algn="l">
              <a:spcBef>
                <a:spcPts val="600"/>
              </a:spcBef>
              <a:defRPr sz="1200" b="0" i="0">
                <a:solidFill>
                  <a:srgbClr val="AAAAAA"/>
                </a:solidFill>
                <a:latin typeface="Arial"/>
              </a:defRPr>
            </a:pPr>
            <a:r>
              <a:t>Every AI agent you install asks for OAuth scopes into Gmail, Drive, Slack, and your workspace. Each token is a potential skeleton key to your infrastructure. Review what you have connected, revoke what you do not use, and rotate long-lived secrets. The agent hype cycle just met its first real-world bill.</a:t>
            </a:r>
          </a:p>
        </p:txBody>
      </p:sp>
      <p:sp>
        <p:nvSpPr>
          <p:cNvPr id="22" name="TextBox 21"/>
          <p:cNvSpPr txBox="1"/>
          <p:nvPr/>
        </p:nvSpPr>
        <p:spPr>
          <a:xfrm>
            <a:off x="457200" y="6492240"/>
            <a:ext cx="1371600" cy="274320"/>
          </a:xfrm>
          <a:prstGeom prst="rect">
            <a:avLst/>
          </a:prstGeom>
          <a:noFill/>
        </p:spPr>
        <p:txBody>
          <a:bodyPr wrap="square">
            <a:spAutoFit/>
          </a:bodyPr>
          <a:lstStyle/>
          <a:p>
            <a:pPr algn="l">
              <a:defRPr sz="1100" b="1" i="0">
                <a:solidFill>
                  <a:srgbClr val="333333"/>
                </a:solidFill>
                <a:latin typeface="Arial"/>
              </a:defRPr>
            </a:pPr>
            <a:r>
              <a:t>BSTC</a:t>
            </a:r>
          </a:p>
        </p:txBody>
      </p:sp>
      <p:sp>
        <p:nvSpPr>
          <p:cNvPr id="23" name="TextBox 22"/>
          <p:cNvSpPr txBox="1"/>
          <p:nvPr/>
        </p:nvSpPr>
        <p:spPr>
          <a:xfrm>
            <a:off x="10515600" y="6492240"/>
            <a:ext cx="1371600" cy="274320"/>
          </a:xfrm>
          <a:prstGeom prst="rect">
            <a:avLst/>
          </a:prstGeom>
          <a:noFill/>
        </p:spPr>
        <p:txBody>
          <a:bodyPr wrap="square">
            <a:spAutoFit/>
          </a:bodyPr>
          <a:lstStyle/>
          <a:p>
            <a:pPr algn="r">
              <a:defRPr sz="1200" b="0" i="0">
                <a:solidFill>
                  <a:srgbClr val="888888"/>
                </a:solidFill>
                <a:latin typeface="Arial"/>
              </a:defRPr>
            </a:pPr>
            <a:r>
              <a:t>06 / 15</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11111"/>
        </a:solidFill>
        <a:effectLst/>
      </p:bgPr>
    </p:bg>
    <p:spTree>
      <p:nvGrpSpPr>
        <p:cNvPr id="1" name=""/>
        <p:cNvGrpSpPr/>
        <p:nvPr/>
      </p:nvGrpSpPr>
      <p:grpSpPr/>
      <p:sp>
        <p:nvSpPr>
          <p:cNvPr id="2" name="TextBox 1"/>
          <p:cNvSpPr txBox="1"/>
          <p:nvPr/>
        </p:nvSpPr>
        <p:spPr>
          <a:xfrm>
            <a:off x="731520" y="548640"/>
            <a:ext cx="7315200" cy="365760"/>
          </a:xfrm>
          <a:prstGeom prst="rect">
            <a:avLst/>
          </a:prstGeom>
          <a:noFill/>
        </p:spPr>
        <p:txBody>
          <a:bodyPr wrap="square">
            <a:spAutoFit/>
          </a:bodyPr>
          <a:lstStyle/>
          <a:p>
            <a:pPr algn="l">
              <a:defRPr sz="1300" b="1" i="0">
                <a:solidFill>
                  <a:srgbClr val="C81E1E"/>
                </a:solidFill>
                <a:latin typeface="Arial"/>
              </a:defRPr>
            </a:pPr>
            <a:r>
              <a:t>SIGNAL 02</a:t>
            </a:r>
          </a:p>
        </p:txBody>
      </p:sp>
      <p:sp>
        <p:nvSpPr>
          <p:cNvPr id="3" name="TextBox 2"/>
          <p:cNvSpPr txBox="1"/>
          <p:nvPr/>
        </p:nvSpPr>
        <p:spPr>
          <a:xfrm>
            <a:off x="731520" y="1005840"/>
            <a:ext cx="7315200" cy="1828800"/>
          </a:xfrm>
          <a:prstGeom prst="rect">
            <a:avLst/>
          </a:prstGeom>
          <a:noFill/>
        </p:spPr>
        <p:txBody>
          <a:bodyPr wrap="square">
            <a:spAutoFit/>
          </a:bodyPr>
          <a:lstStyle/>
          <a:p>
            <a:pPr algn="l">
              <a:defRPr sz="3600" b="1" i="0">
                <a:solidFill>
                  <a:srgbClr val="F5F5F5"/>
                </a:solidFill>
                <a:latin typeface="Arial"/>
              </a:defRPr>
            </a:pPr>
            <a:r>
              <a:t>Prompt Injection and</a:t>
            </a:r>
            <a:br/>
            <a:r>
              <a:t>Agent Identity Named</a:t>
            </a:r>
            <a:br/>
            <a:r>
              <a:t>Top Enterprise Threat</a:t>
            </a:r>
          </a:p>
        </p:txBody>
      </p:sp>
      <p:sp>
        <p:nvSpPr>
          <p:cNvPr id="4" name="Rectangle 3"/>
          <p:cNvSpPr/>
          <p:nvPr/>
        </p:nvSpPr>
        <p:spPr>
          <a:xfrm>
            <a:off x="731520" y="3291840"/>
            <a:ext cx="731520" cy="50800"/>
          </a:xfrm>
          <a:prstGeom prst="rect">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3566160"/>
            <a:ext cx="6858000" cy="1097280"/>
          </a:xfrm>
          <a:prstGeom prst="rect">
            <a:avLst/>
          </a:prstGeom>
          <a:noFill/>
        </p:spPr>
        <p:txBody>
          <a:bodyPr wrap="square">
            <a:spAutoFit/>
          </a:bodyPr>
          <a:lstStyle/>
          <a:p>
            <a:pPr algn="l">
              <a:defRPr sz="1500" b="0" i="0">
                <a:solidFill>
                  <a:srgbClr val="AAAAAA"/>
                </a:solidFill>
                <a:latin typeface="Arial"/>
              </a:defRPr>
            </a:pPr>
            <a:r>
              <a:t>Security researchers flagged non-human identity and prompt injection as the leading enterprise AI threats five days before Vercel got hit through exactly that class of attack.</a:t>
            </a:r>
          </a:p>
        </p:txBody>
      </p:sp>
      <p:sp>
        <p:nvSpPr>
          <p:cNvPr id="6" name="TextBox 5"/>
          <p:cNvSpPr txBox="1"/>
          <p:nvPr/>
        </p:nvSpPr>
        <p:spPr>
          <a:xfrm>
            <a:off x="731520" y="4846320"/>
            <a:ext cx="7315200" cy="274320"/>
          </a:xfrm>
          <a:prstGeom prst="rect">
            <a:avLst/>
          </a:prstGeom>
          <a:noFill/>
        </p:spPr>
        <p:txBody>
          <a:bodyPr wrap="square">
            <a:spAutoFit/>
          </a:bodyPr>
          <a:lstStyle/>
          <a:p>
            <a:pPr algn="l">
              <a:defRPr sz="1100" b="1" i="0">
                <a:solidFill>
                  <a:srgbClr val="888888"/>
                </a:solidFill>
                <a:latin typeface="Arial"/>
              </a:defRPr>
            </a:pPr>
            <a:r>
              <a:t>14 APRIL 2026  ·  ISACA</a:t>
            </a:r>
          </a:p>
        </p:txBody>
      </p:sp>
      <p:sp>
        <p:nvSpPr>
          <p:cNvPr id="7" name="Rounded Rectangle 6"/>
          <p:cNvSpPr/>
          <p:nvPr/>
        </p:nvSpPr>
        <p:spPr>
          <a:xfrm>
            <a:off x="731520" y="5349240"/>
            <a:ext cx="6858000" cy="1051560"/>
          </a:xfrm>
          <a:prstGeom prst="roundRect">
            <a:avLst/>
          </a:prstGeom>
          <a:solidFill>
            <a:srgbClr val="333333"/>
          </a:solidFill>
          <a:ln w="12700">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5349240"/>
            <a:ext cx="50800" cy="1051560"/>
          </a:xfrm>
          <a:prstGeom prst="rect">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5458968"/>
            <a:ext cx="6537960" cy="868680"/>
          </a:xfrm>
          <a:prstGeom prst="rect">
            <a:avLst/>
          </a:prstGeom>
          <a:noFill/>
        </p:spPr>
        <p:txBody>
          <a:bodyPr wrap="square">
            <a:spAutoFit/>
          </a:bodyPr>
          <a:lstStyle/>
          <a:p>
            <a:pPr algn="l">
              <a:defRPr sz="1300" b="1" i="0">
                <a:solidFill>
                  <a:srgbClr val="F5F5F5"/>
                </a:solidFill>
                <a:latin typeface="Arial"/>
              </a:defRPr>
            </a:pPr>
            <a:r>
              <a:t>What this means for you:</a:t>
            </a:r>
          </a:p>
          <a:p>
            <a:pPr algn="l">
              <a:spcBef>
                <a:spcPts val="600"/>
              </a:spcBef>
              <a:defRPr sz="1200" b="0" i="0">
                <a:solidFill>
                  <a:srgbClr val="AAAAAA"/>
                </a:solidFill>
                <a:latin typeface="Arial"/>
              </a:defRPr>
            </a:pPr>
            <a:r>
              <a:t>Signal 01 is Signal 02 manifesting in production. If you are not governing agent identity, you are running the risk Vercel just learned the hard way. Start with OAuth scope hygiene, short-lived tokens, and agent permission scoping.</a:t>
            </a:r>
          </a:p>
        </p:txBody>
      </p:sp>
      <p:sp>
        <p:nvSpPr>
          <p:cNvPr id="10" name="Rounded Rectangle 9"/>
          <p:cNvSpPr/>
          <p:nvPr/>
        </p:nvSpPr>
        <p:spPr>
          <a:xfrm>
            <a:off x="7863840" y="1188720"/>
            <a:ext cx="3931920" cy="1371600"/>
          </a:xfrm>
          <a:prstGeom prst="roundRect">
            <a:avLst/>
          </a:prstGeom>
          <a:solidFill>
            <a:srgbClr val="333333"/>
          </a:solidFill>
          <a:ln w="12700">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46720" y="1371600"/>
            <a:ext cx="3566160" cy="1097280"/>
          </a:xfrm>
          <a:prstGeom prst="rect">
            <a:avLst/>
          </a:prstGeom>
          <a:noFill/>
        </p:spPr>
        <p:txBody>
          <a:bodyPr wrap="square">
            <a:spAutoFit/>
          </a:bodyPr>
          <a:lstStyle/>
          <a:p>
            <a:pPr algn="l">
              <a:defRPr sz="2600" b="1" i="0">
                <a:solidFill>
                  <a:srgbClr val="C81E1E"/>
                </a:solidFill>
                <a:latin typeface="Arial"/>
              </a:defRPr>
            </a:pPr>
            <a:r>
              <a:t>100 : 1</a:t>
            </a:r>
          </a:p>
          <a:p>
            <a:pPr algn="l">
              <a:spcBef>
                <a:spcPts val="600"/>
              </a:spcBef>
              <a:defRPr sz="1200" b="0" i="0">
                <a:solidFill>
                  <a:srgbClr val="AAAAAA"/>
                </a:solidFill>
                <a:latin typeface="Arial"/>
              </a:defRPr>
            </a:pPr>
            <a:r>
              <a:t>Machine-to-machine vs human logins in some enterprises</a:t>
            </a:r>
          </a:p>
        </p:txBody>
      </p:sp>
      <p:sp>
        <p:nvSpPr>
          <p:cNvPr id="12" name="Rounded Rectangle 11"/>
          <p:cNvSpPr/>
          <p:nvPr/>
        </p:nvSpPr>
        <p:spPr>
          <a:xfrm>
            <a:off x="7863840" y="2743200"/>
            <a:ext cx="3931920" cy="1371600"/>
          </a:xfrm>
          <a:prstGeom prst="roundRect">
            <a:avLst/>
          </a:prstGeom>
          <a:solidFill>
            <a:srgbClr val="333333"/>
          </a:solidFill>
          <a:ln w="12700">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46720" y="2926080"/>
            <a:ext cx="3566160" cy="1097280"/>
          </a:xfrm>
          <a:prstGeom prst="rect">
            <a:avLst/>
          </a:prstGeom>
          <a:noFill/>
        </p:spPr>
        <p:txBody>
          <a:bodyPr wrap="square">
            <a:spAutoFit/>
          </a:bodyPr>
          <a:lstStyle/>
          <a:p>
            <a:pPr algn="l">
              <a:defRPr sz="2600" b="1" i="0">
                <a:solidFill>
                  <a:srgbClr val="C81E1E"/>
                </a:solidFill>
                <a:latin typeface="Arial"/>
              </a:defRPr>
            </a:pPr>
            <a:r>
              <a:t>Attack surface</a:t>
            </a:r>
          </a:p>
          <a:p>
            <a:pPr algn="l">
              <a:spcBef>
                <a:spcPts val="600"/>
              </a:spcBef>
              <a:defRPr sz="1200" b="0" i="0">
                <a:solidFill>
                  <a:srgbClr val="AAAAAA"/>
                </a:solidFill>
                <a:latin typeface="Arial"/>
              </a:defRPr>
            </a:pPr>
            <a:r>
              <a:t>GitHub issues, docs, email, PR descriptions</a:t>
            </a:r>
          </a:p>
        </p:txBody>
      </p:sp>
      <p:sp>
        <p:nvSpPr>
          <p:cNvPr id="14" name="Rounded Rectangle 13"/>
          <p:cNvSpPr/>
          <p:nvPr/>
        </p:nvSpPr>
        <p:spPr>
          <a:xfrm>
            <a:off x="7863840" y="4297680"/>
            <a:ext cx="3931920" cy="1371600"/>
          </a:xfrm>
          <a:prstGeom prst="roundRect">
            <a:avLst/>
          </a:prstGeom>
          <a:solidFill>
            <a:srgbClr val="333333"/>
          </a:solidFill>
          <a:ln w="12700">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20" y="4480560"/>
            <a:ext cx="3566160" cy="1097280"/>
          </a:xfrm>
          <a:prstGeom prst="rect">
            <a:avLst/>
          </a:prstGeom>
          <a:noFill/>
        </p:spPr>
        <p:txBody>
          <a:bodyPr wrap="square">
            <a:spAutoFit/>
          </a:bodyPr>
          <a:lstStyle/>
          <a:p>
            <a:pPr algn="l">
              <a:defRPr sz="2600" b="1" i="0">
                <a:solidFill>
                  <a:srgbClr val="C81E1E"/>
                </a:solidFill>
                <a:latin typeface="Arial"/>
              </a:defRPr>
            </a:pPr>
            <a:r>
              <a:t>Blind spot</a:t>
            </a:r>
          </a:p>
          <a:p>
            <a:pPr algn="l">
              <a:spcBef>
                <a:spcPts val="600"/>
              </a:spcBef>
              <a:defRPr sz="1200" b="0" i="0">
                <a:solidFill>
                  <a:srgbClr val="AAAAAA"/>
                </a:solidFill>
                <a:latin typeface="Arial"/>
              </a:defRPr>
            </a:pPr>
            <a:r>
              <a:t>Existing endpoint and IAM tooling does not cover service principals</a:t>
            </a:r>
          </a:p>
        </p:txBody>
      </p:sp>
      <p:sp>
        <p:nvSpPr>
          <p:cNvPr id="16" name="TextBox 15"/>
          <p:cNvSpPr txBox="1"/>
          <p:nvPr/>
        </p:nvSpPr>
        <p:spPr>
          <a:xfrm>
            <a:off x="457200" y="6492240"/>
            <a:ext cx="1371600" cy="274320"/>
          </a:xfrm>
          <a:prstGeom prst="rect">
            <a:avLst/>
          </a:prstGeom>
          <a:noFill/>
        </p:spPr>
        <p:txBody>
          <a:bodyPr wrap="square">
            <a:spAutoFit/>
          </a:bodyPr>
          <a:lstStyle/>
          <a:p>
            <a:pPr algn="l">
              <a:defRPr sz="1100" b="1" i="0">
                <a:solidFill>
                  <a:srgbClr val="333333"/>
                </a:solidFill>
                <a:latin typeface="Arial"/>
              </a:defRPr>
            </a:pPr>
            <a:r>
              <a:t>BSTC</a:t>
            </a:r>
          </a:p>
        </p:txBody>
      </p:sp>
      <p:sp>
        <p:nvSpPr>
          <p:cNvPr id="17" name="TextBox 16"/>
          <p:cNvSpPr txBox="1"/>
          <p:nvPr/>
        </p:nvSpPr>
        <p:spPr>
          <a:xfrm>
            <a:off x="10515600" y="6492240"/>
            <a:ext cx="1371600" cy="274320"/>
          </a:xfrm>
          <a:prstGeom prst="rect">
            <a:avLst/>
          </a:prstGeom>
          <a:noFill/>
        </p:spPr>
        <p:txBody>
          <a:bodyPr wrap="square">
            <a:spAutoFit/>
          </a:bodyPr>
          <a:lstStyle/>
          <a:p>
            <a:pPr algn="r">
              <a:defRPr sz="1200" b="0" i="0">
                <a:solidFill>
                  <a:srgbClr val="888888"/>
                </a:solidFill>
                <a:latin typeface="Arial"/>
              </a:defRPr>
            </a:pPr>
            <a:r>
              <a:t>07 / 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11111"/>
        </a:solidFill>
        <a:effectLst/>
      </p:bgPr>
    </p:bg>
    <p:spTree>
      <p:nvGrpSpPr>
        <p:cNvPr id="1" name=""/>
        <p:cNvGrpSpPr/>
        <p:nvPr/>
      </p:nvGrpSpPr>
      <p:grpSpPr/>
      <p:sp>
        <p:nvSpPr>
          <p:cNvPr id="2" name="TextBox 1"/>
          <p:cNvSpPr txBox="1"/>
          <p:nvPr/>
        </p:nvSpPr>
        <p:spPr>
          <a:xfrm>
            <a:off x="731520" y="548640"/>
            <a:ext cx="7315200" cy="365760"/>
          </a:xfrm>
          <a:prstGeom prst="rect">
            <a:avLst/>
          </a:prstGeom>
          <a:noFill/>
        </p:spPr>
        <p:txBody>
          <a:bodyPr wrap="square">
            <a:spAutoFit/>
          </a:bodyPr>
          <a:lstStyle/>
          <a:p>
            <a:pPr algn="l">
              <a:defRPr sz="1300" b="1" i="0">
                <a:solidFill>
                  <a:srgbClr val="C81E1E"/>
                </a:solidFill>
                <a:latin typeface="Arial"/>
              </a:defRPr>
            </a:pPr>
            <a:r>
              <a:t>SIGNAL 03</a:t>
            </a:r>
          </a:p>
        </p:txBody>
      </p:sp>
      <p:sp>
        <p:nvSpPr>
          <p:cNvPr id="3" name="TextBox 2"/>
          <p:cNvSpPr txBox="1"/>
          <p:nvPr/>
        </p:nvSpPr>
        <p:spPr>
          <a:xfrm>
            <a:off x="731520" y="1005840"/>
            <a:ext cx="7315200" cy="1645920"/>
          </a:xfrm>
          <a:prstGeom prst="rect">
            <a:avLst/>
          </a:prstGeom>
          <a:noFill/>
        </p:spPr>
        <p:txBody>
          <a:bodyPr wrap="square">
            <a:spAutoFit/>
          </a:bodyPr>
          <a:lstStyle/>
          <a:p>
            <a:pPr algn="l">
              <a:defRPr sz="4400" b="1" i="0">
                <a:solidFill>
                  <a:srgbClr val="F5F5F5"/>
                </a:solidFill>
                <a:latin typeface="Arial"/>
              </a:defRPr>
            </a:pPr>
            <a:r>
              <a:t>The End of</a:t>
            </a:r>
            <a:br/>
            <a:r>
              <a:t>Subsidised AI</a:t>
            </a:r>
          </a:p>
        </p:txBody>
      </p:sp>
      <p:sp>
        <p:nvSpPr>
          <p:cNvPr id="4" name="Rectangle 3"/>
          <p:cNvSpPr/>
          <p:nvPr/>
        </p:nvSpPr>
        <p:spPr>
          <a:xfrm>
            <a:off x="731520" y="3017520"/>
            <a:ext cx="731520" cy="50800"/>
          </a:xfrm>
          <a:prstGeom prst="rect">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3291840"/>
            <a:ext cx="6858000" cy="1371600"/>
          </a:xfrm>
          <a:prstGeom prst="rect">
            <a:avLst/>
          </a:prstGeom>
          <a:noFill/>
        </p:spPr>
        <p:txBody>
          <a:bodyPr wrap="square">
            <a:spAutoFit/>
          </a:bodyPr>
          <a:lstStyle/>
          <a:p>
            <a:pPr algn="l">
              <a:defRPr sz="1500" b="0" i="0">
                <a:solidFill>
                  <a:srgbClr val="AAAAAA"/>
                </a:solidFill>
                <a:latin typeface="Arial"/>
              </a:defRPr>
            </a:pPr>
            <a:r>
              <a:t>Anthropic quietly pulled Claude Code from the $20 Pro plan, routing users to the $100 Max tier. Official framing: a 2% test on new signups. Reality: support docs updated globally, with no announcement and no grandfathering for paying users.</a:t>
            </a:r>
          </a:p>
        </p:txBody>
      </p:sp>
      <p:sp>
        <p:nvSpPr>
          <p:cNvPr id="6" name="TextBox 5"/>
          <p:cNvSpPr txBox="1"/>
          <p:nvPr/>
        </p:nvSpPr>
        <p:spPr>
          <a:xfrm>
            <a:off x="731520" y="4754880"/>
            <a:ext cx="7315200" cy="274320"/>
          </a:xfrm>
          <a:prstGeom prst="rect">
            <a:avLst/>
          </a:prstGeom>
          <a:noFill/>
        </p:spPr>
        <p:txBody>
          <a:bodyPr wrap="square">
            <a:spAutoFit/>
          </a:bodyPr>
          <a:lstStyle/>
          <a:p>
            <a:pPr algn="l">
              <a:defRPr sz="1100" b="1" i="0">
                <a:solidFill>
                  <a:srgbClr val="888888"/>
                </a:solidFill>
                <a:latin typeface="Arial"/>
              </a:defRPr>
            </a:pPr>
            <a:r>
              <a:t>21 APRIL 2026  ·  CLAUDE CODE REMOVED FROM $20 PRO TIER</a:t>
            </a:r>
          </a:p>
        </p:txBody>
      </p:sp>
      <p:sp>
        <p:nvSpPr>
          <p:cNvPr id="7" name="Rounded Rectangle 6"/>
          <p:cNvSpPr/>
          <p:nvPr/>
        </p:nvSpPr>
        <p:spPr>
          <a:xfrm>
            <a:off x="731520" y="5120640"/>
            <a:ext cx="6858000" cy="1325880"/>
          </a:xfrm>
          <a:prstGeom prst="roundRect">
            <a:avLst/>
          </a:prstGeom>
          <a:solidFill>
            <a:srgbClr val="333333"/>
          </a:solidFill>
          <a:ln w="12700">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5120640"/>
            <a:ext cx="50800" cy="1325880"/>
          </a:xfrm>
          <a:prstGeom prst="rect">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5230368"/>
            <a:ext cx="6537960" cy="1143000"/>
          </a:xfrm>
          <a:prstGeom prst="rect">
            <a:avLst/>
          </a:prstGeom>
          <a:noFill/>
        </p:spPr>
        <p:txBody>
          <a:bodyPr wrap="square">
            <a:spAutoFit/>
          </a:bodyPr>
          <a:lstStyle/>
          <a:p>
            <a:pPr algn="l">
              <a:defRPr sz="1300" b="1" i="0">
                <a:solidFill>
                  <a:srgbClr val="F5F5F5"/>
                </a:solidFill>
                <a:latin typeface="Arial"/>
              </a:defRPr>
            </a:pPr>
            <a:r>
              <a:t>What this means for you:</a:t>
            </a:r>
          </a:p>
          <a:p>
            <a:pPr algn="l">
              <a:spcBef>
                <a:spcPts val="600"/>
              </a:spcBef>
              <a:defRPr sz="1200" b="0" i="0">
                <a:solidFill>
                  <a:srgbClr val="AAAAAA"/>
                </a:solidFill>
                <a:latin typeface="Arial"/>
              </a:defRPr>
            </a:pPr>
            <a:r>
              <a:t>The VC funded token subsidy era is ending in public. If your product economics assume a flat monthly ceiling from Anthropic, OpenAI, or a reseller, re-stress-test margins for token pass-through within 12 months. For SEA teams, $100 USD parity bites harder. Expect faster shift to GLM, Kimi, Qwen, Cursor, and Codex. Framing: the companies that hid the subsidy best will eat the most backlash.</a:t>
            </a:r>
          </a:p>
        </p:txBody>
      </p:sp>
      <p:sp>
        <p:nvSpPr>
          <p:cNvPr id="10" name="Rounded Rectangle 9"/>
          <p:cNvSpPr/>
          <p:nvPr/>
        </p:nvSpPr>
        <p:spPr>
          <a:xfrm>
            <a:off x="7863840" y="1188720"/>
            <a:ext cx="3931920" cy="1371600"/>
          </a:xfrm>
          <a:prstGeom prst="roundRect">
            <a:avLst/>
          </a:prstGeom>
          <a:solidFill>
            <a:srgbClr val="333333"/>
          </a:solidFill>
          <a:ln w="12700">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863840" y="1353312"/>
            <a:ext cx="3931920" cy="1188720"/>
          </a:xfrm>
          <a:prstGeom prst="rect">
            <a:avLst/>
          </a:prstGeom>
          <a:noFill/>
        </p:spPr>
        <p:txBody>
          <a:bodyPr wrap="square">
            <a:spAutoFit/>
          </a:bodyPr>
          <a:lstStyle/>
          <a:p>
            <a:pPr algn="ctr">
              <a:defRPr sz="4400" b="1" i="0">
                <a:solidFill>
                  <a:srgbClr val="C81E1E"/>
                </a:solidFill>
                <a:latin typeface="Arial"/>
              </a:defRPr>
            </a:pPr>
            <a:r>
              <a:t>5x</a:t>
            </a:r>
          </a:p>
          <a:p>
            <a:pPr algn="ctr">
              <a:spcBef>
                <a:spcPts val="400"/>
              </a:spcBef>
              <a:defRPr sz="1200" b="0" i="0">
                <a:solidFill>
                  <a:srgbClr val="AAAAAA"/>
                </a:solidFill>
                <a:latin typeface="Arial"/>
              </a:defRPr>
            </a:pPr>
            <a:r>
              <a:t>Minimum subscription jump</a:t>
            </a:r>
          </a:p>
        </p:txBody>
      </p:sp>
      <p:sp>
        <p:nvSpPr>
          <p:cNvPr id="12" name="Rounded Rectangle 11"/>
          <p:cNvSpPr/>
          <p:nvPr/>
        </p:nvSpPr>
        <p:spPr>
          <a:xfrm>
            <a:off x="7863840" y="2743200"/>
            <a:ext cx="3931920" cy="1371600"/>
          </a:xfrm>
          <a:prstGeom prst="roundRect">
            <a:avLst/>
          </a:prstGeom>
          <a:solidFill>
            <a:srgbClr val="333333"/>
          </a:solidFill>
          <a:ln w="12700">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863840" y="2907792"/>
            <a:ext cx="3931920" cy="1188720"/>
          </a:xfrm>
          <a:prstGeom prst="rect">
            <a:avLst/>
          </a:prstGeom>
          <a:noFill/>
        </p:spPr>
        <p:txBody>
          <a:bodyPr wrap="square">
            <a:spAutoFit/>
          </a:bodyPr>
          <a:lstStyle/>
          <a:p>
            <a:pPr algn="ctr">
              <a:defRPr sz="4400" b="1" i="0">
                <a:solidFill>
                  <a:srgbClr val="C81E1E"/>
                </a:solidFill>
                <a:latin typeface="Arial"/>
              </a:defRPr>
            </a:pPr>
            <a:r>
              <a:t>10x</a:t>
            </a:r>
          </a:p>
          <a:p>
            <a:pPr algn="ctr">
              <a:spcBef>
                <a:spcPts val="400"/>
              </a:spcBef>
              <a:defRPr sz="1200" b="0" i="0">
                <a:solidFill>
                  <a:srgbClr val="AAAAAA"/>
                </a:solidFill>
                <a:latin typeface="Arial"/>
              </a:defRPr>
            </a:pPr>
            <a:r>
              <a:t>Token cost vs plan fee, power user</a:t>
            </a:r>
          </a:p>
        </p:txBody>
      </p:sp>
      <p:sp>
        <p:nvSpPr>
          <p:cNvPr id="14" name="Rounded Rectangle 13"/>
          <p:cNvSpPr/>
          <p:nvPr/>
        </p:nvSpPr>
        <p:spPr>
          <a:xfrm>
            <a:off x="7863840" y="4297680"/>
            <a:ext cx="3931920" cy="1371600"/>
          </a:xfrm>
          <a:prstGeom prst="roundRect">
            <a:avLst/>
          </a:prstGeom>
          <a:solidFill>
            <a:srgbClr val="333333"/>
          </a:solidFill>
          <a:ln w="12700">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863840" y="4462272"/>
            <a:ext cx="3931920" cy="1188720"/>
          </a:xfrm>
          <a:prstGeom prst="rect">
            <a:avLst/>
          </a:prstGeom>
          <a:noFill/>
        </p:spPr>
        <p:txBody>
          <a:bodyPr wrap="square">
            <a:spAutoFit/>
          </a:bodyPr>
          <a:lstStyle/>
          <a:p>
            <a:pPr algn="ctr">
              <a:defRPr sz="4400" b="1" i="0">
                <a:solidFill>
                  <a:srgbClr val="C81E1E"/>
                </a:solidFill>
                <a:latin typeface="Arial"/>
              </a:defRPr>
            </a:pPr>
            <a:r>
              <a:t>2%</a:t>
            </a:r>
          </a:p>
          <a:p>
            <a:pPr algn="ctr">
              <a:spcBef>
                <a:spcPts val="400"/>
              </a:spcBef>
              <a:defRPr sz="1200" b="0" i="0">
                <a:solidFill>
                  <a:srgbClr val="AAAAAA"/>
                </a:solidFill>
                <a:latin typeface="Arial"/>
              </a:defRPr>
            </a:pPr>
            <a:r>
              <a:t>Anthropic 2% test cohort claim</a:t>
            </a:r>
          </a:p>
        </p:txBody>
      </p:sp>
      <p:sp>
        <p:nvSpPr>
          <p:cNvPr id="16" name="TextBox 15"/>
          <p:cNvSpPr txBox="1"/>
          <p:nvPr/>
        </p:nvSpPr>
        <p:spPr>
          <a:xfrm>
            <a:off x="457200" y="6492240"/>
            <a:ext cx="1371600" cy="274320"/>
          </a:xfrm>
          <a:prstGeom prst="rect">
            <a:avLst/>
          </a:prstGeom>
          <a:noFill/>
        </p:spPr>
        <p:txBody>
          <a:bodyPr wrap="square">
            <a:spAutoFit/>
          </a:bodyPr>
          <a:lstStyle/>
          <a:p>
            <a:pPr algn="l">
              <a:defRPr sz="1100" b="1" i="0">
                <a:solidFill>
                  <a:srgbClr val="333333"/>
                </a:solidFill>
                <a:latin typeface="Arial"/>
              </a:defRPr>
            </a:pPr>
            <a:r>
              <a:t>BSTC</a:t>
            </a:r>
          </a:p>
        </p:txBody>
      </p:sp>
      <p:sp>
        <p:nvSpPr>
          <p:cNvPr id="17" name="TextBox 16"/>
          <p:cNvSpPr txBox="1"/>
          <p:nvPr/>
        </p:nvSpPr>
        <p:spPr>
          <a:xfrm>
            <a:off x="10515600" y="6492240"/>
            <a:ext cx="1371600" cy="274320"/>
          </a:xfrm>
          <a:prstGeom prst="rect">
            <a:avLst/>
          </a:prstGeom>
          <a:noFill/>
        </p:spPr>
        <p:txBody>
          <a:bodyPr wrap="square">
            <a:spAutoFit/>
          </a:bodyPr>
          <a:lstStyle/>
          <a:p>
            <a:pPr algn="r">
              <a:defRPr sz="1200" b="0" i="0">
                <a:solidFill>
                  <a:srgbClr val="888888"/>
                </a:solidFill>
                <a:latin typeface="Arial"/>
              </a:defRPr>
            </a:pPr>
            <a:r>
              <a:t>08 / 15</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11111"/>
        </a:solidFill>
        <a:effectLst/>
      </p:bgPr>
    </p:bg>
    <p:spTree>
      <p:nvGrpSpPr>
        <p:cNvPr id="1" name=""/>
        <p:cNvGrpSpPr/>
        <p:nvPr/>
      </p:nvGrpSpPr>
      <p:grpSpPr/>
      <p:sp>
        <p:nvSpPr>
          <p:cNvPr id="2" name="TextBox 1"/>
          <p:cNvSpPr txBox="1"/>
          <p:nvPr/>
        </p:nvSpPr>
        <p:spPr>
          <a:xfrm>
            <a:off x="731520" y="548640"/>
            <a:ext cx="7315200" cy="365760"/>
          </a:xfrm>
          <a:prstGeom prst="rect">
            <a:avLst/>
          </a:prstGeom>
          <a:noFill/>
        </p:spPr>
        <p:txBody>
          <a:bodyPr wrap="square">
            <a:spAutoFit/>
          </a:bodyPr>
          <a:lstStyle/>
          <a:p>
            <a:pPr algn="l">
              <a:defRPr sz="1300" b="1" i="0">
                <a:solidFill>
                  <a:srgbClr val="C81E1E"/>
                </a:solidFill>
                <a:latin typeface="Arial"/>
              </a:defRPr>
            </a:pPr>
            <a:r>
              <a:t>SIGNAL 04</a:t>
            </a:r>
          </a:p>
        </p:txBody>
      </p:sp>
      <p:sp>
        <p:nvSpPr>
          <p:cNvPr id="3" name="TextBox 2"/>
          <p:cNvSpPr txBox="1"/>
          <p:nvPr/>
        </p:nvSpPr>
        <p:spPr>
          <a:xfrm>
            <a:off x="731520" y="1005840"/>
            <a:ext cx="7315200" cy="1280160"/>
          </a:xfrm>
          <a:prstGeom prst="rect">
            <a:avLst/>
          </a:prstGeom>
          <a:noFill/>
        </p:spPr>
        <p:txBody>
          <a:bodyPr wrap="square">
            <a:spAutoFit/>
          </a:bodyPr>
          <a:lstStyle/>
          <a:p>
            <a:pPr algn="l">
              <a:defRPr sz="4400" b="1" i="0">
                <a:solidFill>
                  <a:srgbClr val="F5F5F5"/>
                </a:solidFill>
                <a:latin typeface="Arial"/>
              </a:defRPr>
            </a:pPr>
            <a:r>
              <a:t>Mozilla Thunderbolt</a:t>
            </a:r>
            <a:br/>
            <a:r>
              <a:t>Launches</a:t>
            </a:r>
          </a:p>
        </p:txBody>
      </p:sp>
      <p:sp>
        <p:nvSpPr>
          <p:cNvPr id="4" name="Rectangle 3"/>
          <p:cNvSpPr/>
          <p:nvPr/>
        </p:nvSpPr>
        <p:spPr>
          <a:xfrm>
            <a:off x="731520" y="3017520"/>
            <a:ext cx="731520" cy="50800"/>
          </a:xfrm>
          <a:prstGeom prst="rect">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3291840"/>
            <a:ext cx="6858000" cy="1371600"/>
          </a:xfrm>
          <a:prstGeom prst="rect">
            <a:avLst/>
          </a:prstGeom>
          <a:noFill/>
        </p:spPr>
        <p:txBody>
          <a:bodyPr wrap="square">
            <a:spAutoFit/>
          </a:bodyPr>
          <a:lstStyle/>
          <a:p>
            <a:pPr algn="l">
              <a:defRPr sz="1500" b="0" i="0">
                <a:solidFill>
                  <a:srgbClr val="AAAAAA"/>
                </a:solidFill>
                <a:latin typeface="Arial"/>
              </a:defRPr>
            </a:pPr>
            <a:r>
              <a:t>Mozilla shipped an open-source, self-hostable enterprise AI client as a direct alternative to Microsoft Copilot, ChatGPT Enterprise, and Claude Enterprise. Any model, MCP native, end-to-end encrypted.</a:t>
            </a:r>
          </a:p>
        </p:txBody>
      </p:sp>
      <p:sp>
        <p:nvSpPr>
          <p:cNvPr id="6" name="TextBox 5"/>
          <p:cNvSpPr txBox="1"/>
          <p:nvPr/>
        </p:nvSpPr>
        <p:spPr>
          <a:xfrm>
            <a:off x="731520" y="4846320"/>
            <a:ext cx="7315200" cy="274320"/>
          </a:xfrm>
          <a:prstGeom prst="rect">
            <a:avLst/>
          </a:prstGeom>
          <a:noFill/>
        </p:spPr>
        <p:txBody>
          <a:bodyPr wrap="square">
            <a:spAutoFit/>
          </a:bodyPr>
          <a:lstStyle/>
          <a:p>
            <a:pPr algn="l">
              <a:defRPr sz="1100" b="1" i="0">
                <a:solidFill>
                  <a:srgbClr val="888888"/>
                </a:solidFill>
                <a:latin typeface="Arial"/>
              </a:defRPr>
            </a:pPr>
            <a:r>
              <a:t>16 APRIL 2026</a:t>
            </a:r>
          </a:p>
        </p:txBody>
      </p:sp>
      <p:sp>
        <p:nvSpPr>
          <p:cNvPr id="7" name="Rounded Rectangle 6"/>
          <p:cNvSpPr/>
          <p:nvPr/>
        </p:nvSpPr>
        <p:spPr>
          <a:xfrm>
            <a:off x="731520" y="5349240"/>
            <a:ext cx="6858000" cy="1051560"/>
          </a:xfrm>
          <a:prstGeom prst="roundRect">
            <a:avLst/>
          </a:prstGeom>
          <a:solidFill>
            <a:srgbClr val="333333"/>
          </a:solidFill>
          <a:ln w="12700">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5349240"/>
            <a:ext cx="50800" cy="1051560"/>
          </a:xfrm>
          <a:prstGeom prst="rect">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5458968"/>
            <a:ext cx="6537960" cy="868680"/>
          </a:xfrm>
          <a:prstGeom prst="rect">
            <a:avLst/>
          </a:prstGeom>
          <a:noFill/>
        </p:spPr>
        <p:txBody>
          <a:bodyPr wrap="square">
            <a:spAutoFit/>
          </a:bodyPr>
          <a:lstStyle/>
          <a:p>
            <a:pPr algn="l">
              <a:defRPr sz="1300" b="1" i="0">
                <a:solidFill>
                  <a:srgbClr val="F5F5F5"/>
                </a:solidFill>
                <a:latin typeface="Arial"/>
              </a:defRPr>
            </a:pPr>
            <a:r>
              <a:t>What this means for you:</a:t>
            </a:r>
          </a:p>
          <a:p>
            <a:pPr algn="l">
              <a:spcBef>
                <a:spcPts val="600"/>
              </a:spcBef>
              <a:defRPr sz="1200" b="0" i="0">
                <a:solidFill>
                  <a:srgbClr val="AAAAAA"/>
                </a:solidFill>
                <a:latin typeface="Arial"/>
              </a:defRPr>
            </a:pPr>
            <a:r>
              <a:t>Ties directly to Signal 01. If your data never left your own infrastructure, a Vercel-style third-party breach would not touch you. The objection of 'we cannot use AI because of data concerns' just died. Strategic question: which of your workflows warrant self-hosted AI?</a:t>
            </a:r>
          </a:p>
        </p:txBody>
      </p:sp>
      <p:sp>
        <p:nvSpPr>
          <p:cNvPr id="10" name="Rounded Rectangle 9"/>
          <p:cNvSpPr/>
          <p:nvPr/>
        </p:nvSpPr>
        <p:spPr>
          <a:xfrm>
            <a:off x="7863840" y="1188720"/>
            <a:ext cx="3931920" cy="1005840"/>
          </a:xfrm>
          <a:prstGeom prst="roundRect">
            <a:avLst/>
          </a:prstGeom>
          <a:solidFill>
            <a:srgbClr val="333333"/>
          </a:solidFill>
          <a:ln w="12700">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92440" y="1389888"/>
            <a:ext cx="320040" cy="457200"/>
          </a:xfrm>
          <a:prstGeom prst="rect">
            <a:avLst/>
          </a:prstGeom>
          <a:noFill/>
        </p:spPr>
        <p:txBody>
          <a:bodyPr wrap="square">
            <a:spAutoFit/>
          </a:bodyPr>
          <a:lstStyle/>
          <a:p>
            <a:pPr algn="l">
              <a:defRPr sz="1400" b="1" i="0">
                <a:solidFill>
                  <a:srgbClr val="C81E1E"/>
                </a:solidFill>
                <a:latin typeface="Arial"/>
              </a:defRPr>
            </a:pPr>
            <a:r>
              <a:t>▶</a:t>
            </a:r>
          </a:p>
        </p:txBody>
      </p:sp>
      <p:sp>
        <p:nvSpPr>
          <p:cNvPr id="12" name="TextBox 11"/>
          <p:cNvSpPr txBox="1"/>
          <p:nvPr/>
        </p:nvSpPr>
        <p:spPr>
          <a:xfrm>
            <a:off x="8458200" y="1353312"/>
            <a:ext cx="3200400" cy="822960"/>
          </a:xfrm>
          <a:prstGeom prst="rect">
            <a:avLst/>
          </a:prstGeom>
          <a:noFill/>
        </p:spPr>
        <p:txBody>
          <a:bodyPr wrap="square">
            <a:spAutoFit/>
          </a:bodyPr>
          <a:lstStyle/>
          <a:p>
            <a:pPr algn="l">
              <a:defRPr sz="1300" b="1" i="0">
                <a:solidFill>
                  <a:srgbClr val="F5F5F5"/>
                </a:solidFill>
                <a:latin typeface="Arial"/>
              </a:defRPr>
            </a:pPr>
            <a:r>
              <a:t>Any model: commercial, open-source, locally hosted</a:t>
            </a:r>
          </a:p>
        </p:txBody>
      </p:sp>
      <p:sp>
        <p:nvSpPr>
          <p:cNvPr id="13" name="Rounded Rectangle 12"/>
          <p:cNvSpPr/>
          <p:nvPr/>
        </p:nvSpPr>
        <p:spPr>
          <a:xfrm>
            <a:off x="7863840" y="2331720"/>
            <a:ext cx="3931920" cy="1005840"/>
          </a:xfrm>
          <a:prstGeom prst="roundRect">
            <a:avLst/>
          </a:prstGeom>
          <a:solidFill>
            <a:srgbClr val="333333"/>
          </a:solidFill>
          <a:ln w="12700">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92440" y="2532888"/>
            <a:ext cx="320040" cy="457200"/>
          </a:xfrm>
          <a:prstGeom prst="rect">
            <a:avLst/>
          </a:prstGeom>
          <a:noFill/>
        </p:spPr>
        <p:txBody>
          <a:bodyPr wrap="square">
            <a:spAutoFit/>
          </a:bodyPr>
          <a:lstStyle/>
          <a:p>
            <a:pPr algn="l">
              <a:defRPr sz="1400" b="1" i="0">
                <a:solidFill>
                  <a:srgbClr val="C81E1E"/>
                </a:solidFill>
                <a:latin typeface="Arial"/>
              </a:defRPr>
            </a:pPr>
            <a:r>
              <a:t>▶</a:t>
            </a:r>
          </a:p>
        </p:txBody>
      </p:sp>
      <p:sp>
        <p:nvSpPr>
          <p:cNvPr id="15" name="TextBox 14"/>
          <p:cNvSpPr txBox="1"/>
          <p:nvPr/>
        </p:nvSpPr>
        <p:spPr>
          <a:xfrm>
            <a:off x="8458200" y="2496312"/>
            <a:ext cx="3200400" cy="822960"/>
          </a:xfrm>
          <a:prstGeom prst="rect">
            <a:avLst/>
          </a:prstGeom>
          <a:noFill/>
        </p:spPr>
        <p:txBody>
          <a:bodyPr wrap="square">
            <a:spAutoFit/>
          </a:bodyPr>
          <a:lstStyle/>
          <a:p>
            <a:pPr algn="l">
              <a:defRPr sz="1300" b="1" i="0">
                <a:solidFill>
                  <a:srgbClr val="F5F5F5"/>
                </a:solidFill>
                <a:latin typeface="Arial"/>
              </a:defRPr>
            </a:pPr>
            <a:r>
              <a:t>MCP and Agent Client Protocol native</a:t>
            </a:r>
          </a:p>
        </p:txBody>
      </p:sp>
      <p:sp>
        <p:nvSpPr>
          <p:cNvPr id="16" name="Rounded Rectangle 15"/>
          <p:cNvSpPr/>
          <p:nvPr/>
        </p:nvSpPr>
        <p:spPr>
          <a:xfrm>
            <a:off x="7863840" y="3474720"/>
            <a:ext cx="3931920" cy="1005840"/>
          </a:xfrm>
          <a:prstGeom prst="roundRect">
            <a:avLst/>
          </a:prstGeom>
          <a:solidFill>
            <a:srgbClr val="333333"/>
          </a:solidFill>
          <a:ln w="12700">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092440" y="3675888"/>
            <a:ext cx="320040" cy="457200"/>
          </a:xfrm>
          <a:prstGeom prst="rect">
            <a:avLst/>
          </a:prstGeom>
          <a:noFill/>
        </p:spPr>
        <p:txBody>
          <a:bodyPr wrap="square">
            <a:spAutoFit/>
          </a:bodyPr>
          <a:lstStyle/>
          <a:p>
            <a:pPr algn="l">
              <a:defRPr sz="1400" b="1" i="0">
                <a:solidFill>
                  <a:srgbClr val="C81E1E"/>
                </a:solidFill>
                <a:latin typeface="Arial"/>
              </a:defRPr>
            </a:pPr>
            <a:r>
              <a:t>▶</a:t>
            </a:r>
          </a:p>
        </p:txBody>
      </p:sp>
      <p:sp>
        <p:nvSpPr>
          <p:cNvPr id="18" name="TextBox 17"/>
          <p:cNvSpPr txBox="1"/>
          <p:nvPr/>
        </p:nvSpPr>
        <p:spPr>
          <a:xfrm>
            <a:off x="8458200" y="3639312"/>
            <a:ext cx="3200400" cy="822960"/>
          </a:xfrm>
          <a:prstGeom prst="rect">
            <a:avLst/>
          </a:prstGeom>
          <a:noFill/>
        </p:spPr>
        <p:txBody>
          <a:bodyPr wrap="square">
            <a:spAutoFit/>
          </a:bodyPr>
          <a:lstStyle/>
          <a:p>
            <a:pPr algn="l">
              <a:defRPr sz="1300" b="1" i="0">
                <a:solidFill>
                  <a:srgbClr val="F5F5F5"/>
                </a:solidFill>
                <a:latin typeface="Arial"/>
              </a:defRPr>
            </a:pPr>
            <a:r>
              <a:t>End-to-end encryption, device-level access control</a:t>
            </a:r>
          </a:p>
        </p:txBody>
      </p:sp>
      <p:sp>
        <p:nvSpPr>
          <p:cNvPr id="19" name="Rounded Rectangle 18"/>
          <p:cNvSpPr/>
          <p:nvPr/>
        </p:nvSpPr>
        <p:spPr>
          <a:xfrm>
            <a:off x="7863840" y="4617720"/>
            <a:ext cx="3931920" cy="1005840"/>
          </a:xfrm>
          <a:prstGeom prst="roundRect">
            <a:avLst/>
          </a:prstGeom>
          <a:solidFill>
            <a:srgbClr val="333333"/>
          </a:solidFill>
          <a:ln w="12700">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092440" y="4818888"/>
            <a:ext cx="320040" cy="457200"/>
          </a:xfrm>
          <a:prstGeom prst="rect">
            <a:avLst/>
          </a:prstGeom>
          <a:noFill/>
        </p:spPr>
        <p:txBody>
          <a:bodyPr wrap="square">
            <a:spAutoFit/>
          </a:bodyPr>
          <a:lstStyle/>
          <a:p>
            <a:pPr algn="l">
              <a:defRPr sz="1400" b="1" i="0">
                <a:solidFill>
                  <a:srgbClr val="C81E1E"/>
                </a:solidFill>
                <a:latin typeface="Arial"/>
              </a:defRPr>
            </a:pPr>
            <a:r>
              <a:t>▶</a:t>
            </a:r>
          </a:p>
        </p:txBody>
      </p:sp>
      <p:sp>
        <p:nvSpPr>
          <p:cNvPr id="21" name="TextBox 20"/>
          <p:cNvSpPr txBox="1"/>
          <p:nvPr/>
        </p:nvSpPr>
        <p:spPr>
          <a:xfrm>
            <a:off x="8458200" y="4782312"/>
            <a:ext cx="3200400" cy="822960"/>
          </a:xfrm>
          <a:prstGeom prst="rect">
            <a:avLst/>
          </a:prstGeom>
          <a:noFill/>
        </p:spPr>
        <p:txBody>
          <a:bodyPr wrap="square">
            <a:spAutoFit/>
          </a:bodyPr>
          <a:lstStyle/>
          <a:p>
            <a:pPr algn="l">
              <a:defRPr sz="1300" b="1" i="0">
                <a:solidFill>
                  <a:srgbClr val="F5F5F5"/>
                </a:solidFill>
                <a:latin typeface="Arial"/>
              </a:defRPr>
            </a:pPr>
            <a:r>
              <a:t>Available on GitHub, managed version for small teams</a:t>
            </a:r>
          </a:p>
        </p:txBody>
      </p:sp>
      <p:sp>
        <p:nvSpPr>
          <p:cNvPr id="22" name="TextBox 21"/>
          <p:cNvSpPr txBox="1"/>
          <p:nvPr/>
        </p:nvSpPr>
        <p:spPr>
          <a:xfrm>
            <a:off x="457200" y="6492240"/>
            <a:ext cx="1371600" cy="274320"/>
          </a:xfrm>
          <a:prstGeom prst="rect">
            <a:avLst/>
          </a:prstGeom>
          <a:noFill/>
        </p:spPr>
        <p:txBody>
          <a:bodyPr wrap="square">
            <a:spAutoFit/>
          </a:bodyPr>
          <a:lstStyle/>
          <a:p>
            <a:pPr algn="l">
              <a:defRPr sz="1100" b="1" i="0">
                <a:solidFill>
                  <a:srgbClr val="333333"/>
                </a:solidFill>
                <a:latin typeface="Arial"/>
              </a:defRPr>
            </a:pPr>
            <a:r>
              <a:t>BSTC</a:t>
            </a:r>
          </a:p>
        </p:txBody>
      </p:sp>
      <p:sp>
        <p:nvSpPr>
          <p:cNvPr id="23" name="TextBox 22"/>
          <p:cNvSpPr txBox="1"/>
          <p:nvPr/>
        </p:nvSpPr>
        <p:spPr>
          <a:xfrm>
            <a:off x="10515600" y="6492240"/>
            <a:ext cx="1371600" cy="274320"/>
          </a:xfrm>
          <a:prstGeom prst="rect">
            <a:avLst/>
          </a:prstGeom>
          <a:noFill/>
        </p:spPr>
        <p:txBody>
          <a:bodyPr wrap="square">
            <a:spAutoFit/>
          </a:bodyPr>
          <a:lstStyle/>
          <a:p>
            <a:pPr algn="r">
              <a:defRPr sz="1200" b="0" i="0">
                <a:solidFill>
                  <a:srgbClr val="888888"/>
                </a:solidFill>
                <a:latin typeface="Arial"/>
              </a:defRPr>
            </a:pPr>
            <a:r>
              <a:t>09 / 15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11111"/>
        </a:solidFill>
        <a:effectLst/>
      </p:bgPr>
    </p:bg>
    <p:spTree>
      <p:nvGrpSpPr>
        <p:cNvPr id="1" name=""/>
        <p:cNvGrpSpPr/>
        <p:nvPr/>
      </p:nvGrpSpPr>
      <p:grpSpPr/>
      <p:sp>
        <p:nvSpPr>
          <p:cNvPr id="2" name="TextBox 1"/>
          <p:cNvSpPr txBox="1"/>
          <p:nvPr/>
        </p:nvSpPr>
        <p:spPr>
          <a:xfrm>
            <a:off x="731520" y="548640"/>
            <a:ext cx="7315200" cy="365760"/>
          </a:xfrm>
          <a:prstGeom prst="rect">
            <a:avLst/>
          </a:prstGeom>
          <a:noFill/>
        </p:spPr>
        <p:txBody>
          <a:bodyPr wrap="square">
            <a:spAutoFit/>
          </a:bodyPr>
          <a:lstStyle/>
          <a:p>
            <a:pPr algn="l">
              <a:defRPr sz="1300" b="1" i="0">
                <a:solidFill>
                  <a:srgbClr val="C81E1E"/>
                </a:solidFill>
                <a:latin typeface="Arial"/>
              </a:defRPr>
            </a:pPr>
            <a:r>
              <a:t>SIGNAL 05</a:t>
            </a:r>
          </a:p>
        </p:txBody>
      </p:sp>
      <p:sp>
        <p:nvSpPr>
          <p:cNvPr id="3" name="TextBox 2"/>
          <p:cNvSpPr txBox="1"/>
          <p:nvPr/>
        </p:nvSpPr>
        <p:spPr>
          <a:xfrm>
            <a:off x="731520" y="1005840"/>
            <a:ext cx="7315200" cy="1280160"/>
          </a:xfrm>
          <a:prstGeom prst="rect">
            <a:avLst/>
          </a:prstGeom>
          <a:noFill/>
        </p:spPr>
        <p:txBody>
          <a:bodyPr wrap="square">
            <a:spAutoFit/>
          </a:bodyPr>
          <a:lstStyle/>
          <a:p>
            <a:pPr algn="l">
              <a:defRPr sz="4400" b="1" i="0">
                <a:solidFill>
                  <a:srgbClr val="F5F5F5"/>
                </a:solidFill>
                <a:latin typeface="Arial"/>
              </a:defRPr>
            </a:pPr>
            <a:r>
              <a:t>Stanford AI Index 2026</a:t>
            </a:r>
          </a:p>
        </p:txBody>
      </p:sp>
      <p:sp>
        <p:nvSpPr>
          <p:cNvPr id="4" name="Rectangle 3"/>
          <p:cNvSpPr/>
          <p:nvPr/>
        </p:nvSpPr>
        <p:spPr>
          <a:xfrm>
            <a:off x="731520" y="2194560"/>
            <a:ext cx="731520" cy="50800"/>
          </a:xfrm>
          <a:prstGeom prst="rect">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2468880"/>
            <a:ext cx="6858000" cy="1371600"/>
          </a:xfrm>
          <a:prstGeom prst="rect">
            <a:avLst/>
          </a:prstGeom>
          <a:noFill/>
        </p:spPr>
        <p:txBody>
          <a:bodyPr wrap="square">
            <a:spAutoFit/>
          </a:bodyPr>
          <a:lstStyle/>
          <a:p>
            <a:pPr algn="l">
              <a:defRPr sz="1500" b="0" i="0">
                <a:solidFill>
                  <a:srgbClr val="AAAAAA"/>
                </a:solidFill>
                <a:latin typeface="Arial"/>
              </a:defRPr>
            </a:pPr>
            <a:r>
              <a:t>AI agent task success rate jumped from 20% to 77% in twelve months. GenAI reached 53% population adoption in three years, the fastest in tech history.</a:t>
            </a:r>
          </a:p>
        </p:txBody>
      </p:sp>
      <p:sp>
        <p:nvSpPr>
          <p:cNvPr id="6" name="TextBox 5"/>
          <p:cNvSpPr txBox="1"/>
          <p:nvPr/>
        </p:nvSpPr>
        <p:spPr>
          <a:xfrm>
            <a:off x="731520" y="4023360"/>
            <a:ext cx="7315200" cy="274320"/>
          </a:xfrm>
          <a:prstGeom prst="rect">
            <a:avLst/>
          </a:prstGeom>
          <a:noFill/>
        </p:spPr>
        <p:txBody>
          <a:bodyPr wrap="square">
            <a:spAutoFit/>
          </a:bodyPr>
          <a:lstStyle/>
          <a:p>
            <a:pPr algn="l">
              <a:defRPr sz="1100" b="1" i="0">
                <a:solidFill>
                  <a:srgbClr val="888888"/>
                </a:solidFill>
                <a:latin typeface="Arial"/>
              </a:defRPr>
            </a:pPr>
            <a:r>
              <a:t>15 APRIL 2026</a:t>
            </a:r>
          </a:p>
        </p:txBody>
      </p:sp>
      <p:sp>
        <p:nvSpPr>
          <p:cNvPr id="7" name="Rounded Rectangle 6"/>
          <p:cNvSpPr/>
          <p:nvPr/>
        </p:nvSpPr>
        <p:spPr>
          <a:xfrm>
            <a:off x="731520" y="5349240"/>
            <a:ext cx="6858000" cy="1051560"/>
          </a:xfrm>
          <a:prstGeom prst="roundRect">
            <a:avLst/>
          </a:prstGeom>
          <a:solidFill>
            <a:srgbClr val="333333"/>
          </a:solidFill>
          <a:ln w="12700">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5349240"/>
            <a:ext cx="50800" cy="1051560"/>
          </a:xfrm>
          <a:prstGeom prst="rect">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5458968"/>
            <a:ext cx="6537960" cy="868680"/>
          </a:xfrm>
          <a:prstGeom prst="rect">
            <a:avLst/>
          </a:prstGeom>
          <a:noFill/>
        </p:spPr>
        <p:txBody>
          <a:bodyPr wrap="square">
            <a:spAutoFit/>
          </a:bodyPr>
          <a:lstStyle/>
          <a:p>
            <a:pPr algn="l">
              <a:defRPr sz="1300" b="1" i="0">
                <a:solidFill>
                  <a:srgbClr val="F5F5F5"/>
                </a:solidFill>
                <a:latin typeface="Arial"/>
              </a:defRPr>
            </a:pPr>
            <a:r>
              <a:t>What this means for you:</a:t>
            </a:r>
          </a:p>
          <a:p>
            <a:pPr algn="l">
              <a:spcBef>
                <a:spcPts val="600"/>
              </a:spcBef>
              <a:defRPr sz="1200" b="0" i="0">
                <a:solidFill>
                  <a:srgbClr val="AAAAAA"/>
                </a:solidFill>
                <a:latin typeface="Arial"/>
              </a:defRPr>
            </a:pPr>
            <a:r>
              <a:t>If you tried agents six months ago and they felt unreliable, try again. The reliability gap just closed. This is the reason every SaaS is rushing to ship agent toolkits and why Signal 01 is now possible. The capability is ready. The security posture around it is not.</a:t>
            </a:r>
          </a:p>
        </p:txBody>
      </p:sp>
      <p:sp>
        <p:nvSpPr>
          <p:cNvPr id="10" name="Rounded Rectangle 9"/>
          <p:cNvSpPr/>
          <p:nvPr/>
        </p:nvSpPr>
        <p:spPr>
          <a:xfrm>
            <a:off x="7863840" y="1691640"/>
            <a:ext cx="1371600" cy="1371600"/>
          </a:xfrm>
          <a:prstGeom prst="roundRect">
            <a:avLst/>
          </a:prstGeom>
          <a:solidFill>
            <a:srgbClr val="333333"/>
          </a:solidFill>
          <a:ln w="12700">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863840" y="1874520"/>
            <a:ext cx="1371600" cy="1371600"/>
          </a:xfrm>
          <a:prstGeom prst="rect">
            <a:avLst/>
          </a:prstGeom>
          <a:noFill/>
        </p:spPr>
        <p:txBody>
          <a:bodyPr wrap="square">
            <a:spAutoFit/>
          </a:bodyPr>
          <a:lstStyle/>
          <a:p>
            <a:pPr algn="ctr">
              <a:defRPr sz="3200" b="1" i="0">
                <a:solidFill>
                  <a:srgbClr val="AAAAAA"/>
                </a:solidFill>
                <a:latin typeface="Arial"/>
              </a:defRPr>
            </a:pPr>
            <a:r>
              <a:t>20%</a:t>
            </a:r>
          </a:p>
          <a:p>
            <a:pPr algn="ctr">
              <a:spcBef>
                <a:spcPts val="600"/>
              </a:spcBef>
              <a:defRPr sz="1100" b="0" i="0">
                <a:solidFill>
                  <a:srgbClr val="888888"/>
                </a:solidFill>
                <a:latin typeface="Arial"/>
              </a:defRPr>
            </a:pPr>
            <a:r>
              <a:t>2025</a:t>
            </a:r>
          </a:p>
        </p:txBody>
      </p:sp>
      <p:sp>
        <p:nvSpPr>
          <p:cNvPr id="12" name="TextBox 11"/>
          <p:cNvSpPr txBox="1"/>
          <p:nvPr/>
        </p:nvSpPr>
        <p:spPr>
          <a:xfrm>
            <a:off x="9372600" y="2240280"/>
            <a:ext cx="548640" cy="457200"/>
          </a:xfrm>
          <a:prstGeom prst="rect">
            <a:avLst/>
          </a:prstGeom>
          <a:noFill/>
        </p:spPr>
        <p:txBody>
          <a:bodyPr wrap="square">
            <a:spAutoFit/>
          </a:bodyPr>
          <a:lstStyle/>
          <a:p>
            <a:pPr algn="ctr">
              <a:defRPr sz="2800" b="1" i="0">
                <a:solidFill>
                  <a:srgbClr val="C81E1E"/>
                </a:solidFill>
                <a:latin typeface="Arial"/>
              </a:defRPr>
            </a:pPr>
            <a:r>
              <a:t>→</a:t>
            </a:r>
          </a:p>
        </p:txBody>
      </p:sp>
      <p:sp>
        <p:nvSpPr>
          <p:cNvPr id="13" name="Rounded Rectangle 12"/>
          <p:cNvSpPr/>
          <p:nvPr/>
        </p:nvSpPr>
        <p:spPr>
          <a:xfrm>
            <a:off x="9921240" y="1463040"/>
            <a:ext cx="1828800" cy="1828800"/>
          </a:xfrm>
          <a:prstGeom prst="roundRect">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21240" y="1828800"/>
            <a:ext cx="1828800" cy="1828800"/>
          </a:xfrm>
          <a:prstGeom prst="rect">
            <a:avLst/>
          </a:prstGeom>
          <a:noFill/>
        </p:spPr>
        <p:txBody>
          <a:bodyPr wrap="square">
            <a:spAutoFit/>
          </a:bodyPr>
          <a:lstStyle/>
          <a:p>
            <a:pPr algn="ctr">
              <a:defRPr sz="5000" b="1" i="0">
                <a:solidFill>
                  <a:srgbClr val="F5F5F5"/>
                </a:solidFill>
                <a:latin typeface="Arial"/>
              </a:defRPr>
            </a:pPr>
            <a:r>
              <a:t>77%</a:t>
            </a:r>
          </a:p>
          <a:p>
            <a:pPr algn="ctr">
              <a:spcBef>
                <a:spcPts val="600"/>
              </a:spcBef>
              <a:defRPr sz="1200" b="0" i="0">
                <a:solidFill>
                  <a:srgbClr val="F5F5F5"/>
                </a:solidFill>
                <a:latin typeface="Arial"/>
              </a:defRPr>
            </a:pPr>
            <a:r>
              <a:t>2026</a:t>
            </a:r>
          </a:p>
        </p:txBody>
      </p:sp>
      <p:sp>
        <p:nvSpPr>
          <p:cNvPr id="15" name="Rounded Rectangle 14"/>
          <p:cNvSpPr/>
          <p:nvPr/>
        </p:nvSpPr>
        <p:spPr>
          <a:xfrm>
            <a:off x="7863840" y="3657600"/>
            <a:ext cx="3931920" cy="1097280"/>
          </a:xfrm>
          <a:prstGeom prst="roundRect">
            <a:avLst/>
          </a:prstGeom>
          <a:solidFill>
            <a:srgbClr val="333333"/>
          </a:solidFill>
          <a:ln w="12700">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863840" y="3886200"/>
            <a:ext cx="3931920" cy="822960"/>
          </a:xfrm>
          <a:prstGeom prst="rect">
            <a:avLst/>
          </a:prstGeom>
          <a:noFill/>
        </p:spPr>
        <p:txBody>
          <a:bodyPr wrap="square">
            <a:spAutoFit/>
          </a:bodyPr>
          <a:lstStyle/>
          <a:p>
            <a:pPr algn="ctr">
              <a:defRPr sz="3000" b="1" i="0">
                <a:solidFill>
                  <a:srgbClr val="C81E1E"/>
                </a:solidFill>
                <a:latin typeface="Arial"/>
              </a:defRPr>
            </a:pPr>
            <a:r>
              <a:t>53%</a:t>
            </a:r>
          </a:p>
          <a:p>
            <a:pPr algn="ctr">
              <a:spcBef>
                <a:spcPts val="400"/>
              </a:spcBef>
              <a:defRPr sz="1200" b="0" i="0">
                <a:solidFill>
                  <a:srgbClr val="AAAAAA"/>
                </a:solidFill>
                <a:latin typeface="Arial"/>
              </a:defRPr>
            </a:pPr>
            <a:r>
              <a:t>Population adoption in 3 years</a:t>
            </a:r>
          </a:p>
        </p:txBody>
      </p:sp>
      <p:sp>
        <p:nvSpPr>
          <p:cNvPr id="17" name="TextBox 16"/>
          <p:cNvSpPr txBox="1"/>
          <p:nvPr/>
        </p:nvSpPr>
        <p:spPr>
          <a:xfrm>
            <a:off x="457200" y="6492240"/>
            <a:ext cx="1371600" cy="274320"/>
          </a:xfrm>
          <a:prstGeom prst="rect">
            <a:avLst/>
          </a:prstGeom>
          <a:noFill/>
        </p:spPr>
        <p:txBody>
          <a:bodyPr wrap="square">
            <a:spAutoFit/>
          </a:bodyPr>
          <a:lstStyle/>
          <a:p>
            <a:pPr algn="l">
              <a:defRPr sz="1100" b="1" i="0">
                <a:solidFill>
                  <a:srgbClr val="333333"/>
                </a:solidFill>
                <a:latin typeface="Arial"/>
              </a:defRPr>
            </a:pPr>
            <a:r>
              <a:t>BSTC</a:t>
            </a:r>
          </a:p>
        </p:txBody>
      </p:sp>
      <p:sp>
        <p:nvSpPr>
          <p:cNvPr id="18" name="TextBox 17"/>
          <p:cNvSpPr txBox="1"/>
          <p:nvPr/>
        </p:nvSpPr>
        <p:spPr>
          <a:xfrm>
            <a:off x="10515600" y="6492240"/>
            <a:ext cx="1371600" cy="274320"/>
          </a:xfrm>
          <a:prstGeom prst="rect">
            <a:avLst/>
          </a:prstGeom>
          <a:noFill/>
        </p:spPr>
        <p:txBody>
          <a:bodyPr wrap="square">
            <a:spAutoFit/>
          </a:bodyPr>
          <a:lstStyle/>
          <a:p>
            <a:pPr algn="r">
              <a:defRPr sz="1200" b="0" i="0">
                <a:solidFill>
                  <a:srgbClr val="888888"/>
                </a:solidFill>
                <a:latin typeface="Arial"/>
              </a:defRPr>
            </a:pPr>
            <a:r>
              <a:t>10 / 15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11111"/>
        </a:solidFill>
        <a:effectLst/>
      </p:bgPr>
    </p:bg>
    <p:spTree>
      <p:nvGrpSpPr>
        <p:cNvPr id="1" name=""/>
        <p:cNvGrpSpPr/>
        <p:nvPr/>
      </p:nvGrpSpPr>
      <p:grpSpPr/>
      <p:sp>
        <p:nvSpPr>
          <p:cNvPr id="2" name="TextBox 1"/>
          <p:cNvSpPr txBox="1"/>
          <p:nvPr/>
        </p:nvSpPr>
        <p:spPr>
          <a:xfrm>
            <a:off x="731520" y="548640"/>
            <a:ext cx="7315200" cy="365760"/>
          </a:xfrm>
          <a:prstGeom prst="rect">
            <a:avLst/>
          </a:prstGeom>
          <a:noFill/>
        </p:spPr>
        <p:txBody>
          <a:bodyPr wrap="square">
            <a:spAutoFit/>
          </a:bodyPr>
          <a:lstStyle/>
          <a:p>
            <a:pPr algn="l">
              <a:defRPr sz="1300" b="1" i="0">
                <a:solidFill>
                  <a:srgbClr val="C81E1E"/>
                </a:solidFill>
                <a:latin typeface="Arial"/>
              </a:defRPr>
            </a:pPr>
            <a:r>
              <a:t>ACTION OF THE WEEK</a:t>
            </a:r>
          </a:p>
        </p:txBody>
      </p:sp>
      <p:sp>
        <p:nvSpPr>
          <p:cNvPr id="3" name="TextBox 2"/>
          <p:cNvSpPr txBox="1"/>
          <p:nvPr/>
        </p:nvSpPr>
        <p:spPr>
          <a:xfrm>
            <a:off x="731520" y="1005840"/>
            <a:ext cx="9144000" cy="914400"/>
          </a:xfrm>
          <a:prstGeom prst="rect">
            <a:avLst/>
          </a:prstGeom>
          <a:noFill/>
        </p:spPr>
        <p:txBody>
          <a:bodyPr wrap="square">
            <a:spAutoFit/>
          </a:bodyPr>
          <a:lstStyle/>
          <a:p>
            <a:pPr algn="l">
              <a:defRPr sz="4000" b="1" i="0">
                <a:solidFill>
                  <a:srgbClr val="F5F5F5"/>
                </a:solidFill>
                <a:latin typeface="Arial"/>
              </a:defRPr>
            </a:pPr>
            <a:r>
              <a:t>Audit Your OAuth Grants Tonight</a:t>
            </a:r>
          </a:p>
        </p:txBody>
      </p:sp>
      <p:sp>
        <p:nvSpPr>
          <p:cNvPr id="4" name="Rectangle 3"/>
          <p:cNvSpPr/>
          <p:nvPr/>
        </p:nvSpPr>
        <p:spPr>
          <a:xfrm>
            <a:off x="731520" y="2011680"/>
            <a:ext cx="731520" cy="50800"/>
          </a:xfrm>
          <a:prstGeom prst="rect">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2286000"/>
            <a:ext cx="8686800" cy="914400"/>
          </a:xfrm>
          <a:prstGeom prst="rect">
            <a:avLst/>
          </a:prstGeom>
          <a:noFill/>
        </p:spPr>
        <p:txBody>
          <a:bodyPr wrap="square">
            <a:spAutoFit/>
          </a:bodyPr>
          <a:lstStyle/>
          <a:p>
            <a:pPr algn="l">
              <a:defRPr sz="1500" b="0" i="0">
                <a:solidFill>
                  <a:srgbClr val="AAAAAA"/>
                </a:solidFill>
                <a:latin typeface="Arial"/>
              </a:defRPr>
            </a:pPr>
            <a:r>
              <a:t>The single highest-leverage thing you can do before next Wednesday. Ten minutes, measurable risk reduction, proof you heard Signal 01.</a:t>
            </a:r>
          </a:p>
        </p:txBody>
      </p:sp>
      <p:sp>
        <p:nvSpPr>
          <p:cNvPr id="6" name="Rounded Rectangle 5"/>
          <p:cNvSpPr/>
          <p:nvPr/>
        </p:nvSpPr>
        <p:spPr>
          <a:xfrm>
            <a:off x="9601200" y="1097280"/>
            <a:ext cx="2194560" cy="1645920"/>
          </a:xfrm>
          <a:prstGeom prst="roundRect">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0" y="1417320"/>
            <a:ext cx="2194560" cy="1280160"/>
          </a:xfrm>
          <a:prstGeom prst="rect">
            <a:avLst/>
          </a:prstGeom>
          <a:noFill/>
        </p:spPr>
        <p:txBody>
          <a:bodyPr wrap="square">
            <a:spAutoFit/>
          </a:bodyPr>
          <a:lstStyle/>
          <a:p>
            <a:pPr algn="ctr">
              <a:defRPr sz="5600" b="1" i="0">
                <a:solidFill>
                  <a:srgbClr val="F5F5F5"/>
                </a:solidFill>
                <a:latin typeface="Arial"/>
              </a:defRPr>
            </a:pPr>
            <a:r>
              <a:t>10</a:t>
            </a:r>
          </a:p>
          <a:p>
            <a:pPr algn="ctr">
              <a:spcBef>
                <a:spcPts val="200"/>
              </a:spcBef>
              <a:defRPr sz="1600" b="1" i="0">
                <a:solidFill>
                  <a:srgbClr val="F5F5F5"/>
                </a:solidFill>
                <a:latin typeface="Arial"/>
              </a:defRPr>
            </a:pPr>
            <a:r>
              <a:t>MINUTES</a:t>
            </a:r>
          </a:p>
          <a:p>
            <a:pPr algn="ctr">
              <a:spcBef>
                <a:spcPts val="600"/>
              </a:spcBef>
              <a:defRPr sz="1000" b="0" i="0">
                <a:solidFill>
                  <a:srgbClr val="F5F5F5"/>
                </a:solidFill>
                <a:latin typeface="Arial"/>
              </a:defRPr>
            </a:pPr>
            <a:r>
              <a:t>Average time to complete</a:t>
            </a:r>
          </a:p>
        </p:txBody>
      </p:sp>
      <p:sp>
        <p:nvSpPr>
          <p:cNvPr id="8" name="Rounded Rectangle 7"/>
          <p:cNvSpPr/>
          <p:nvPr/>
        </p:nvSpPr>
        <p:spPr>
          <a:xfrm>
            <a:off x="548640" y="3383280"/>
            <a:ext cx="2697480" cy="1554480"/>
          </a:xfrm>
          <a:prstGeom prst="roundRect">
            <a:avLst/>
          </a:prstGeom>
          <a:solidFill>
            <a:srgbClr val="333333"/>
          </a:solidFill>
          <a:ln w="12700">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22960" y="3566160"/>
            <a:ext cx="548640" cy="548640"/>
          </a:xfrm>
          <a:prstGeom prst="ellipse">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3639312"/>
            <a:ext cx="548640" cy="457200"/>
          </a:xfrm>
          <a:prstGeom prst="rect">
            <a:avLst/>
          </a:prstGeom>
          <a:noFill/>
        </p:spPr>
        <p:txBody>
          <a:bodyPr wrap="square">
            <a:spAutoFit/>
          </a:bodyPr>
          <a:lstStyle/>
          <a:p>
            <a:pPr algn="ctr">
              <a:defRPr sz="1500" b="1" i="0">
                <a:solidFill>
                  <a:srgbClr val="F5F5F5"/>
                </a:solidFill>
                <a:latin typeface="Arial"/>
              </a:defRPr>
            </a:pPr>
            <a:r>
              <a:t>01</a:t>
            </a:r>
          </a:p>
        </p:txBody>
      </p:sp>
      <p:sp>
        <p:nvSpPr>
          <p:cNvPr id="11" name="TextBox 10"/>
          <p:cNvSpPr txBox="1"/>
          <p:nvPr/>
        </p:nvSpPr>
        <p:spPr>
          <a:xfrm>
            <a:off x="1463040" y="3639312"/>
            <a:ext cx="1691640" cy="411480"/>
          </a:xfrm>
          <a:prstGeom prst="rect">
            <a:avLst/>
          </a:prstGeom>
          <a:noFill/>
        </p:spPr>
        <p:txBody>
          <a:bodyPr wrap="square">
            <a:spAutoFit/>
          </a:bodyPr>
          <a:lstStyle/>
          <a:p>
            <a:pPr algn="l">
              <a:defRPr sz="1800" b="1" i="0">
                <a:solidFill>
                  <a:srgbClr val="F5F5F5"/>
                </a:solidFill>
                <a:latin typeface="Arial"/>
              </a:defRPr>
            </a:pPr>
            <a:r>
              <a:t>Open</a:t>
            </a:r>
          </a:p>
        </p:txBody>
      </p:sp>
      <p:sp>
        <p:nvSpPr>
          <p:cNvPr id="12" name="TextBox 11"/>
          <p:cNvSpPr txBox="1"/>
          <p:nvPr/>
        </p:nvSpPr>
        <p:spPr>
          <a:xfrm>
            <a:off x="822960" y="4251960"/>
            <a:ext cx="2240280" cy="640080"/>
          </a:xfrm>
          <a:prstGeom prst="rect">
            <a:avLst/>
          </a:prstGeom>
          <a:noFill/>
        </p:spPr>
        <p:txBody>
          <a:bodyPr wrap="square">
            <a:spAutoFit/>
          </a:bodyPr>
          <a:lstStyle/>
          <a:p>
            <a:pPr algn="l">
              <a:defRPr sz="1200" b="0" i="0">
                <a:solidFill>
                  <a:srgbClr val="AAAAAA"/>
                </a:solidFill>
                <a:latin typeface="Arial"/>
              </a:defRPr>
            </a:pPr>
            <a:r>
              <a:t>myaccount.google.com/permissions</a:t>
            </a:r>
          </a:p>
        </p:txBody>
      </p:sp>
      <p:sp>
        <p:nvSpPr>
          <p:cNvPr id="13" name="TextBox 12"/>
          <p:cNvSpPr txBox="1"/>
          <p:nvPr/>
        </p:nvSpPr>
        <p:spPr>
          <a:xfrm>
            <a:off x="3204972" y="3931920"/>
            <a:ext cx="182880" cy="457200"/>
          </a:xfrm>
          <a:prstGeom prst="rect">
            <a:avLst/>
          </a:prstGeom>
          <a:noFill/>
        </p:spPr>
        <p:txBody>
          <a:bodyPr wrap="square">
            <a:spAutoFit/>
          </a:bodyPr>
          <a:lstStyle/>
          <a:p>
            <a:pPr algn="ctr">
              <a:defRPr sz="2200" b="1" i="0">
                <a:solidFill>
                  <a:srgbClr val="C81E1E"/>
                </a:solidFill>
                <a:latin typeface="Arial"/>
              </a:defRPr>
            </a:pPr>
            <a:r>
              <a:t>›</a:t>
            </a:r>
          </a:p>
        </p:txBody>
      </p:sp>
      <p:sp>
        <p:nvSpPr>
          <p:cNvPr id="14" name="Rounded Rectangle 13"/>
          <p:cNvSpPr/>
          <p:nvPr/>
        </p:nvSpPr>
        <p:spPr>
          <a:xfrm>
            <a:off x="3337560" y="3383280"/>
            <a:ext cx="2697480" cy="1554480"/>
          </a:xfrm>
          <a:prstGeom prst="roundRect">
            <a:avLst/>
          </a:prstGeom>
          <a:solidFill>
            <a:srgbClr val="333333"/>
          </a:solidFill>
          <a:ln w="12700">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11880" y="3566160"/>
            <a:ext cx="548640" cy="548640"/>
          </a:xfrm>
          <a:prstGeom prst="ellipse">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11880" y="3639312"/>
            <a:ext cx="548640" cy="457200"/>
          </a:xfrm>
          <a:prstGeom prst="rect">
            <a:avLst/>
          </a:prstGeom>
          <a:noFill/>
        </p:spPr>
        <p:txBody>
          <a:bodyPr wrap="square">
            <a:spAutoFit/>
          </a:bodyPr>
          <a:lstStyle/>
          <a:p>
            <a:pPr algn="ctr">
              <a:defRPr sz="1500" b="1" i="0">
                <a:solidFill>
                  <a:srgbClr val="F5F5F5"/>
                </a:solidFill>
                <a:latin typeface="Arial"/>
              </a:defRPr>
            </a:pPr>
            <a:r>
              <a:t>02</a:t>
            </a:r>
          </a:p>
        </p:txBody>
      </p:sp>
      <p:sp>
        <p:nvSpPr>
          <p:cNvPr id="17" name="TextBox 16"/>
          <p:cNvSpPr txBox="1"/>
          <p:nvPr/>
        </p:nvSpPr>
        <p:spPr>
          <a:xfrm>
            <a:off x="4251960" y="3639312"/>
            <a:ext cx="1691640" cy="411480"/>
          </a:xfrm>
          <a:prstGeom prst="rect">
            <a:avLst/>
          </a:prstGeom>
          <a:noFill/>
        </p:spPr>
        <p:txBody>
          <a:bodyPr wrap="square">
            <a:spAutoFit/>
          </a:bodyPr>
          <a:lstStyle/>
          <a:p>
            <a:pPr algn="l">
              <a:defRPr sz="1800" b="1" i="0">
                <a:solidFill>
                  <a:srgbClr val="F5F5F5"/>
                </a:solidFill>
                <a:latin typeface="Arial"/>
              </a:defRPr>
            </a:pPr>
            <a:r>
              <a:t>Scan</a:t>
            </a:r>
          </a:p>
        </p:txBody>
      </p:sp>
      <p:sp>
        <p:nvSpPr>
          <p:cNvPr id="18" name="TextBox 17"/>
          <p:cNvSpPr txBox="1"/>
          <p:nvPr/>
        </p:nvSpPr>
        <p:spPr>
          <a:xfrm>
            <a:off x="3611880" y="4251960"/>
            <a:ext cx="2240280" cy="640080"/>
          </a:xfrm>
          <a:prstGeom prst="rect">
            <a:avLst/>
          </a:prstGeom>
          <a:noFill/>
        </p:spPr>
        <p:txBody>
          <a:bodyPr wrap="square">
            <a:spAutoFit/>
          </a:bodyPr>
          <a:lstStyle/>
          <a:p>
            <a:pPr algn="l">
              <a:defRPr sz="1200" b="0" i="0">
                <a:solidFill>
                  <a:srgbClr val="AAAAAA"/>
                </a:solidFill>
                <a:latin typeface="Arial"/>
              </a:defRPr>
            </a:pPr>
            <a:r>
              <a:t>Every app listed. Ask: do I still use this weekly?</a:t>
            </a:r>
          </a:p>
        </p:txBody>
      </p:sp>
      <p:sp>
        <p:nvSpPr>
          <p:cNvPr id="19" name="TextBox 18"/>
          <p:cNvSpPr txBox="1"/>
          <p:nvPr/>
        </p:nvSpPr>
        <p:spPr>
          <a:xfrm>
            <a:off x="5993892" y="3931920"/>
            <a:ext cx="182880" cy="457200"/>
          </a:xfrm>
          <a:prstGeom prst="rect">
            <a:avLst/>
          </a:prstGeom>
          <a:noFill/>
        </p:spPr>
        <p:txBody>
          <a:bodyPr wrap="square">
            <a:spAutoFit/>
          </a:bodyPr>
          <a:lstStyle/>
          <a:p>
            <a:pPr algn="ctr">
              <a:defRPr sz="2200" b="1" i="0">
                <a:solidFill>
                  <a:srgbClr val="C81E1E"/>
                </a:solidFill>
                <a:latin typeface="Arial"/>
              </a:defRPr>
            </a:pPr>
            <a:r>
              <a:t>›</a:t>
            </a:r>
          </a:p>
        </p:txBody>
      </p:sp>
      <p:sp>
        <p:nvSpPr>
          <p:cNvPr id="20" name="Rounded Rectangle 19"/>
          <p:cNvSpPr/>
          <p:nvPr/>
        </p:nvSpPr>
        <p:spPr>
          <a:xfrm>
            <a:off x="6126480" y="3383280"/>
            <a:ext cx="2697480" cy="1554480"/>
          </a:xfrm>
          <a:prstGeom prst="roundRect">
            <a:avLst/>
          </a:prstGeom>
          <a:solidFill>
            <a:srgbClr val="333333"/>
          </a:solidFill>
          <a:ln w="12700">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00800" y="3566160"/>
            <a:ext cx="548640" cy="548640"/>
          </a:xfrm>
          <a:prstGeom prst="ellipse">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0" y="3639312"/>
            <a:ext cx="548640" cy="457200"/>
          </a:xfrm>
          <a:prstGeom prst="rect">
            <a:avLst/>
          </a:prstGeom>
          <a:noFill/>
        </p:spPr>
        <p:txBody>
          <a:bodyPr wrap="square">
            <a:spAutoFit/>
          </a:bodyPr>
          <a:lstStyle/>
          <a:p>
            <a:pPr algn="ctr">
              <a:defRPr sz="1500" b="1" i="0">
                <a:solidFill>
                  <a:srgbClr val="F5F5F5"/>
                </a:solidFill>
                <a:latin typeface="Arial"/>
              </a:defRPr>
            </a:pPr>
            <a:r>
              <a:t>03</a:t>
            </a:r>
          </a:p>
        </p:txBody>
      </p:sp>
      <p:sp>
        <p:nvSpPr>
          <p:cNvPr id="23" name="TextBox 22"/>
          <p:cNvSpPr txBox="1"/>
          <p:nvPr/>
        </p:nvSpPr>
        <p:spPr>
          <a:xfrm>
            <a:off x="7040880" y="3639312"/>
            <a:ext cx="1691640" cy="411480"/>
          </a:xfrm>
          <a:prstGeom prst="rect">
            <a:avLst/>
          </a:prstGeom>
          <a:noFill/>
        </p:spPr>
        <p:txBody>
          <a:bodyPr wrap="square">
            <a:spAutoFit/>
          </a:bodyPr>
          <a:lstStyle/>
          <a:p>
            <a:pPr algn="l">
              <a:defRPr sz="1800" b="1" i="0">
                <a:solidFill>
                  <a:srgbClr val="F5F5F5"/>
                </a:solidFill>
                <a:latin typeface="Arial"/>
              </a:defRPr>
            </a:pPr>
            <a:r>
              <a:t>Revoke</a:t>
            </a:r>
          </a:p>
        </p:txBody>
      </p:sp>
      <p:sp>
        <p:nvSpPr>
          <p:cNvPr id="24" name="TextBox 23"/>
          <p:cNvSpPr txBox="1"/>
          <p:nvPr/>
        </p:nvSpPr>
        <p:spPr>
          <a:xfrm>
            <a:off x="6400800" y="4251960"/>
            <a:ext cx="2240280" cy="640080"/>
          </a:xfrm>
          <a:prstGeom prst="rect">
            <a:avLst/>
          </a:prstGeom>
          <a:noFill/>
        </p:spPr>
        <p:txBody>
          <a:bodyPr wrap="square">
            <a:spAutoFit/>
          </a:bodyPr>
          <a:lstStyle/>
          <a:p>
            <a:pPr algn="l">
              <a:defRPr sz="1200" b="0" i="0">
                <a:solidFill>
                  <a:srgbClr val="AAAAAA"/>
                </a:solidFill>
                <a:latin typeface="Arial"/>
              </a:defRPr>
            </a:pPr>
            <a:r>
              <a:t>Anything unused in the last 30 days</a:t>
            </a:r>
          </a:p>
        </p:txBody>
      </p:sp>
      <p:sp>
        <p:nvSpPr>
          <p:cNvPr id="25" name="TextBox 24"/>
          <p:cNvSpPr txBox="1"/>
          <p:nvPr/>
        </p:nvSpPr>
        <p:spPr>
          <a:xfrm>
            <a:off x="8782812" y="3931920"/>
            <a:ext cx="182880" cy="457200"/>
          </a:xfrm>
          <a:prstGeom prst="rect">
            <a:avLst/>
          </a:prstGeom>
          <a:noFill/>
        </p:spPr>
        <p:txBody>
          <a:bodyPr wrap="square">
            <a:spAutoFit/>
          </a:bodyPr>
          <a:lstStyle/>
          <a:p>
            <a:pPr algn="ctr">
              <a:defRPr sz="2200" b="1" i="0">
                <a:solidFill>
                  <a:srgbClr val="C81E1E"/>
                </a:solidFill>
                <a:latin typeface="Arial"/>
              </a:defRPr>
            </a:pPr>
            <a:r>
              <a:t>›</a:t>
            </a:r>
          </a:p>
        </p:txBody>
      </p:sp>
      <p:sp>
        <p:nvSpPr>
          <p:cNvPr id="26" name="Rounded Rectangle 25"/>
          <p:cNvSpPr/>
          <p:nvPr/>
        </p:nvSpPr>
        <p:spPr>
          <a:xfrm>
            <a:off x="8915400" y="3383280"/>
            <a:ext cx="2697480" cy="1554480"/>
          </a:xfrm>
          <a:prstGeom prst="roundRect">
            <a:avLst/>
          </a:prstGeom>
          <a:solidFill>
            <a:srgbClr val="333333"/>
          </a:solidFill>
          <a:ln w="12700">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89720" y="3566160"/>
            <a:ext cx="548640" cy="548640"/>
          </a:xfrm>
          <a:prstGeom prst="ellipse">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89720" y="3639312"/>
            <a:ext cx="548640" cy="457200"/>
          </a:xfrm>
          <a:prstGeom prst="rect">
            <a:avLst/>
          </a:prstGeom>
          <a:noFill/>
        </p:spPr>
        <p:txBody>
          <a:bodyPr wrap="square">
            <a:spAutoFit/>
          </a:bodyPr>
          <a:lstStyle/>
          <a:p>
            <a:pPr algn="ctr">
              <a:defRPr sz="1500" b="1" i="0">
                <a:solidFill>
                  <a:srgbClr val="F5F5F5"/>
                </a:solidFill>
                <a:latin typeface="Arial"/>
              </a:defRPr>
            </a:pPr>
            <a:r>
              <a:t>04</a:t>
            </a:r>
          </a:p>
        </p:txBody>
      </p:sp>
      <p:sp>
        <p:nvSpPr>
          <p:cNvPr id="29" name="TextBox 28"/>
          <p:cNvSpPr txBox="1"/>
          <p:nvPr/>
        </p:nvSpPr>
        <p:spPr>
          <a:xfrm>
            <a:off x="9829800" y="3639312"/>
            <a:ext cx="1691640" cy="411480"/>
          </a:xfrm>
          <a:prstGeom prst="rect">
            <a:avLst/>
          </a:prstGeom>
          <a:noFill/>
        </p:spPr>
        <p:txBody>
          <a:bodyPr wrap="square">
            <a:spAutoFit/>
          </a:bodyPr>
          <a:lstStyle/>
          <a:p>
            <a:pPr algn="l">
              <a:defRPr sz="1800" b="1" i="0">
                <a:solidFill>
                  <a:srgbClr val="F5F5F5"/>
                </a:solidFill>
                <a:latin typeface="Arial"/>
              </a:defRPr>
            </a:pPr>
            <a:r>
              <a:t>Repeat</a:t>
            </a:r>
          </a:p>
        </p:txBody>
      </p:sp>
      <p:sp>
        <p:nvSpPr>
          <p:cNvPr id="30" name="TextBox 29"/>
          <p:cNvSpPr txBox="1"/>
          <p:nvPr/>
        </p:nvSpPr>
        <p:spPr>
          <a:xfrm>
            <a:off x="9189720" y="4251960"/>
            <a:ext cx="2240280" cy="640080"/>
          </a:xfrm>
          <a:prstGeom prst="rect">
            <a:avLst/>
          </a:prstGeom>
          <a:noFill/>
        </p:spPr>
        <p:txBody>
          <a:bodyPr wrap="square">
            <a:spAutoFit/>
          </a:bodyPr>
          <a:lstStyle/>
          <a:p>
            <a:pPr algn="l">
              <a:defRPr sz="1200" b="0" i="0">
                <a:solidFill>
                  <a:srgbClr val="AAAAAA"/>
                </a:solidFill>
                <a:latin typeface="Arial"/>
              </a:defRPr>
            </a:pPr>
            <a:r>
              <a:t>For Slack, GitHub, Notion, Linear</a:t>
            </a:r>
          </a:p>
        </p:txBody>
      </p:sp>
      <p:sp>
        <p:nvSpPr>
          <p:cNvPr id="31" name="Rounded Rectangle 30"/>
          <p:cNvSpPr/>
          <p:nvPr/>
        </p:nvSpPr>
        <p:spPr>
          <a:xfrm>
            <a:off x="731520" y="5257800"/>
            <a:ext cx="10698480" cy="1143000"/>
          </a:xfrm>
          <a:prstGeom prst="roundRect">
            <a:avLst/>
          </a:prstGeom>
          <a:solidFill>
            <a:srgbClr val="333333"/>
          </a:solidFill>
          <a:ln w="12700">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31520" y="5257800"/>
            <a:ext cx="50800" cy="1143000"/>
          </a:xfrm>
          <a:prstGeom prst="rect">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14400" y="5367528"/>
            <a:ext cx="10378440" cy="960120"/>
          </a:xfrm>
          <a:prstGeom prst="rect">
            <a:avLst/>
          </a:prstGeom>
          <a:noFill/>
        </p:spPr>
        <p:txBody>
          <a:bodyPr wrap="square">
            <a:spAutoFit/>
          </a:bodyPr>
          <a:lstStyle/>
          <a:p>
            <a:pPr algn="l">
              <a:defRPr sz="1300" b="1" i="0">
                <a:solidFill>
                  <a:srgbClr val="F5F5F5"/>
                </a:solidFill>
                <a:latin typeface="Arial"/>
              </a:defRPr>
            </a:pPr>
            <a:r>
              <a:t>What this means for you:</a:t>
            </a:r>
          </a:p>
          <a:p>
            <a:pPr algn="l">
              <a:spcBef>
                <a:spcPts val="600"/>
              </a:spcBef>
              <a:defRPr sz="1200" b="0" i="0">
                <a:solidFill>
                  <a:srgbClr val="AAAAAA"/>
                </a:solidFill>
                <a:latin typeface="Arial"/>
              </a:defRPr>
            </a:pPr>
            <a:r>
              <a:t>Vercel got breached through an OAuth token to a product most employees had forgotten they installed. You almost certainly have the same kind of forgotten grant sitting in your Google account right now. Revoke first, ask questions later. If you need the permission back, the reconnect takes thirty seconds.</a:t>
            </a:r>
          </a:p>
        </p:txBody>
      </p:sp>
      <p:sp>
        <p:nvSpPr>
          <p:cNvPr id="34" name="TextBox 33"/>
          <p:cNvSpPr txBox="1"/>
          <p:nvPr/>
        </p:nvSpPr>
        <p:spPr>
          <a:xfrm>
            <a:off x="457200" y="6492240"/>
            <a:ext cx="1371600" cy="274320"/>
          </a:xfrm>
          <a:prstGeom prst="rect">
            <a:avLst/>
          </a:prstGeom>
          <a:noFill/>
        </p:spPr>
        <p:txBody>
          <a:bodyPr wrap="square">
            <a:spAutoFit/>
          </a:bodyPr>
          <a:lstStyle/>
          <a:p>
            <a:pPr algn="l">
              <a:defRPr sz="1100" b="1" i="0">
                <a:solidFill>
                  <a:srgbClr val="333333"/>
                </a:solidFill>
                <a:latin typeface="Arial"/>
              </a:defRPr>
            </a:pPr>
            <a:r>
              <a:t>BSTC</a:t>
            </a:r>
          </a:p>
        </p:txBody>
      </p:sp>
      <p:sp>
        <p:nvSpPr>
          <p:cNvPr id="35" name="TextBox 34"/>
          <p:cNvSpPr txBox="1"/>
          <p:nvPr/>
        </p:nvSpPr>
        <p:spPr>
          <a:xfrm>
            <a:off x="10515600" y="6492240"/>
            <a:ext cx="1371600" cy="274320"/>
          </a:xfrm>
          <a:prstGeom prst="rect">
            <a:avLst/>
          </a:prstGeom>
          <a:noFill/>
        </p:spPr>
        <p:txBody>
          <a:bodyPr wrap="square">
            <a:spAutoFit/>
          </a:bodyPr>
          <a:lstStyle/>
          <a:p>
            <a:pPr algn="r">
              <a:defRPr sz="1200" b="0" i="0">
                <a:solidFill>
                  <a:srgbClr val="888888"/>
                </a:solidFill>
                <a:latin typeface="Arial"/>
              </a:defRPr>
            </a:pPr>
            <a:r>
              <a:t>11 / 15</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11111"/>
        </a:solidFill>
        <a:effectLst/>
      </p:bgPr>
    </p:bg>
    <p:spTree>
      <p:nvGrpSpPr>
        <p:cNvPr id="1" name=""/>
        <p:cNvGrpSpPr/>
        <p:nvPr/>
      </p:nvGrpSpPr>
      <p:grpSpPr/>
      <p:sp>
        <p:nvSpPr>
          <p:cNvPr id="2" name="TextBox 1"/>
          <p:cNvSpPr txBox="1"/>
          <p:nvPr/>
        </p:nvSpPr>
        <p:spPr>
          <a:xfrm>
            <a:off x="731520" y="548640"/>
            <a:ext cx="7315200" cy="365760"/>
          </a:xfrm>
          <a:prstGeom prst="rect">
            <a:avLst/>
          </a:prstGeom>
          <a:noFill/>
        </p:spPr>
        <p:txBody>
          <a:bodyPr wrap="square">
            <a:spAutoFit/>
          </a:bodyPr>
          <a:lstStyle/>
          <a:p>
            <a:pPr algn="l">
              <a:defRPr sz="1300" b="1" i="0">
                <a:solidFill>
                  <a:srgbClr val="C81E1E"/>
                </a:solidFill>
                <a:latin typeface="Arial"/>
              </a:defRPr>
            </a:pPr>
            <a:r>
              <a:t>BY TIER</a:t>
            </a:r>
          </a:p>
        </p:txBody>
      </p:sp>
      <p:sp>
        <p:nvSpPr>
          <p:cNvPr id="3" name="TextBox 2"/>
          <p:cNvSpPr txBox="1"/>
          <p:nvPr/>
        </p:nvSpPr>
        <p:spPr>
          <a:xfrm>
            <a:off x="731520" y="1005840"/>
            <a:ext cx="10972800" cy="822960"/>
          </a:xfrm>
          <a:prstGeom prst="rect">
            <a:avLst/>
          </a:prstGeom>
          <a:noFill/>
        </p:spPr>
        <p:txBody>
          <a:bodyPr wrap="square">
            <a:spAutoFit/>
          </a:bodyPr>
          <a:lstStyle/>
          <a:p>
            <a:pPr algn="l">
              <a:defRPr sz="4000" b="1" i="0">
                <a:solidFill>
                  <a:srgbClr val="F5F5F5"/>
                </a:solidFill>
                <a:latin typeface="Arial"/>
              </a:defRPr>
            </a:pPr>
            <a:r>
              <a:t>What To Do With This Week's News</a:t>
            </a:r>
          </a:p>
        </p:txBody>
      </p:sp>
      <p:sp>
        <p:nvSpPr>
          <p:cNvPr id="4" name="Rectangle 3"/>
          <p:cNvSpPr/>
          <p:nvPr/>
        </p:nvSpPr>
        <p:spPr>
          <a:xfrm>
            <a:off x="731520" y="2011680"/>
            <a:ext cx="731520" cy="50800"/>
          </a:xfrm>
          <a:prstGeom prst="rect">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2286000"/>
            <a:ext cx="10972800" cy="548640"/>
          </a:xfrm>
          <a:prstGeom prst="rect">
            <a:avLst/>
          </a:prstGeom>
          <a:noFill/>
        </p:spPr>
        <p:txBody>
          <a:bodyPr wrap="square">
            <a:spAutoFit/>
          </a:bodyPr>
          <a:lstStyle/>
          <a:p>
            <a:pPr algn="l">
              <a:defRPr sz="1600" b="0" i="0">
                <a:solidFill>
                  <a:srgbClr val="AAAAAA"/>
                </a:solidFill>
                <a:latin typeface="Arial"/>
              </a:defRPr>
            </a:pPr>
            <a:r>
              <a:t>One action calibrated to where you are right now. Pick your column.</a:t>
            </a:r>
          </a:p>
        </p:txBody>
      </p:sp>
      <p:sp>
        <p:nvSpPr>
          <p:cNvPr id="6" name="Rounded Rectangle 5"/>
          <p:cNvSpPr/>
          <p:nvPr/>
        </p:nvSpPr>
        <p:spPr>
          <a:xfrm>
            <a:off x="457200" y="3017520"/>
            <a:ext cx="3657600" cy="3749039"/>
          </a:xfrm>
          <a:prstGeom prst="roundRect">
            <a:avLst/>
          </a:prstGeom>
          <a:solidFill>
            <a:srgbClr val="333333"/>
          </a:solidFill>
          <a:ln w="12700">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3017520"/>
            <a:ext cx="3657600" cy="50800"/>
          </a:xfrm>
          <a:prstGeom prst="rect">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3246120"/>
            <a:ext cx="3108960" cy="274320"/>
          </a:xfrm>
          <a:prstGeom prst="rect">
            <a:avLst/>
          </a:prstGeom>
          <a:noFill/>
        </p:spPr>
        <p:txBody>
          <a:bodyPr wrap="square">
            <a:spAutoFit/>
          </a:bodyPr>
          <a:lstStyle/>
          <a:p>
            <a:pPr algn="l">
              <a:defRPr sz="1200" b="1" i="0">
                <a:solidFill>
                  <a:srgbClr val="C81E1E"/>
                </a:solidFill>
                <a:latin typeface="Arial"/>
              </a:defRPr>
            </a:pPr>
            <a:r>
              <a:t>TIER 1, EXPLORER</a:t>
            </a:r>
          </a:p>
        </p:txBody>
      </p:sp>
      <p:sp>
        <p:nvSpPr>
          <p:cNvPr id="9" name="TextBox 8"/>
          <p:cNvSpPr txBox="1"/>
          <p:nvPr/>
        </p:nvSpPr>
        <p:spPr>
          <a:xfrm>
            <a:off x="731520" y="3611880"/>
            <a:ext cx="3108960" cy="548640"/>
          </a:xfrm>
          <a:prstGeom prst="rect">
            <a:avLst/>
          </a:prstGeom>
          <a:noFill/>
        </p:spPr>
        <p:txBody>
          <a:bodyPr wrap="square">
            <a:spAutoFit/>
          </a:bodyPr>
          <a:lstStyle/>
          <a:p>
            <a:pPr algn="l">
              <a:defRPr sz="2000" b="1" i="0">
                <a:solidFill>
                  <a:srgbClr val="F5F5F5"/>
                </a:solidFill>
                <a:latin typeface="Arial"/>
              </a:defRPr>
            </a:pPr>
            <a:r>
              <a:t>Learn the vocabulary</a:t>
            </a:r>
          </a:p>
        </p:txBody>
      </p:sp>
      <p:sp>
        <p:nvSpPr>
          <p:cNvPr id="10" name="TextBox 9"/>
          <p:cNvSpPr txBox="1"/>
          <p:nvPr/>
        </p:nvSpPr>
        <p:spPr>
          <a:xfrm>
            <a:off x="731520" y="4389120"/>
            <a:ext cx="3108960" cy="1645919"/>
          </a:xfrm>
          <a:prstGeom prst="rect">
            <a:avLst/>
          </a:prstGeom>
          <a:noFill/>
        </p:spPr>
        <p:txBody>
          <a:bodyPr wrap="square">
            <a:spAutoFit/>
          </a:bodyPr>
          <a:lstStyle/>
          <a:p>
            <a:pPr algn="l">
              <a:defRPr sz="1200" b="0" i="0">
                <a:solidFill>
                  <a:srgbClr val="AAAAAA"/>
                </a:solidFill>
                <a:latin typeface="Arial"/>
              </a:defRPr>
            </a:pPr>
            <a:r>
              <a:t>•  Open Claude free tier this week</a:t>
            </a:r>
            <a:br/>
            <a:br/>
            <a:r>
              <a:t>•  Ask it: 'Explain OAuth permissions to me like I am signing up for my first app'</a:t>
            </a:r>
            <a:br/>
            <a:br/>
            <a:r>
              <a:t>•  Then ask it to help you audit one grant on your Google account</a:t>
            </a:r>
          </a:p>
        </p:txBody>
      </p:sp>
      <p:sp>
        <p:nvSpPr>
          <p:cNvPr id="11" name="TextBox 10"/>
          <p:cNvSpPr txBox="1"/>
          <p:nvPr/>
        </p:nvSpPr>
        <p:spPr>
          <a:xfrm>
            <a:off x="731520" y="6126479"/>
            <a:ext cx="3108960" cy="365760"/>
          </a:xfrm>
          <a:prstGeom prst="rect">
            <a:avLst/>
          </a:prstGeom>
          <a:noFill/>
        </p:spPr>
        <p:txBody>
          <a:bodyPr wrap="square">
            <a:spAutoFit/>
          </a:bodyPr>
          <a:lstStyle/>
          <a:p>
            <a:pPr algn="l">
              <a:defRPr sz="1200" b="1" i="1">
                <a:solidFill>
                  <a:srgbClr val="C81E1E"/>
                </a:solidFill>
                <a:latin typeface="Arial"/>
              </a:defRPr>
            </a:pPr>
            <a:r>
              <a:t>Goal: turn abstract risk into concrete understanding</a:t>
            </a:r>
          </a:p>
        </p:txBody>
      </p:sp>
      <p:sp>
        <p:nvSpPr>
          <p:cNvPr id="12" name="Rounded Rectangle 11"/>
          <p:cNvSpPr/>
          <p:nvPr/>
        </p:nvSpPr>
        <p:spPr>
          <a:xfrm>
            <a:off x="4251960" y="3017520"/>
            <a:ext cx="3657600" cy="3749039"/>
          </a:xfrm>
          <a:prstGeom prst="roundRect">
            <a:avLst/>
          </a:prstGeom>
          <a:solidFill>
            <a:srgbClr val="333333"/>
          </a:solidFill>
          <a:ln w="12700">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251960" y="3017520"/>
            <a:ext cx="3657600" cy="50800"/>
          </a:xfrm>
          <a:prstGeom prst="rect">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26280" y="3246120"/>
            <a:ext cx="3108960" cy="274320"/>
          </a:xfrm>
          <a:prstGeom prst="rect">
            <a:avLst/>
          </a:prstGeom>
          <a:noFill/>
        </p:spPr>
        <p:txBody>
          <a:bodyPr wrap="square">
            <a:spAutoFit/>
          </a:bodyPr>
          <a:lstStyle/>
          <a:p>
            <a:pPr algn="l">
              <a:defRPr sz="1200" b="1" i="0">
                <a:solidFill>
                  <a:srgbClr val="C81E1E"/>
                </a:solidFill>
                <a:latin typeface="Arial"/>
              </a:defRPr>
            </a:pPr>
            <a:r>
              <a:t>TIER 2, OPERATOR</a:t>
            </a:r>
          </a:p>
        </p:txBody>
      </p:sp>
      <p:sp>
        <p:nvSpPr>
          <p:cNvPr id="15" name="TextBox 14"/>
          <p:cNvSpPr txBox="1"/>
          <p:nvPr/>
        </p:nvSpPr>
        <p:spPr>
          <a:xfrm>
            <a:off x="4526280" y="3611880"/>
            <a:ext cx="3108960" cy="548640"/>
          </a:xfrm>
          <a:prstGeom prst="rect">
            <a:avLst/>
          </a:prstGeom>
          <a:noFill/>
        </p:spPr>
        <p:txBody>
          <a:bodyPr wrap="square">
            <a:spAutoFit/>
          </a:bodyPr>
          <a:lstStyle/>
          <a:p>
            <a:pPr algn="l">
              <a:defRPr sz="2000" b="1" i="0">
                <a:solidFill>
                  <a:srgbClr val="F5F5F5"/>
                </a:solidFill>
                <a:latin typeface="Arial"/>
              </a:defRPr>
            </a:pPr>
            <a:r>
              <a:t>Audit your agent stack</a:t>
            </a:r>
          </a:p>
        </p:txBody>
      </p:sp>
      <p:sp>
        <p:nvSpPr>
          <p:cNvPr id="16" name="TextBox 15"/>
          <p:cNvSpPr txBox="1"/>
          <p:nvPr/>
        </p:nvSpPr>
        <p:spPr>
          <a:xfrm>
            <a:off x="4526280" y="4389120"/>
            <a:ext cx="3108960" cy="1645919"/>
          </a:xfrm>
          <a:prstGeom prst="rect">
            <a:avLst/>
          </a:prstGeom>
          <a:noFill/>
        </p:spPr>
        <p:txBody>
          <a:bodyPr wrap="square">
            <a:spAutoFit/>
          </a:bodyPr>
          <a:lstStyle/>
          <a:p>
            <a:pPr algn="l">
              <a:defRPr sz="1200" b="0" i="0">
                <a:solidFill>
                  <a:srgbClr val="AAAAAA"/>
                </a:solidFill>
                <a:latin typeface="Arial"/>
              </a:defRPr>
            </a:pPr>
            <a:r>
              <a:t>•  List every AI tool you have connected: ChatGPT plugins, Claude connectors, Zapier AI, Notion AI, browser extensions</a:t>
            </a:r>
            <a:br/>
            <a:br/>
            <a:r>
              <a:t>•  For each one, read the permission scope it was granted</a:t>
            </a:r>
            <a:br/>
            <a:br/>
            <a:r>
              <a:t>•  Revoke anything you do not use weekly</a:t>
            </a:r>
          </a:p>
        </p:txBody>
      </p:sp>
      <p:sp>
        <p:nvSpPr>
          <p:cNvPr id="17" name="TextBox 16"/>
          <p:cNvSpPr txBox="1"/>
          <p:nvPr/>
        </p:nvSpPr>
        <p:spPr>
          <a:xfrm>
            <a:off x="4526280" y="6126479"/>
            <a:ext cx="3108960" cy="365760"/>
          </a:xfrm>
          <a:prstGeom prst="rect">
            <a:avLst/>
          </a:prstGeom>
          <a:noFill/>
        </p:spPr>
        <p:txBody>
          <a:bodyPr wrap="square">
            <a:spAutoFit/>
          </a:bodyPr>
          <a:lstStyle/>
          <a:p>
            <a:pPr algn="l">
              <a:defRPr sz="1200" b="1" i="1">
                <a:solidFill>
                  <a:srgbClr val="C81E1E"/>
                </a:solidFill>
                <a:latin typeface="Arial"/>
              </a:defRPr>
            </a:pPr>
            <a:r>
              <a:t>Goal: know what your AI can reach before attackers do</a:t>
            </a:r>
          </a:p>
        </p:txBody>
      </p:sp>
      <p:sp>
        <p:nvSpPr>
          <p:cNvPr id="18" name="Rounded Rectangle 17"/>
          <p:cNvSpPr/>
          <p:nvPr/>
        </p:nvSpPr>
        <p:spPr>
          <a:xfrm>
            <a:off x="8046720" y="3017520"/>
            <a:ext cx="3657600" cy="3749039"/>
          </a:xfrm>
          <a:prstGeom prst="roundRect">
            <a:avLst/>
          </a:prstGeom>
          <a:solidFill>
            <a:srgbClr val="333333"/>
          </a:solidFill>
          <a:ln w="12700">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046720" y="3017520"/>
            <a:ext cx="3657600" cy="50800"/>
          </a:xfrm>
          <a:prstGeom prst="rect">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21040" y="3246120"/>
            <a:ext cx="3108960" cy="274320"/>
          </a:xfrm>
          <a:prstGeom prst="rect">
            <a:avLst/>
          </a:prstGeom>
          <a:noFill/>
        </p:spPr>
        <p:txBody>
          <a:bodyPr wrap="square">
            <a:spAutoFit/>
          </a:bodyPr>
          <a:lstStyle/>
          <a:p>
            <a:pPr algn="l">
              <a:defRPr sz="1200" b="1" i="0">
                <a:solidFill>
                  <a:srgbClr val="C81E1E"/>
                </a:solidFill>
                <a:latin typeface="Arial"/>
              </a:defRPr>
            </a:pPr>
            <a:r>
              <a:t>TIER 3, BUILDER</a:t>
            </a:r>
          </a:p>
        </p:txBody>
      </p:sp>
      <p:sp>
        <p:nvSpPr>
          <p:cNvPr id="21" name="TextBox 20"/>
          <p:cNvSpPr txBox="1"/>
          <p:nvPr/>
        </p:nvSpPr>
        <p:spPr>
          <a:xfrm>
            <a:off x="8321040" y="3611880"/>
            <a:ext cx="3108960" cy="548640"/>
          </a:xfrm>
          <a:prstGeom prst="rect">
            <a:avLst/>
          </a:prstGeom>
          <a:noFill/>
        </p:spPr>
        <p:txBody>
          <a:bodyPr wrap="square">
            <a:spAutoFit/>
          </a:bodyPr>
          <a:lstStyle/>
          <a:p>
            <a:pPr algn="l">
              <a:defRPr sz="2000" b="1" i="0">
                <a:solidFill>
                  <a:srgbClr val="F5F5F5"/>
                </a:solidFill>
                <a:latin typeface="Arial"/>
              </a:defRPr>
            </a:pPr>
            <a:r>
              <a:t>Ship secure agents</a:t>
            </a:r>
          </a:p>
        </p:txBody>
      </p:sp>
      <p:sp>
        <p:nvSpPr>
          <p:cNvPr id="22" name="TextBox 21"/>
          <p:cNvSpPr txBox="1"/>
          <p:nvPr/>
        </p:nvSpPr>
        <p:spPr>
          <a:xfrm>
            <a:off x="8321040" y="4389120"/>
            <a:ext cx="3108960" cy="1645919"/>
          </a:xfrm>
          <a:prstGeom prst="rect">
            <a:avLst/>
          </a:prstGeom>
          <a:noFill/>
        </p:spPr>
        <p:txBody>
          <a:bodyPr wrap="square">
            <a:spAutoFit/>
          </a:bodyPr>
          <a:lstStyle/>
          <a:p>
            <a:pPr algn="l">
              <a:defRPr sz="1200" b="0" i="0">
                <a:solidFill>
                  <a:srgbClr val="AAAAAA"/>
                </a:solidFill>
                <a:latin typeface="Arial"/>
              </a:defRPr>
            </a:pPr>
            <a:r>
              <a:t>•  If your product issues OAuth tokens, enforce short-lived expiry (1 hour, not 1 year)</a:t>
            </a:r>
            <a:br/>
            <a:br/>
            <a:r>
              <a:t>•  Scope permissions to the minimum your agent needs, not everything the API allows</a:t>
            </a:r>
            <a:br/>
            <a:br/>
            <a:r>
              <a:t>•  Log every agent action with the identity that triggered it</a:t>
            </a:r>
          </a:p>
        </p:txBody>
      </p:sp>
      <p:sp>
        <p:nvSpPr>
          <p:cNvPr id="23" name="TextBox 22"/>
          <p:cNvSpPr txBox="1"/>
          <p:nvPr/>
        </p:nvSpPr>
        <p:spPr>
          <a:xfrm>
            <a:off x="8321040" y="6126479"/>
            <a:ext cx="3108960" cy="365760"/>
          </a:xfrm>
          <a:prstGeom prst="rect">
            <a:avLst/>
          </a:prstGeom>
          <a:noFill/>
        </p:spPr>
        <p:txBody>
          <a:bodyPr wrap="square">
            <a:spAutoFit/>
          </a:bodyPr>
          <a:lstStyle/>
          <a:p>
            <a:pPr algn="l">
              <a:defRPr sz="1200" b="1" i="1">
                <a:solidFill>
                  <a:srgbClr val="C81E1E"/>
                </a:solidFill>
                <a:latin typeface="Arial"/>
              </a:defRPr>
            </a:pPr>
            <a:r>
              <a:t>Goal: do not be the next Vercel case study</a:t>
            </a:r>
          </a:p>
        </p:txBody>
      </p:sp>
      <p:sp>
        <p:nvSpPr>
          <p:cNvPr id="24" name="TextBox 23"/>
          <p:cNvSpPr txBox="1"/>
          <p:nvPr/>
        </p:nvSpPr>
        <p:spPr>
          <a:xfrm>
            <a:off x="457200" y="6492240"/>
            <a:ext cx="1371600" cy="274320"/>
          </a:xfrm>
          <a:prstGeom prst="rect">
            <a:avLst/>
          </a:prstGeom>
          <a:noFill/>
        </p:spPr>
        <p:txBody>
          <a:bodyPr wrap="square">
            <a:spAutoFit/>
          </a:bodyPr>
          <a:lstStyle/>
          <a:p>
            <a:pPr algn="l">
              <a:defRPr sz="1100" b="1" i="0">
                <a:solidFill>
                  <a:srgbClr val="333333"/>
                </a:solidFill>
                <a:latin typeface="Arial"/>
              </a:defRPr>
            </a:pPr>
            <a:r>
              <a:t>BSTC</a:t>
            </a:r>
          </a:p>
        </p:txBody>
      </p:sp>
      <p:sp>
        <p:nvSpPr>
          <p:cNvPr id="25" name="TextBox 24"/>
          <p:cNvSpPr txBox="1"/>
          <p:nvPr/>
        </p:nvSpPr>
        <p:spPr>
          <a:xfrm>
            <a:off x="10515600" y="6492240"/>
            <a:ext cx="1371600" cy="274320"/>
          </a:xfrm>
          <a:prstGeom prst="rect">
            <a:avLst/>
          </a:prstGeom>
          <a:noFill/>
        </p:spPr>
        <p:txBody>
          <a:bodyPr wrap="square">
            <a:spAutoFit/>
          </a:bodyPr>
          <a:lstStyle/>
          <a:p>
            <a:pPr algn="r">
              <a:defRPr sz="1200" b="0" i="0">
                <a:solidFill>
                  <a:srgbClr val="888888"/>
                </a:solidFill>
                <a:latin typeface="Arial"/>
              </a:defRPr>
            </a:pPr>
            <a:r>
              <a:t>12 / 15</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11111"/>
        </a:solidFill>
        <a:effectLst/>
      </p:bgPr>
    </p:bg>
    <p:spTree>
      <p:nvGrpSpPr>
        <p:cNvPr id="1" name=""/>
        <p:cNvGrpSpPr/>
        <p:nvPr/>
      </p:nvGrpSpPr>
      <p:grpSpPr/>
      <p:sp>
        <p:nvSpPr>
          <p:cNvPr id="2" name="TextBox 1"/>
          <p:cNvSpPr txBox="1"/>
          <p:nvPr/>
        </p:nvSpPr>
        <p:spPr>
          <a:xfrm>
            <a:off x="731520" y="548640"/>
            <a:ext cx="7315200" cy="365760"/>
          </a:xfrm>
          <a:prstGeom prst="rect">
            <a:avLst/>
          </a:prstGeom>
          <a:noFill/>
        </p:spPr>
        <p:txBody>
          <a:bodyPr wrap="square">
            <a:spAutoFit/>
          </a:bodyPr>
          <a:lstStyle/>
          <a:p>
            <a:pPr algn="l">
              <a:defRPr sz="1300" b="1" i="0">
                <a:solidFill>
                  <a:srgbClr val="C81E1E"/>
                </a:solidFill>
                <a:latin typeface="Arial"/>
              </a:defRPr>
            </a:pPr>
            <a:r>
              <a:t>COMMUNITY WINS</a:t>
            </a:r>
          </a:p>
        </p:txBody>
      </p:sp>
      <p:sp>
        <p:nvSpPr>
          <p:cNvPr id="3" name="TextBox 2"/>
          <p:cNvSpPr txBox="1"/>
          <p:nvPr/>
        </p:nvSpPr>
        <p:spPr>
          <a:xfrm>
            <a:off x="731520" y="1005840"/>
            <a:ext cx="10972800" cy="822960"/>
          </a:xfrm>
          <a:prstGeom prst="rect">
            <a:avLst/>
          </a:prstGeom>
          <a:noFill/>
        </p:spPr>
        <p:txBody>
          <a:bodyPr wrap="square">
            <a:spAutoFit/>
          </a:bodyPr>
          <a:lstStyle/>
          <a:p>
            <a:pPr algn="l">
              <a:defRPr sz="4400" b="1" i="0">
                <a:solidFill>
                  <a:srgbClr val="F5F5F5"/>
                </a:solidFill>
                <a:latin typeface="Arial"/>
              </a:defRPr>
            </a:pPr>
            <a:r>
              <a:t>Wins From The Room</a:t>
            </a:r>
          </a:p>
        </p:txBody>
      </p:sp>
      <p:sp>
        <p:nvSpPr>
          <p:cNvPr id="4" name="Rectangle 3"/>
          <p:cNvSpPr/>
          <p:nvPr/>
        </p:nvSpPr>
        <p:spPr>
          <a:xfrm>
            <a:off x="731520" y="2011680"/>
            <a:ext cx="731520" cy="50800"/>
          </a:xfrm>
          <a:prstGeom prst="rect">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2286000"/>
            <a:ext cx="10972800" cy="731520"/>
          </a:xfrm>
          <a:prstGeom prst="rect">
            <a:avLst/>
          </a:prstGeom>
          <a:noFill/>
        </p:spPr>
        <p:txBody>
          <a:bodyPr wrap="square">
            <a:spAutoFit/>
          </a:bodyPr>
          <a:lstStyle/>
          <a:p>
            <a:pPr algn="l">
              <a:defRPr sz="1500" b="0" i="0">
                <a:solidFill>
                  <a:srgbClr val="AAAAAA"/>
                </a:solidFill>
                <a:latin typeface="Arial"/>
              </a:defRPr>
            </a:pPr>
            <a:r>
              <a:t>Three members shipped something since last edition. This is what the community looks like when it builds in public.</a:t>
            </a:r>
          </a:p>
        </p:txBody>
      </p:sp>
      <p:sp>
        <p:nvSpPr>
          <p:cNvPr id="6" name="Rounded Rectangle 5"/>
          <p:cNvSpPr/>
          <p:nvPr/>
        </p:nvSpPr>
        <p:spPr>
          <a:xfrm>
            <a:off x="457200" y="3200400"/>
            <a:ext cx="3657600" cy="3108960"/>
          </a:xfrm>
          <a:prstGeom prst="roundRect">
            <a:avLst/>
          </a:prstGeom>
          <a:solidFill>
            <a:srgbClr val="333333"/>
          </a:solidFill>
          <a:ln w="12700">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783080" y="3474720"/>
            <a:ext cx="1005840" cy="1005840"/>
          </a:xfrm>
          <a:prstGeom prst="ellipse">
            <a:avLst/>
          </a:prstGeom>
          <a:solidFill>
            <a:srgbClr val="444444"/>
          </a:solidFill>
          <a:ln w="25400">
            <a:solidFill>
              <a:srgbClr val="C81E1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783080" y="3730752"/>
            <a:ext cx="1005840" cy="548640"/>
          </a:xfrm>
          <a:prstGeom prst="rect">
            <a:avLst/>
          </a:prstGeom>
          <a:noFill/>
        </p:spPr>
        <p:txBody>
          <a:bodyPr wrap="square">
            <a:spAutoFit/>
          </a:bodyPr>
          <a:lstStyle/>
          <a:p>
            <a:pPr algn="ctr">
              <a:defRPr sz="2200" b="1" i="0">
                <a:solidFill>
                  <a:srgbClr val="F5F5F5"/>
                </a:solidFill>
                <a:latin typeface="Arial"/>
              </a:defRPr>
            </a:pPr>
            <a:r>
              <a:t>M1</a:t>
            </a:r>
          </a:p>
        </p:txBody>
      </p:sp>
      <p:sp>
        <p:nvSpPr>
          <p:cNvPr id="9" name="TextBox 8"/>
          <p:cNvSpPr txBox="1"/>
          <p:nvPr/>
        </p:nvSpPr>
        <p:spPr>
          <a:xfrm>
            <a:off x="731520" y="4617720"/>
            <a:ext cx="3108960" cy="365760"/>
          </a:xfrm>
          <a:prstGeom prst="rect">
            <a:avLst/>
          </a:prstGeom>
          <a:noFill/>
        </p:spPr>
        <p:txBody>
          <a:bodyPr wrap="square">
            <a:spAutoFit/>
          </a:bodyPr>
          <a:lstStyle/>
          <a:p>
            <a:pPr algn="ctr">
              <a:defRPr sz="1800" b="1" i="0">
                <a:solidFill>
                  <a:srgbClr val="F5F5F5"/>
                </a:solidFill>
                <a:latin typeface="Arial"/>
              </a:defRPr>
            </a:pPr>
            <a:r>
              <a:t>[Member 1 name]</a:t>
            </a:r>
          </a:p>
        </p:txBody>
      </p:sp>
      <p:sp>
        <p:nvSpPr>
          <p:cNvPr id="10" name="TextBox 9"/>
          <p:cNvSpPr txBox="1"/>
          <p:nvPr/>
        </p:nvSpPr>
        <p:spPr>
          <a:xfrm>
            <a:off x="731520" y="5029200"/>
            <a:ext cx="3108960" cy="274320"/>
          </a:xfrm>
          <a:prstGeom prst="rect">
            <a:avLst/>
          </a:prstGeom>
          <a:noFill/>
        </p:spPr>
        <p:txBody>
          <a:bodyPr wrap="square">
            <a:spAutoFit/>
          </a:bodyPr>
          <a:lstStyle/>
          <a:p>
            <a:pPr algn="ctr">
              <a:defRPr sz="1200" b="0" i="1">
                <a:solidFill>
                  <a:srgbClr val="888888"/>
                </a:solidFill>
                <a:latin typeface="Arial"/>
              </a:defRPr>
            </a:pPr>
            <a:r>
              <a:t>[Founder, Company  /  Operator, Industry]</a:t>
            </a:r>
          </a:p>
        </p:txBody>
      </p:sp>
      <p:sp>
        <p:nvSpPr>
          <p:cNvPr id="11" name="TextBox 10"/>
          <p:cNvSpPr txBox="1"/>
          <p:nvPr/>
        </p:nvSpPr>
        <p:spPr>
          <a:xfrm>
            <a:off x="731520" y="5440680"/>
            <a:ext cx="3108960" cy="822960"/>
          </a:xfrm>
          <a:prstGeom prst="rect">
            <a:avLst/>
          </a:prstGeom>
          <a:noFill/>
        </p:spPr>
        <p:txBody>
          <a:bodyPr wrap="square">
            <a:spAutoFit/>
          </a:bodyPr>
          <a:lstStyle/>
          <a:p>
            <a:pPr algn="ctr">
              <a:defRPr sz="1200" b="0" i="0">
                <a:solidFill>
                  <a:srgbClr val="AAAAAA"/>
                </a:solidFill>
                <a:latin typeface="Arial"/>
              </a:defRPr>
            </a:pPr>
            <a:r>
              <a:t>Built an agent that drafts sales follow-ups from Granola transcripts. 40 minutes back per deal.</a:t>
            </a:r>
          </a:p>
        </p:txBody>
      </p:sp>
      <p:sp>
        <p:nvSpPr>
          <p:cNvPr id="12" name="Rounded Rectangle 11"/>
          <p:cNvSpPr/>
          <p:nvPr/>
        </p:nvSpPr>
        <p:spPr>
          <a:xfrm>
            <a:off x="4251960" y="3200400"/>
            <a:ext cx="3657600" cy="3108960"/>
          </a:xfrm>
          <a:prstGeom prst="roundRect">
            <a:avLst/>
          </a:prstGeom>
          <a:solidFill>
            <a:srgbClr val="333333"/>
          </a:solidFill>
          <a:ln w="12700">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577840" y="3474720"/>
            <a:ext cx="1005840" cy="1005840"/>
          </a:xfrm>
          <a:prstGeom prst="ellipse">
            <a:avLst/>
          </a:prstGeom>
          <a:solidFill>
            <a:srgbClr val="444444"/>
          </a:solidFill>
          <a:ln w="25400">
            <a:solidFill>
              <a:srgbClr val="C81E1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577840" y="3730752"/>
            <a:ext cx="1005840" cy="548640"/>
          </a:xfrm>
          <a:prstGeom prst="rect">
            <a:avLst/>
          </a:prstGeom>
          <a:noFill/>
        </p:spPr>
        <p:txBody>
          <a:bodyPr wrap="square">
            <a:spAutoFit/>
          </a:bodyPr>
          <a:lstStyle/>
          <a:p>
            <a:pPr algn="ctr">
              <a:defRPr sz="2200" b="1" i="0">
                <a:solidFill>
                  <a:srgbClr val="F5F5F5"/>
                </a:solidFill>
                <a:latin typeface="Arial"/>
              </a:defRPr>
            </a:pPr>
            <a:r>
              <a:t>M2</a:t>
            </a:r>
          </a:p>
        </p:txBody>
      </p:sp>
      <p:sp>
        <p:nvSpPr>
          <p:cNvPr id="15" name="TextBox 14"/>
          <p:cNvSpPr txBox="1"/>
          <p:nvPr/>
        </p:nvSpPr>
        <p:spPr>
          <a:xfrm>
            <a:off x="4526280" y="4617720"/>
            <a:ext cx="3108960" cy="365760"/>
          </a:xfrm>
          <a:prstGeom prst="rect">
            <a:avLst/>
          </a:prstGeom>
          <a:noFill/>
        </p:spPr>
        <p:txBody>
          <a:bodyPr wrap="square">
            <a:spAutoFit/>
          </a:bodyPr>
          <a:lstStyle/>
          <a:p>
            <a:pPr algn="ctr">
              <a:defRPr sz="1800" b="1" i="0">
                <a:solidFill>
                  <a:srgbClr val="F5F5F5"/>
                </a:solidFill>
                <a:latin typeface="Arial"/>
              </a:defRPr>
            </a:pPr>
            <a:r>
              <a:t>[Member 2 name]</a:t>
            </a:r>
          </a:p>
        </p:txBody>
      </p:sp>
      <p:sp>
        <p:nvSpPr>
          <p:cNvPr id="16" name="TextBox 15"/>
          <p:cNvSpPr txBox="1"/>
          <p:nvPr/>
        </p:nvSpPr>
        <p:spPr>
          <a:xfrm>
            <a:off x="4526280" y="5029200"/>
            <a:ext cx="3108960" cy="274320"/>
          </a:xfrm>
          <a:prstGeom prst="rect">
            <a:avLst/>
          </a:prstGeom>
          <a:noFill/>
        </p:spPr>
        <p:txBody>
          <a:bodyPr wrap="square">
            <a:spAutoFit/>
          </a:bodyPr>
          <a:lstStyle/>
          <a:p>
            <a:pPr algn="ctr">
              <a:defRPr sz="1200" b="0" i="1">
                <a:solidFill>
                  <a:srgbClr val="888888"/>
                </a:solidFill>
                <a:latin typeface="Arial"/>
              </a:defRPr>
            </a:pPr>
            <a:r>
              <a:t>[Founder or operator title]</a:t>
            </a:r>
          </a:p>
        </p:txBody>
      </p:sp>
      <p:sp>
        <p:nvSpPr>
          <p:cNvPr id="17" name="TextBox 16"/>
          <p:cNvSpPr txBox="1"/>
          <p:nvPr/>
        </p:nvSpPr>
        <p:spPr>
          <a:xfrm>
            <a:off x="4526280" y="5440680"/>
            <a:ext cx="3108960" cy="822960"/>
          </a:xfrm>
          <a:prstGeom prst="rect">
            <a:avLst/>
          </a:prstGeom>
          <a:noFill/>
        </p:spPr>
        <p:txBody>
          <a:bodyPr wrap="square">
            <a:spAutoFit/>
          </a:bodyPr>
          <a:lstStyle/>
          <a:p>
            <a:pPr algn="ctr">
              <a:defRPr sz="1200" b="0" i="0">
                <a:solidFill>
                  <a:srgbClr val="AAAAAA"/>
                </a:solidFill>
                <a:latin typeface="Arial"/>
              </a:defRPr>
            </a:pPr>
            <a:r>
              <a:t>Replaced their customer support tier-1 with Claude plus three MCP connectors. Response time dropped from 4 hours to 8 minutes.</a:t>
            </a:r>
          </a:p>
        </p:txBody>
      </p:sp>
      <p:sp>
        <p:nvSpPr>
          <p:cNvPr id="18" name="Rounded Rectangle 17"/>
          <p:cNvSpPr/>
          <p:nvPr/>
        </p:nvSpPr>
        <p:spPr>
          <a:xfrm>
            <a:off x="8046720" y="3200400"/>
            <a:ext cx="3657600" cy="3108960"/>
          </a:xfrm>
          <a:prstGeom prst="roundRect">
            <a:avLst/>
          </a:prstGeom>
          <a:solidFill>
            <a:srgbClr val="333333"/>
          </a:solidFill>
          <a:ln w="12700">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372600" y="3474720"/>
            <a:ext cx="1005840" cy="1005840"/>
          </a:xfrm>
          <a:prstGeom prst="ellipse">
            <a:avLst/>
          </a:prstGeom>
          <a:solidFill>
            <a:srgbClr val="444444"/>
          </a:solidFill>
          <a:ln w="25400">
            <a:solidFill>
              <a:srgbClr val="C81E1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72600" y="3730752"/>
            <a:ext cx="1005840" cy="548640"/>
          </a:xfrm>
          <a:prstGeom prst="rect">
            <a:avLst/>
          </a:prstGeom>
          <a:noFill/>
        </p:spPr>
        <p:txBody>
          <a:bodyPr wrap="square">
            <a:spAutoFit/>
          </a:bodyPr>
          <a:lstStyle/>
          <a:p>
            <a:pPr algn="ctr">
              <a:defRPr sz="2200" b="1" i="0">
                <a:solidFill>
                  <a:srgbClr val="F5F5F5"/>
                </a:solidFill>
                <a:latin typeface="Arial"/>
              </a:defRPr>
            </a:pPr>
            <a:r>
              <a:t>M3</a:t>
            </a:r>
          </a:p>
        </p:txBody>
      </p:sp>
      <p:sp>
        <p:nvSpPr>
          <p:cNvPr id="21" name="TextBox 20"/>
          <p:cNvSpPr txBox="1"/>
          <p:nvPr/>
        </p:nvSpPr>
        <p:spPr>
          <a:xfrm>
            <a:off x="8321040" y="4617720"/>
            <a:ext cx="3108960" cy="365760"/>
          </a:xfrm>
          <a:prstGeom prst="rect">
            <a:avLst/>
          </a:prstGeom>
          <a:noFill/>
        </p:spPr>
        <p:txBody>
          <a:bodyPr wrap="square">
            <a:spAutoFit/>
          </a:bodyPr>
          <a:lstStyle/>
          <a:p>
            <a:pPr algn="ctr">
              <a:defRPr sz="1800" b="1" i="0">
                <a:solidFill>
                  <a:srgbClr val="F5F5F5"/>
                </a:solidFill>
                <a:latin typeface="Arial"/>
              </a:defRPr>
            </a:pPr>
            <a:r>
              <a:t>[Member 3 name]</a:t>
            </a:r>
          </a:p>
        </p:txBody>
      </p:sp>
      <p:sp>
        <p:nvSpPr>
          <p:cNvPr id="22" name="TextBox 21"/>
          <p:cNvSpPr txBox="1"/>
          <p:nvPr/>
        </p:nvSpPr>
        <p:spPr>
          <a:xfrm>
            <a:off x="8321040" y="5029200"/>
            <a:ext cx="3108960" cy="274320"/>
          </a:xfrm>
          <a:prstGeom prst="rect">
            <a:avLst/>
          </a:prstGeom>
          <a:noFill/>
        </p:spPr>
        <p:txBody>
          <a:bodyPr wrap="square">
            <a:spAutoFit/>
          </a:bodyPr>
          <a:lstStyle/>
          <a:p>
            <a:pPr algn="ctr">
              <a:defRPr sz="1200" b="0" i="1">
                <a:solidFill>
                  <a:srgbClr val="888888"/>
                </a:solidFill>
                <a:latin typeface="Arial"/>
              </a:defRPr>
            </a:pPr>
            <a:r>
              <a:t>[Founder or operator title]</a:t>
            </a:r>
          </a:p>
        </p:txBody>
      </p:sp>
      <p:sp>
        <p:nvSpPr>
          <p:cNvPr id="23" name="TextBox 22"/>
          <p:cNvSpPr txBox="1"/>
          <p:nvPr/>
        </p:nvSpPr>
        <p:spPr>
          <a:xfrm>
            <a:off x="8321040" y="5440680"/>
            <a:ext cx="3108960" cy="822960"/>
          </a:xfrm>
          <a:prstGeom prst="rect">
            <a:avLst/>
          </a:prstGeom>
          <a:noFill/>
        </p:spPr>
        <p:txBody>
          <a:bodyPr wrap="square">
            <a:spAutoFit/>
          </a:bodyPr>
          <a:lstStyle/>
          <a:p>
            <a:pPr algn="ctr">
              <a:defRPr sz="1200" b="0" i="0">
                <a:solidFill>
                  <a:srgbClr val="AAAAAA"/>
                </a:solidFill>
                <a:latin typeface="Arial"/>
              </a:defRPr>
            </a:pPr>
            <a:r>
              <a:t>Built an internal AI brief generator that runs every morning at 6am. Their team starts the day aligned instead of in standups.</a:t>
            </a:r>
          </a:p>
        </p:txBody>
      </p:sp>
      <p:sp>
        <p:nvSpPr>
          <p:cNvPr id="24" name="TextBox 23"/>
          <p:cNvSpPr txBox="1"/>
          <p:nvPr/>
        </p:nvSpPr>
        <p:spPr>
          <a:xfrm>
            <a:off x="731520" y="6492240"/>
            <a:ext cx="10881360" cy="320040"/>
          </a:xfrm>
          <a:prstGeom prst="rect">
            <a:avLst/>
          </a:prstGeom>
          <a:noFill/>
        </p:spPr>
        <p:txBody>
          <a:bodyPr wrap="square">
            <a:spAutoFit/>
          </a:bodyPr>
          <a:lstStyle/>
          <a:p>
            <a:pPr algn="ctr">
              <a:defRPr sz="1300" b="0" i="1">
                <a:solidFill>
                  <a:srgbClr val="E0B040"/>
                </a:solidFill>
                <a:latin typeface="Arial"/>
              </a:defRPr>
            </a:pPr>
            <a:r>
              <a:t>Want to be on this slide next edition? Tell me what you shipped. No pitch needed, just a screenshot and one line.</a:t>
            </a:r>
          </a:p>
        </p:txBody>
      </p:sp>
      <p:sp>
        <p:nvSpPr>
          <p:cNvPr id="25" name="TextBox 24"/>
          <p:cNvSpPr txBox="1"/>
          <p:nvPr/>
        </p:nvSpPr>
        <p:spPr>
          <a:xfrm>
            <a:off x="457200" y="6492240"/>
            <a:ext cx="1371600" cy="274320"/>
          </a:xfrm>
          <a:prstGeom prst="rect">
            <a:avLst/>
          </a:prstGeom>
          <a:noFill/>
        </p:spPr>
        <p:txBody>
          <a:bodyPr wrap="square">
            <a:spAutoFit/>
          </a:bodyPr>
          <a:lstStyle/>
          <a:p>
            <a:pPr algn="l">
              <a:defRPr sz="1100" b="1" i="0">
                <a:solidFill>
                  <a:srgbClr val="333333"/>
                </a:solidFill>
                <a:latin typeface="Arial"/>
              </a:defRPr>
            </a:pPr>
            <a:r>
              <a:t>BSTC</a:t>
            </a:r>
          </a:p>
        </p:txBody>
      </p:sp>
      <p:sp>
        <p:nvSpPr>
          <p:cNvPr id="26" name="TextBox 25"/>
          <p:cNvSpPr txBox="1"/>
          <p:nvPr/>
        </p:nvSpPr>
        <p:spPr>
          <a:xfrm>
            <a:off x="10515600" y="6492240"/>
            <a:ext cx="1371600" cy="274320"/>
          </a:xfrm>
          <a:prstGeom prst="rect">
            <a:avLst/>
          </a:prstGeom>
          <a:noFill/>
        </p:spPr>
        <p:txBody>
          <a:bodyPr wrap="square">
            <a:spAutoFit/>
          </a:bodyPr>
          <a:lstStyle/>
          <a:p>
            <a:pPr algn="r">
              <a:defRPr sz="1200" b="0" i="0">
                <a:solidFill>
                  <a:srgbClr val="888888"/>
                </a:solidFill>
                <a:latin typeface="Arial"/>
              </a:defRPr>
            </a:pPr>
            <a:r>
              <a:t>15 / 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