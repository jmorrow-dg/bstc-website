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1371600"/>
            <a:ext cx="7315200" cy="365760"/>
          </a:xfrm>
          <a:prstGeom prst="rect">
            <a:avLst/>
          </a:prstGeom>
          <a:noFill/>
        </p:spPr>
        <p:txBody>
          <a:bodyPr wrap="square">
            <a:spAutoFit/>
          </a:bodyPr>
          <a:lstStyle/>
          <a:p>
            <a:pPr algn="l">
              <a:defRPr sz="1300" b="1" i="0">
                <a:solidFill>
                  <a:srgbClr val="C81E1E"/>
                </a:solidFill>
                <a:latin typeface="Arial"/>
              </a:defRPr>
            </a:pPr>
            <a:r>
              <a:t>BALI START-UPS &amp; TECH COMMUNITY PRESENTS</a:t>
            </a:r>
          </a:p>
        </p:txBody>
      </p:sp>
      <p:sp>
        <p:nvSpPr>
          <p:cNvPr id="3" name="TextBox 2"/>
          <p:cNvSpPr txBox="1"/>
          <p:nvPr/>
        </p:nvSpPr>
        <p:spPr>
          <a:xfrm>
            <a:off x="731520" y="2011680"/>
            <a:ext cx="9144000" cy="1371600"/>
          </a:xfrm>
          <a:prstGeom prst="rect">
            <a:avLst/>
          </a:prstGeom>
          <a:noFill/>
        </p:spPr>
        <p:txBody>
          <a:bodyPr wrap="square">
            <a:spAutoFit/>
          </a:bodyPr>
          <a:lstStyle/>
          <a:p>
            <a:pPr algn="l">
              <a:defRPr sz="7200" b="1" i="0">
                <a:solidFill>
                  <a:srgbClr val="F5F5F5"/>
                </a:solidFill>
                <a:latin typeface="Arial"/>
              </a:defRPr>
            </a:pPr>
            <a:r>
              <a:t>How I AI</a:t>
            </a:r>
          </a:p>
        </p:txBody>
      </p:sp>
      <p:sp>
        <p:nvSpPr>
          <p:cNvPr id="4" name="TextBox 3"/>
          <p:cNvSpPr txBox="1"/>
          <p:nvPr/>
        </p:nvSpPr>
        <p:spPr>
          <a:xfrm>
            <a:off x="731520" y="3474720"/>
            <a:ext cx="7315200" cy="1097280"/>
          </a:xfrm>
          <a:prstGeom prst="rect">
            <a:avLst/>
          </a:prstGeom>
          <a:noFill/>
        </p:spPr>
        <p:txBody>
          <a:bodyPr wrap="square">
            <a:spAutoFit/>
          </a:bodyPr>
          <a:lstStyle/>
          <a:p>
            <a:pPr algn="l">
              <a:defRPr sz="3200" b="1" i="0">
                <a:solidFill>
                  <a:srgbClr val="F5F5F5"/>
                </a:solidFill>
                <a:latin typeface="Arial"/>
              </a:defRPr>
            </a:pPr>
            <a:r>
              <a:t>Edition 7</a:t>
            </a:r>
          </a:p>
          <a:p>
            <a:pPr algn="l">
              <a:spcBef>
                <a:spcPts val="800"/>
              </a:spcBef>
              <a:defRPr sz="2000" b="0" i="0">
                <a:solidFill>
                  <a:srgbClr val="888888"/>
                </a:solidFill>
                <a:latin typeface="Arial"/>
              </a:defRPr>
            </a:pPr>
            <a:r>
              <a:t>Seoul Soul Project, Canggu  ·  27 May 2026</a:t>
            </a:r>
          </a:p>
        </p:txBody>
      </p:sp>
      <p:sp>
        <p:nvSpPr>
          <p:cNvPr id="5" name="TextBox 4"/>
          <p:cNvSpPr txBox="1"/>
          <p:nvPr/>
        </p:nvSpPr>
        <p:spPr>
          <a:xfrm>
            <a:off x="731520" y="5029200"/>
            <a:ext cx="8229600" cy="365760"/>
          </a:xfrm>
          <a:prstGeom prst="rect">
            <a:avLst/>
          </a:prstGeom>
          <a:noFill/>
        </p:spPr>
        <p:txBody>
          <a:bodyPr wrap="square">
            <a:spAutoFit/>
          </a:bodyPr>
          <a:lstStyle/>
          <a:p>
            <a:pPr algn="l">
              <a:defRPr sz="1500" b="0" i="0">
                <a:solidFill>
                  <a:srgbClr val="888888"/>
                </a:solidFill>
                <a:latin typeface="Arial"/>
              </a:defRPr>
            </a:pPr>
            <a:r>
              <a:t>Builders show tools. Operators share workflows. Everyone leaves sharper.</a:t>
            </a:r>
          </a:p>
        </p:txBody>
      </p:sp>
      <p:sp>
        <p:nvSpPr>
          <p:cNvPr id="6" name="TextBox 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7" name="TextBox 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731520"/>
            <a:ext cx="7315200" cy="365760"/>
          </a:xfrm>
          <a:prstGeom prst="rect">
            <a:avLst/>
          </a:prstGeom>
          <a:noFill/>
        </p:spPr>
        <p:txBody>
          <a:bodyPr wrap="square">
            <a:spAutoFit/>
          </a:bodyPr>
          <a:lstStyle/>
          <a:p>
            <a:pPr algn="l">
              <a:defRPr sz="1300" b="1" i="0">
                <a:solidFill>
                  <a:srgbClr val="C81E1E"/>
                </a:solidFill>
                <a:latin typeface="Arial"/>
              </a:defRPr>
            </a:pPr>
            <a:r>
              <a:t>MY BACKGROUND</a:t>
            </a:r>
          </a:p>
        </p:txBody>
      </p:sp>
      <p:sp>
        <p:nvSpPr>
          <p:cNvPr id="3" name="TextBox 2"/>
          <p:cNvSpPr txBox="1"/>
          <p:nvPr/>
        </p:nvSpPr>
        <p:spPr>
          <a:xfrm>
            <a:off x="731520" y="1645920"/>
            <a:ext cx="3200400" cy="548640"/>
          </a:xfrm>
          <a:prstGeom prst="rect">
            <a:avLst/>
          </a:prstGeom>
          <a:noFill/>
        </p:spPr>
        <p:txBody>
          <a:bodyPr wrap="square">
            <a:spAutoFit/>
          </a:bodyPr>
          <a:lstStyle/>
          <a:p>
            <a:pPr algn="l">
              <a:defRPr sz="2800" b="1" i="0">
                <a:solidFill>
                  <a:srgbClr val="F5F5F5"/>
                </a:solidFill>
                <a:latin typeface="Arial"/>
              </a:defRPr>
            </a:pPr>
            <a:r>
              <a:t>Josh Morrow</a:t>
            </a:r>
          </a:p>
        </p:txBody>
      </p:sp>
      <p:sp>
        <p:nvSpPr>
          <p:cNvPr id="4" name="TextBox 3"/>
          <p:cNvSpPr txBox="1"/>
          <p:nvPr/>
        </p:nvSpPr>
        <p:spPr>
          <a:xfrm>
            <a:off x="731520" y="2377440"/>
            <a:ext cx="3200400" cy="2743200"/>
          </a:xfrm>
          <a:prstGeom prst="rect">
            <a:avLst/>
          </a:prstGeom>
          <a:noFill/>
        </p:spPr>
        <p:txBody>
          <a:bodyPr wrap="square">
            <a:spAutoFit/>
          </a:bodyPr>
          <a:lstStyle/>
          <a:p>
            <a:pPr algn="l">
              <a:defRPr sz="1600" b="0" i="0">
                <a:solidFill>
                  <a:srgbClr val="888888"/>
                </a:solidFill>
                <a:latin typeface="Arial"/>
              </a:defRPr>
            </a:pPr>
            <a:r>
              <a:t>•  5+ years in B2B technology</a:t>
            </a:r>
          </a:p>
          <a:p>
            <a:pPr algn="l">
              <a:spcBef>
                <a:spcPts val="1000"/>
              </a:spcBef>
              <a:defRPr sz="1600" b="0" i="0">
                <a:solidFill>
                  <a:srgbClr val="888888"/>
                </a:solidFill>
                <a:latin typeface="Arial"/>
              </a:defRPr>
            </a:pPr>
            <a:r>
              <a:t>•  Oxford/MIT AI Programmes / Legal Background</a:t>
            </a:r>
          </a:p>
          <a:p>
            <a:pPr algn="l">
              <a:spcBef>
                <a:spcPts val="1000"/>
              </a:spcBef>
              <a:defRPr sz="1600" b="0" i="0">
                <a:solidFill>
                  <a:srgbClr val="888888"/>
                </a:solidFill>
                <a:latin typeface="Arial"/>
              </a:defRPr>
            </a:pPr>
            <a:r>
              <a:t>•  Co-Founder of Bali Start-Up &amp; Tech (3k+ folks on Meetup/WA)</a:t>
            </a:r>
          </a:p>
        </p:txBody>
      </p:sp>
      <p:sp>
        <p:nvSpPr>
          <p:cNvPr id="5" name="TextBox 4"/>
          <p:cNvSpPr txBox="1"/>
          <p:nvPr/>
        </p:nvSpPr>
        <p:spPr>
          <a:xfrm>
            <a:off x="4572000" y="1645920"/>
            <a:ext cx="3200400" cy="548640"/>
          </a:xfrm>
          <a:prstGeom prst="rect">
            <a:avLst/>
          </a:prstGeom>
          <a:noFill/>
        </p:spPr>
        <p:txBody>
          <a:bodyPr wrap="square">
            <a:spAutoFit/>
          </a:bodyPr>
          <a:lstStyle/>
          <a:p>
            <a:pPr algn="l">
              <a:defRPr sz="2800" b="1" i="0">
                <a:solidFill>
                  <a:srgbClr val="F5F5F5"/>
                </a:solidFill>
                <a:latin typeface="Arial"/>
              </a:defRPr>
            </a:pPr>
            <a:r>
              <a:t>David &amp; Goliath</a:t>
            </a:r>
          </a:p>
        </p:txBody>
      </p:sp>
      <p:sp>
        <p:nvSpPr>
          <p:cNvPr id="6" name="TextBox 5"/>
          <p:cNvSpPr txBox="1"/>
          <p:nvPr/>
        </p:nvSpPr>
        <p:spPr>
          <a:xfrm>
            <a:off x="4572000" y="2377440"/>
            <a:ext cx="3200400" cy="2743200"/>
          </a:xfrm>
          <a:prstGeom prst="rect">
            <a:avLst/>
          </a:prstGeom>
          <a:noFill/>
        </p:spPr>
        <p:txBody>
          <a:bodyPr wrap="square">
            <a:spAutoFit/>
          </a:bodyPr>
          <a:lstStyle/>
          <a:p>
            <a:pPr algn="l">
              <a:defRPr sz="1600" b="0" i="0">
                <a:solidFill>
                  <a:srgbClr val="888888"/>
                </a:solidFill>
                <a:latin typeface="Arial"/>
              </a:defRPr>
            </a:pPr>
            <a:r>
              <a:t>•  AI systems firm for ambitious teams</a:t>
            </a:r>
          </a:p>
          <a:p>
            <a:pPr algn="l">
              <a:spcBef>
                <a:spcPts val="1000"/>
              </a:spcBef>
              <a:defRPr sz="1600" b="0" i="0">
                <a:solidFill>
                  <a:srgbClr val="888888"/>
                </a:solidFill>
                <a:latin typeface="Arial"/>
              </a:defRPr>
            </a:pPr>
            <a:r>
              <a:t>•  Australia founded and globally minded</a:t>
            </a:r>
          </a:p>
          <a:p>
            <a:pPr algn="l">
              <a:spcBef>
                <a:spcPts val="1000"/>
              </a:spcBef>
              <a:defRPr sz="1600" b="0" i="0">
                <a:solidFill>
                  <a:srgbClr val="888888"/>
                </a:solidFill>
                <a:latin typeface="Arial"/>
              </a:defRPr>
            </a:pPr>
            <a:r>
              <a:t>•  We build operating AI infrastructure across revenue, capacity &amp; AI security</a:t>
            </a:r>
          </a:p>
        </p:txBody>
      </p:sp>
      <p:sp>
        <p:nvSpPr>
          <p:cNvPr id="7" name="TextBox 6"/>
          <p:cNvSpPr txBox="1"/>
          <p:nvPr/>
        </p:nvSpPr>
        <p:spPr>
          <a:xfrm>
            <a:off x="8412480" y="1645920"/>
            <a:ext cx="3200400" cy="548640"/>
          </a:xfrm>
          <a:prstGeom prst="rect">
            <a:avLst/>
          </a:prstGeom>
          <a:noFill/>
        </p:spPr>
        <p:txBody>
          <a:bodyPr wrap="square">
            <a:spAutoFit/>
          </a:bodyPr>
          <a:lstStyle/>
          <a:p>
            <a:pPr algn="l">
              <a:defRPr sz="2800" b="1" i="0">
                <a:solidFill>
                  <a:srgbClr val="F5F5F5"/>
                </a:solidFill>
                <a:latin typeface="Arial"/>
              </a:defRPr>
            </a:pPr>
            <a:r>
              <a:t>Oligo Security</a:t>
            </a:r>
          </a:p>
        </p:txBody>
      </p:sp>
      <p:sp>
        <p:nvSpPr>
          <p:cNvPr id="8" name="TextBox 7"/>
          <p:cNvSpPr txBox="1"/>
          <p:nvPr/>
        </p:nvSpPr>
        <p:spPr>
          <a:xfrm>
            <a:off x="8412480" y="2377440"/>
            <a:ext cx="3200400" cy="2743200"/>
          </a:xfrm>
          <a:prstGeom prst="rect">
            <a:avLst/>
          </a:prstGeom>
          <a:noFill/>
        </p:spPr>
        <p:txBody>
          <a:bodyPr wrap="square">
            <a:spAutoFit/>
          </a:bodyPr>
          <a:lstStyle/>
          <a:p>
            <a:pPr algn="l">
              <a:defRPr sz="1600" b="0" i="0">
                <a:solidFill>
                  <a:srgbClr val="888888"/>
                </a:solidFill>
                <a:latin typeface="Arial"/>
              </a:defRPr>
            </a:pPr>
            <a:r>
              <a:t>•  Selected as runtime AI security vendor in AWS Security Hub</a:t>
            </a:r>
          </a:p>
          <a:p>
            <a:pPr algn="l">
              <a:spcBef>
                <a:spcPts val="1000"/>
              </a:spcBef>
              <a:defRPr sz="1600" b="0" i="0">
                <a:solidFill>
                  <a:srgbClr val="888888"/>
                </a:solidFill>
                <a:latin typeface="Arial"/>
              </a:defRPr>
            </a:pPr>
            <a:r>
              <a:t>•  Working with security leaders at APAC's largest companies</a:t>
            </a:r>
          </a:p>
        </p:txBody>
      </p:sp>
      <p:sp>
        <p:nvSpPr>
          <p:cNvPr id="9" name="TextBox 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0" name="TextBox 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1097280"/>
            <a:ext cx="7315200" cy="365760"/>
          </a:xfrm>
          <a:prstGeom prst="rect">
            <a:avLst/>
          </a:prstGeom>
          <a:noFill/>
        </p:spPr>
        <p:txBody>
          <a:bodyPr wrap="square">
            <a:spAutoFit/>
          </a:bodyPr>
          <a:lstStyle/>
          <a:p>
            <a:pPr algn="l">
              <a:defRPr sz="1300" b="1" i="0">
                <a:solidFill>
                  <a:srgbClr val="C81E1E"/>
                </a:solidFill>
                <a:latin typeface="Arial"/>
              </a:defRPr>
            </a:pPr>
            <a:r>
              <a:t>6:30 PM</a:t>
            </a:r>
          </a:p>
        </p:txBody>
      </p:sp>
      <p:sp>
        <p:nvSpPr>
          <p:cNvPr id="3" name="TextBox 2"/>
          <p:cNvSpPr txBox="1"/>
          <p:nvPr/>
        </p:nvSpPr>
        <p:spPr>
          <a:xfrm>
            <a:off x="731520" y="1828800"/>
            <a:ext cx="9144000" cy="914400"/>
          </a:xfrm>
          <a:prstGeom prst="rect">
            <a:avLst/>
          </a:prstGeom>
          <a:noFill/>
        </p:spPr>
        <p:txBody>
          <a:bodyPr wrap="square">
            <a:spAutoFit/>
          </a:bodyPr>
          <a:lstStyle/>
          <a:p>
            <a:pPr algn="l">
              <a:defRPr sz="6400" b="1" i="0">
                <a:solidFill>
                  <a:srgbClr val="F5F5F5"/>
                </a:solidFill>
                <a:latin typeface="Arial"/>
              </a:defRPr>
            </a:pPr>
            <a:r>
              <a:t>Money Round</a:t>
            </a:r>
          </a:p>
        </p:txBody>
      </p:sp>
      <p:sp>
        <p:nvSpPr>
          <p:cNvPr id="4" name="Rectangle 3"/>
          <p:cNvSpPr/>
          <p:nvPr/>
        </p:nvSpPr>
        <p:spPr>
          <a:xfrm>
            <a:off x="731520" y="29260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0"/>
            <a:ext cx="7315200" cy="457200"/>
          </a:xfrm>
          <a:prstGeom prst="rect">
            <a:avLst/>
          </a:prstGeom>
          <a:noFill/>
        </p:spPr>
        <p:txBody>
          <a:bodyPr wrap="square">
            <a:spAutoFit/>
          </a:bodyPr>
          <a:lstStyle/>
          <a:p>
            <a:pPr algn="l">
              <a:defRPr sz="2800" b="1" i="0">
                <a:solidFill>
                  <a:srgbClr val="F5F5F5"/>
                </a:solidFill>
                <a:latin typeface="Arial"/>
              </a:defRPr>
            </a:pPr>
            <a:r>
              <a:t>60-second intros</a:t>
            </a:r>
          </a:p>
        </p:txBody>
      </p:sp>
      <p:sp>
        <p:nvSpPr>
          <p:cNvPr id="6" name="TextBox 5"/>
          <p:cNvSpPr txBox="1"/>
          <p:nvPr/>
        </p:nvSpPr>
        <p:spPr>
          <a:xfrm>
            <a:off x="731520" y="3840480"/>
            <a:ext cx="9144000" cy="731520"/>
          </a:xfrm>
          <a:prstGeom prst="rect">
            <a:avLst/>
          </a:prstGeom>
          <a:noFill/>
        </p:spPr>
        <p:txBody>
          <a:bodyPr wrap="square">
            <a:spAutoFit/>
          </a:bodyPr>
          <a:lstStyle/>
          <a:p>
            <a:pPr algn="l">
              <a:defRPr sz="2000" b="0" i="0">
                <a:solidFill>
                  <a:srgbClr val="888888"/>
                </a:solidFill>
                <a:latin typeface="Arial"/>
              </a:defRPr>
            </a:pPr>
            <a:r>
              <a:t>One way AI made you money, saved you money,</a:t>
            </a:r>
            <a:br/>
            <a:r>
              <a:t>or saved you serious time. No pitches. Just results.</a:t>
            </a:r>
          </a:p>
        </p:txBody>
      </p:sp>
      <p:sp>
        <p:nvSpPr>
          <p:cNvPr id="7" name="Rounded Rectangle 6"/>
          <p:cNvSpPr/>
          <p:nvPr/>
        </p:nvSpPr>
        <p:spPr>
          <a:xfrm>
            <a:off x="731520" y="5029200"/>
            <a:ext cx="1645920" cy="109728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120640"/>
            <a:ext cx="1463040" cy="914400"/>
          </a:xfrm>
          <a:prstGeom prst="rect">
            <a:avLst/>
          </a:prstGeom>
          <a:noFill/>
        </p:spPr>
        <p:txBody>
          <a:bodyPr wrap="square">
            <a:spAutoFit/>
          </a:bodyPr>
          <a:lstStyle/>
          <a:p>
            <a:pPr algn="ctr">
              <a:defRPr sz="4000" b="1" i="0">
                <a:solidFill>
                  <a:srgbClr val="F5F5F5"/>
                </a:solidFill>
                <a:latin typeface="Arial"/>
              </a:defRPr>
            </a:pPr>
            <a:r>
              <a:t>60s</a:t>
            </a:r>
          </a:p>
          <a:p>
            <a:pPr algn="ctr">
              <a:defRPr sz="1100" b="0" i="0">
                <a:solidFill>
                  <a:srgbClr val="F5F5F5"/>
                </a:solidFill>
                <a:latin typeface="Arial"/>
              </a:defRPr>
            </a:pPr>
            <a:r>
              <a:t>PER PERSON</a:t>
            </a:r>
          </a:p>
        </p:txBody>
      </p:sp>
      <p:sp>
        <p:nvSpPr>
          <p:cNvPr id="9" name="Rounded Rectangle 8"/>
          <p:cNvSpPr/>
          <p:nvPr/>
        </p:nvSpPr>
        <p:spPr>
          <a:xfrm>
            <a:off x="2743200" y="5029200"/>
            <a:ext cx="32004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5120640"/>
            <a:ext cx="3017520" cy="914400"/>
          </a:xfrm>
          <a:prstGeom prst="rect">
            <a:avLst/>
          </a:prstGeom>
          <a:noFill/>
        </p:spPr>
        <p:txBody>
          <a:bodyPr wrap="square">
            <a:spAutoFit/>
          </a:bodyPr>
          <a:lstStyle/>
          <a:p>
            <a:pPr algn="ctr">
              <a:defRPr sz="3200" b="1" i="0">
                <a:solidFill>
                  <a:srgbClr val="F5F5F5"/>
                </a:solidFill>
                <a:latin typeface="Arial"/>
              </a:defRPr>
            </a:pPr>
            <a:r>
              <a:t>3 Parts</a:t>
            </a:r>
          </a:p>
          <a:p>
            <a:pPr algn="ctr">
              <a:defRPr sz="1300" b="0" i="0">
                <a:solidFill>
                  <a:srgbClr val="888888"/>
                </a:solidFill>
                <a:latin typeface="Arial"/>
              </a:defRPr>
            </a:pPr>
            <a:r>
              <a:t>Tool / Workflow / Result</a:t>
            </a:r>
          </a:p>
        </p:txBody>
      </p:sp>
      <p:sp>
        <p:nvSpPr>
          <p:cNvPr id="11" name="TextBox 10"/>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2" name="TextBox 11"/>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BEFORE WE START</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800" b="1" i="0">
                <a:solidFill>
                  <a:srgbClr val="F5F5F5"/>
                </a:solidFill>
                <a:latin typeface="Arial"/>
              </a:defRPr>
            </a:pPr>
            <a:r>
              <a:t>Jargon Buster</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058400" cy="548640"/>
          </a:xfrm>
          <a:prstGeom prst="rect">
            <a:avLst/>
          </a:prstGeom>
          <a:noFill/>
        </p:spPr>
        <p:txBody>
          <a:bodyPr wrap="square">
            <a:spAutoFit/>
          </a:bodyPr>
          <a:lstStyle/>
          <a:p>
            <a:pPr algn="l">
              <a:defRPr sz="1600" b="0" i="0">
                <a:solidFill>
                  <a:srgbClr val="AAAAAA"/>
                </a:solidFill>
                <a:latin typeface="Arial"/>
              </a:defRPr>
            </a:pPr>
            <a:r>
              <a:t>Five terms you will hear tonight. Lock these in first and the signals land harder.</a:t>
            </a:r>
          </a:p>
        </p:txBody>
      </p:sp>
      <p:sp>
        <p:nvSpPr>
          <p:cNvPr id="6" name="TextBox 5"/>
          <p:cNvSpPr txBox="1"/>
          <p:nvPr/>
        </p:nvSpPr>
        <p:spPr>
          <a:xfrm>
            <a:off x="731520" y="3090672"/>
            <a:ext cx="3474720" cy="566928"/>
          </a:xfrm>
          <a:prstGeom prst="rect">
            <a:avLst/>
          </a:prstGeom>
          <a:noFill/>
        </p:spPr>
        <p:txBody>
          <a:bodyPr wrap="square">
            <a:spAutoFit/>
          </a:bodyPr>
          <a:lstStyle/>
          <a:p>
            <a:pPr algn="l">
              <a:defRPr sz="1600" b="1" i="0">
                <a:solidFill>
                  <a:srgbClr val="C81E1E"/>
                </a:solidFill>
                <a:latin typeface="Arial"/>
              </a:defRPr>
            </a:pPr>
            <a:r>
              <a:t>Agent</a:t>
            </a:r>
          </a:p>
        </p:txBody>
      </p:sp>
      <p:sp>
        <p:nvSpPr>
          <p:cNvPr id="7" name="TextBox 6"/>
          <p:cNvSpPr txBox="1"/>
          <p:nvPr/>
        </p:nvSpPr>
        <p:spPr>
          <a:xfrm>
            <a:off x="4389120" y="3090672"/>
            <a:ext cx="7223760" cy="566928"/>
          </a:xfrm>
          <a:prstGeom prst="rect">
            <a:avLst/>
          </a:prstGeom>
          <a:noFill/>
        </p:spPr>
        <p:txBody>
          <a:bodyPr wrap="square">
            <a:spAutoFit/>
          </a:bodyPr>
          <a:lstStyle/>
          <a:p>
            <a:pPr algn="l">
              <a:defRPr sz="1400" b="0" i="0">
                <a:solidFill>
                  <a:srgbClr val="F5F5F5"/>
                </a:solidFill>
                <a:latin typeface="Arial"/>
              </a:defRPr>
            </a:pPr>
            <a:r>
              <a:t>AI that takes actions on your behalf, not just answers questions.</a:t>
            </a:r>
          </a:p>
        </p:txBody>
      </p:sp>
      <p:sp>
        <p:nvSpPr>
          <p:cNvPr id="8" name="Rectangle 7"/>
          <p:cNvSpPr/>
          <p:nvPr/>
        </p:nvSpPr>
        <p:spPr>
          <a:xfrm>
            <a:off x="731520" y="3566160"/>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657600"/>
            <a:ext cx="3474720" cy="566928"/>
          </a:xfrm>
          <a:prstGeom prst="rect">
            <a:avLst/>
          </a:prstGeom>
          <a:noFill/>
        </p:spPr>
        <p:txBody>
          <a:bodyPr wrap="square">
            <a:spAutoFit/>
          </a:bodyPr>
          <a:lstStyle/>
          <a:p>
            <a:pPr algn="l">
              <a:defRPr sz="1600" b="1" i="0">
                <a:solidFill>
                  <a:srgbClr val="C81E1E"/>
                </a:solidFill>
                <a:latin typeface="Arial"/>
              </a:defRPr>
            </a:pPr>
            <a:r>
              <a:t>Computer Use</a:t>
            </a:r>
          </a:p>
        </p:txBody>
      </p:sp>
      <p:sp>
        <p:nvSpPr>
          <p:cNvPr id="10" name="TextBox 9"/>
          <p:cNvSpPr txBox="1"/>
          <p:nvPr/>
        </p:nvSpPr>
        <p:spPr>
          <a:xfrm>
            <a:off x="4389120" y="3657600"/>
            <a:ext cx="7223760" cy="566928"/>
          </a:xfrm>
          <a:prstGeom prst="rect">
            <a:avLst/>
          </a:prstGeom>
          <a:noFill/>
        </p:spPr>
        <p:txBody>
          <a:bodyPr wrap="square">
            <a:spAutoFit/>
          </a:bodyPr>
          <a:lstStyle/>
          <a:p>
            <a:pPr algn="l">
              <a:defRPr sz="1400" b="0" i="0">
                <a:solidFill>
                  <a:srgbClr val="F5F5F5"/>
                </a:solidFill>
                <a:latin typeface="Arial"/>
              </a:defRPr>
            </a:pPr>
            <a:r>
              <a:t>An agent driving real apps on a screen, clicking and typing, not just calling an API.</a:t>
            </a:r>
          </a:p>
        </p:txBody>
      </p:sp>
      <p:sp>
        <p:nvSpPr>
          <p:cNvPr id="11" name="Rectangle 10"/>
          <p:cNvSpPr/>
          <p:nvPr/>
        </p:nvSpPr>
        <p:spPr>
          <a:xfrm>
            <a:off x="731520" y="4133088"/>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24528"/>
            <a:ext cx="3474720" cy="566928"/>
          </a:xfrm>
          <a:prstGeom prst="rect">
            <a:avLst/>
          </a:prstGeom>
          <a:noFill/>
        </p:spPr>
        <p:txBody>
          <a:bodyPr wrap="square">
            <a:spAutoFit/>
          </a:bodyPr>
          <a:lstStyle/>
          <a:p>
            <a:pPr algn="l">
              <a:defRPr sz="1600" b="1" i="0">
                <a:solidFill>
                  <a:srgbClr val="C81E1E"/>
                </a:solidFill>
                <a:latin typeface="Arial"/>
              </a:defRPr>
            </a:pPr>
            <a:r>
              <a:t>MCP  (Model Context Protocol)</a:t>
            </a:r>
          </a:p>
        </p:txBody>
      </p:sp>
      <p:sp>
        <p:nvSpPr>
          <p:cNvPr id="13" name="TextBox 12"/>
          <p:cNvSpPr txBox="1"/>
          <p:nvPr/>
        </p:nvSpPr>
        <p:spPr>
          <a:xfrm>
            <a:off x="4389120" y="4224528"/>
            <a:ext cx="7223760" cy="566928"/>
          </a:xfrm>
          <a:prstGeom prst="rect">
            <a:avLst/>
          </a:prstGeom>
          <a:noFill/>
        </p:spPr>
        <p:txBody>
          <a:bodyPr wrap="square">
            <a:spAutoFit/>
          </a:bodyPr>
          <a:lstStyle/>
          <a:p>
            <a:pPr algn="l">
              <a:defRPr sz="1400" b="0" i="0">
                <a:solidFill>
                  <a:srgbClr val="F5F5F5"/>
                </a:solidFill>
                <a:latin typeface="Arial"/>
              </a:defRPr>
            </a:pPr>
            <a:r>
              <a:t>The USB-C of AI tools. Lets agents plug into your systems in a standard way.</a:t>
            </a:r>
          </a:p>
        </p:txBody>
      </p:sp>
      <p:sp>
        <p:nvSpPr>
          <p:cNvPr id="14" name="Rectangle 13"/>
          <p:cNvSpPr/>
          <p:nvPr/>
        </p:nvSpPr>
        <p:spPr>
          <a:xfrm>
            <a:off x="731520" y="4700016"/>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791456"/>
            <a:ext cx="3474720" cy="566928"/>
          </a:xfrm>
          <a:prstGeom prst="rect">
            <a:avLst/>
          </a:prstGeom>
          <a:noFill/>
        </p:spPr>
        <p:txBody>
          <a:bodyPr wrap="square">
            <a:spAutoFit/>
          </a:bodyPr>
          <a:lstStyle/>
          <a:p>
            <a:pPr algn="l">
              <a:defRPr sz="1600" b="1" i="0">
                <a:solidFill>
                  <a:srgbClr val="C81E1E"/>
                </a:solidFill>
                <a:latin typeface="Arial"/>
              </a:defRPr>
            </a:pPr>
            <a:r>
              <a:t>MoE  (Mixture of Experts)</a:t>
            </a:r>
          </a:p>
        </p:txBody>
      </p:sp>
      <p:sp>
        <p:nvSpPr>
          <p:cNvPr id="16" name="TextBox 15"/>
          <p:cNvSpPr txBox="1"/>
          <p:nvPr/>
        </p:nvSpPr>
        <p:spPr>
          <a:xfrm>
            <a:off x="4389120" y="4791456"/>
            <a:ext cx="7223760" cy="566928"/>
          </a:xfrm>
          <a:prstGeom prst="rect">
            <a:avLst/>
          </a:prstGeom>
          <a:noFill/>
        </p:spPr>
        <p:txBody>
          <a:bodyPr wrap="square">
            <a:spAutoFit/>
          </a:bodyPr>
          <a:lstStyle/>
          <a:p>
            <a:pPr algn="l">
              <a:defRPr sz="1400" b="0" i="0">
                <a:solidFill>
                  <a:srgbClr val="F5F5F5"/>
                </a:solidFill>
                <a:latin typeface="Arial"/>
              </a:defRPr>
            </a:pPr>
            <a:r>
              <a:t>A model that routes each request to a slice of its parameters, cutting cost per call.</a:t>
            </a:r>
          </a:p>
        </p:txBody>
      </p:sp>
      <p:sp>
        <p:nvSpPr>
          <p:cNvPr id="17" name="Rectangle 16"/>
          <p:cNvSpPr/>
          <p:nvPr/>
        </p:nvSpPr>
        <p:spPr>
          <a:xfrm>
            <a:off x="731520" y="5266944"/>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358384"/>
            <a:ext cx="3474720" cy="566928"/>
          </a:xfrm>
          <a:prstGeom prst="rect">
            <a:avLst/>
          </a:prstGeom>
          <a:noFill/>
        </p:spPr>
        <p:txBody>
          <a:bodyPr wrap="square">
            <a:spAutoFit/>
          </a:bodyPr>
          <a:lstStyle/>
          <a:p>
            <a:pPr algn="l">
              <a:defRPr sz="1600" b="1" i="0">
                <a:solidFill>
                  <a:srgbClr val="C81E1E"/>
                </a:solidFill>
                <a:latin typeface="Arial"/>
              </a:defRPr>
            </a:pPr>
            <a:r>
              <a:t>S-1  /  Confidential IPO</a:t>
            </a:r>
          </a:p>
        </p:txBody>
      </p:sp>
      <p:sp>
        <p:nvSpPr>
          <p:cNvPr id="19" name="TextBox 18"/>
          <p:cNvSpPr txBox="1"/>
          <p:nvPr/>
        </p:nvSpPr>
        <p:spPr>
          <a:xfrm>
            <a:off x="4389120" y="5358384"/>
            <a:ext cx="7223760" cy="566928"/>
          </a:xfrm>
          <a:prstGeom prst="rect">
            <a:avLst/>
          </a:prstGeom>
          <a:noFill/>
        </p:spPr>
        <p:txBody>
          <a:bodyPr wrap="square">
            <a:spAutoFit/>
          </a:bodyPr>
          <a:lstStyle/>
          <a:p>
            <a:pPr algn="l">
              <a:defRPr sz="1400" b="0" i="0">
                <a:solidFill>
                  <a:srgbClr val="F5F5F5"/>
                </a:solidFill>
                <a:latin typeface="Arial"/>
              </a:defRPr>
            </a:pPr>
            <a:r>
              <a:t>The filing a company makes to sell shares publicly. Confidential keeps it private until close to listing.</a:t>
            </a:r>
          </a:p>
        </p:txBody>
      </p:sp>
      <p:sp>
        <p:nvSpPr>
          <p:cNvPr id="20" name="Rectangle 19"/>
          <p:cNvSpPr/>
          <p:nvPr/>
        </p:nvSpPr>
        <p:spPr>
          <a:xfrm>
            <a:off x="731520" y="5833872"/>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263640"/>
            <a:ext cx="10881360" cy="274320"/>
          </a:xfrm>
          <a:prstGeom prst="rect">
            <a:avLst/>
          </a:prstGeom>
          <a:noFill/>
        </p:spPr>
        <p:txBody>
          <a:bodyPr wrap="square">
            <a:spAutoFit/>
          </a:bodyPr>
          <a:lstStyle/>
          <a:p>
            <a:pPr algn="l">
              <a:defRPr sz="1300" b="0" i="1">
                <a:solidFill>
                  <a:srgbClr val="888888"/>
                </a:solidFill>
                <a:latin typeface="Arial"/>
              </a:defRPr>
            </a:pPr>
            <a:r>
              <a:t>If any of these feel fuzzy, find me at dinner. No dumb questions in this room.</a:t>
            </a:r>
          </a:p>
        </p:txBody>
      </p:sp>
      <p:sp>
        <p:nvSpPr>
          <p:cNvPr id="22" name="TextBox 21"/>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3" name="TextBox 22"/>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1097280"/>
            <a:ext cx="7315200" cy="365760"/>
          </a:xfrm>
          <a:prstGeom prst="rect">
            <a:avLst/>
          </a:prstGeom>
          <a:noFill/>
        </p:spPr>
        <p:txBody>
          <a:bodyPr wrap="square">
            <a:spAutoFit/>
          </a:bodyPr>
          <a:lstStyle/>
          <a:p>
            <a:pPr algn="l">
              <a:defRPr sz="1300" b="1" i="0">
                <a:solidFill>
                  <a:srgbClr val="C81E1E"/>
                </a:solidFill>
                <a:latin typeface="Arial"/>
              </a:defRPr>
            </a:pPr>
            <a:r>
              <a:t>7:00 PM — AI INTEL DROP</a:t>
            </a:r>
          </a:p>
        </p:txBody>
      </p:sp>
      <p:sp>
        <p:nvSpPr>
          <p:cNvPr id="3" name="TextBox 2"/>
          <p:cNvSpPr txBox="1"/>
          <p:nvPr/>
        </p:nvSpPr>
        <p:spPr>
          <a:xfrm>
            <a:off x="731520" y="2011680"/>
            <a:ext cx="9144000" cy="914400"/>
          </a:xfrm>
          <a:prstGeom prst="rect">
            <a:avLst/>
          </a:prstGeom>
          <a:noFill/>
        </p:spPr>
        <p:txBody>
          <a:bodyPr wrap="square">
            <a:spAutoFit/>
          </a:bodyPr>
          <a:lstStyle/>
          <a:p>
            <a:pPr algn="l">
              <a:defRPr sz="5400" b="1" i="0">
                <a:solidFill>
                  <a:srgbClr val="F5F5F5"/>
                </a:solidFill>
                <a:latin typeface="Arial"/>
              </a:defRPr>
            </a:pPr>
            <a:r>
              <a:t>This Week in AI</a:t>
            </a:r>
          </a:p>
        </p:txBody>
      </p:sp>
      <p:sp>
        <p:nvSpPr>
          <p:cNvPr id="4" name="Rectangle 3"/>
          <p:cNvSpPr/>
          <p:nvPr/>
        </p:nvSpPr>
        <p:spPr>
          <a:xfrm>
            <a:off x="731520" y="3108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474720"/>
            <a:ext cx="8229600" cy="731520"/>
          </a:xfrm>
          <a:prstGeom prst="rect">
            <a:avLst/>
          </a:prstGeom>
          <a:noFill/>
        </p:spPr>
        <p:txBody>
          <a:bodyPr wrap="square">
            <a:spAutoFit/>
          </a:bodyPr>
          <a:lstStyle/>
          <a:p>
            <a:pPr algn="l">
              <a:defRPr sz="2000" b="0" i="0">
                <a:solidFill>
                  <a:srgbClr val="888888"/>
                </a:solidFill>
                <a:latin typeface="Arial"/>
              </a:defRPr>
            </a:pPr>
            <a:r>
              <a:t>Five signals from the last seven days. What happened, and what it means for you.</a:t>
            </a:r>
            <a:br/>
            <a:r>
              <a:t>The theme this week: agents stop needing you in the room.</a:t>
            </a:r>
          </a:p>
        </p:txBody>
      </p:sp>
      <p:sp>
        <p:nvSpPr>
          <p:cNvPr id="6" name="Rounded Rectangle 5"/>
          <p:cNvSpPr/>
          <p:nvPr/>
        </p:nvSpPr>
        <p:spPr>
          <a:xfrm>
            <a:off x="1371600" y="4937760"/>
            <a:ext cx="2286000" cy="6400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5029200"/>
            <a:ext cx="2286000" cy="457200"/>
          </a:xfrm>
          <a:prstGeom prst="rect">
            <a:avLst/>
          </a:prstGeom>
          <a:noFill/>
        </p:spPr>
        <p:txBody>
          <a:bodyPr wrap="square">
            <a:spAutoFit/>
          </a:bodyPr>
          <a:lstStyle/>
          <a:p>
            <a:pPr algn="ctr">
              <a:defRPr sz="1400" b="1" i="0">
                <a:solidFill>
                  <a:srgbClr val="F5F5F5"/>
                </a:solidFill>
                <a:latin typeface="Arial"/>
              </a:defRPr>
            </a:pPr>
            <a:r>
              <a:t>50+ Sources</a:t>
            </a:r>
          </a:p>
        </p:txBody>
      </p:sp>
      <p:sp>
        <p:nvSpPr>
          <p:cNvPr id="8" name="TextBox 7"/>
          <p:cNvSpPr txBox="1"/>
          <p:nvPr/>
        </p:nvSpPr>
        <p:spPr>
          <a:xfrm>
            <a:off x="3840480" y="4983480"/>
            <a:ext cx="457200" cy="457200"/>
          </a:xfrm>
          <a:prstGeom prst="rect">
            <a:avLst/>
          </a:prstGeom>
          <a:noFill/>
        </p:spPr>
        <p:txBody>
          <a:bodyPr wrap="square">
            <a:spAutoFit/>
          </a:bodyPr>
          <a:lstStyle/>
          <a:p>
            <a:pPr algn="ctr">
              <a:defRPr sz="2800" b="0" i="0">
                <a:solidFill>
                  <a:srgbClr val="C81E1E"/>
                </a:solidFill>
                <a:latin typeface="Arial"/>
              </a:defRPr>
            </a:pPr>
            <a:r>
              <a:t>→</a:t>
            </a:r>
          </a:p>
        </p:txBody>
      </p:sp>
      <p:sp>
        <p:nvSpPr>
          <p:cNvPr id="9" name="Rounded Rectangle 8"/>
          <p:cNvSpPr/>
          <p:nvPr/>
        </p:nvSpPr>
        <p:spPr>
          <a:xfrm>
            <a:off x="4572000" y="4937760"/>
            <a:ext cx="2286000" cy="6400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5029200"/>
            <a:ext cx="2286000" cy="457200"/>
          </a:xfrm>
          <a:prstGeom prst="rect">
            <a:avLst/>
          </a:prstGeom>
          <a:noFill/>
        </p:spPr>
        <p:txBody>
          <a:bodyPr wrap="square">
            <a:spAutoFit/>
          </a:bodyPr>
          <a:lstStyle/>
          <a:p>
            <a:pPr algn="ctr">
              <a:defRPr sz="1400" b="1" i="0">
                <a:solidFill>
                  <a:srgbClr val="F5F5F5"/>
                </a:solidFill>
                <a:latin typeface="Arial"/>
              </a:defRPr>
            </a:pPr>
            <a:r>
              <a:t>Signal Scoring</a:t>
            </a:r>
          </a:p>
        </p:txBody>
      </p:sp>
      <p:sp>
        <p:nvSpPr>
          <p:cNvPr id="11" name="TextBox 10"/>
          <p:cNvSpPr txBox="1"/>
          <p:nvPr/>
        </p:nvSpPr>
        <p:spPr>
          <a:xfrm>
            <a:off x="7040880" y="4983480"/>
            <a:ext cx="457200" cy="457200"/>
          </a:xfrm>
          <a:prstGeom prst="rect">
            <a:avLst/>
          </a:prstGeom>
          <a:noFill/>
        </p:spPr>
        <p:txBody>
          <a:bodyPr wrap="square">
            <a:spAutoFit/>
          </a:bodyPr>
          <a:lstStyle/>
          <a:p>
            <a:pPr algn="ctr">
              <a:defRPr sz="2800" b="0" i="0">
                <a:solidFill>
                  <a:srgbClr val="C81E1E"/>
                </a:solidFill>
                <a:latin typeface="Arial"/>
              </a:defRPr>
            </a:pPr>
            <a:r>
              <a:t>→</a:t>
            </a:r>
          </a:p>
        </p:txBody>
      </p:sp>
      <p:sp>
        <p:nvSpPr>
          <p:cNvPr id="12" name="Rounded Rectangle 11"/>
          <p:cNvSpPr/>
          <p:nvPr/>
        </p:nvSpPr>
        <p:spPr>
          <a:xfrm>
            <a:off x="7772400" y="4937760"/>
            <a:ext cx="2286000" cy="6400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5029200"/>
            <a:ext cx="2286000" cy="457200"/>
          </a:xfrm>
          <a:prstGeom prst="rect">
            <a:avLst/>
          </a:prstGeom>
          <a:noFill/>
        </p:spPr>
        <p:txBody>
          <a:bodyPr wrap="square">
            <a:spAutoFit/>
          </a:bodyPr>
          <a:lstStyle/>
          <a:p>
            <a:pPr algn="ctr">
              <a:defRPr sz="1400" b="1" i="0">
                <a:solidFill>
                  <a:srgbClr val="F5F5F5"/>
                </a:solidFill>
                <a:latin typeface="Arial"/>
              </a:defRPr>
            </a:pPr>
            <a:r>
              <a:t>Top 5 Tonight</a:t>
            </a:r>
          </a:p>
        </p:txBody>
      </p:sp>
      <p:sp>
        <p:nvSpPr>
          <p:cNvPr id="14" name="TextBox 1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5" name="TextBox 1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01</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400" b="1" i="0">
                <a:solidFill>
                  <a:srgbClr val="F5F5F5"/>
                </a:solidFill>
                <a:latin typeface="Arial"/>
              </a:defRPr>
            </a:pPr>
            <a:r>
              <a:t>Google Launches</a:t>
            </a:r>
            <a:br/>
            <a:r>
              <a:t>Gemini Spark</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Google's first 24/7 personal AI agent. It runs on Google Cloud virtual machines and keeps working when your device is off. Built on Gemini 3.5 Flash and the Antigravity harness, it is structured around Tasks, Skills, and Schedules, with native Workspace and MCP support.</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ANNOUNCED GOOGLE I/O 20 MAY 2026  ·  BETA FROM 25 MAY</a:t>
            </a:r>
          </a:p>
        </p:txBody>
      </p:sp>
      <p:sp>
        <p:nvSpPr>
          <p:cNvPr id="7" name="Rounded Rectangle 6"/>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Always-on agents just became a consumer subscription, not an enterprise pilot. The bottleneck is no longer cost or access, it is workflow design. The win is specifying the recurring, low-judgement work worth running overnight.</a:t>
            </a:r>
          </a:p>
        </p:txBody>
      </p:sp>
      <p:sp>
        <p:nvSpPr>
          <p:cNvPr id="10" name="Rounded Rectangle 9"/>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24 / 7</a:t>
            </a:r>
          </a:p>
          <a:p>
            <a:pPr algn="l">
              <a:spcBef>
                <a:spcPts val="600"/>
              </a:spcBef>
              <a:defRPr sz="1200" b="0" i="0">
                <a:solidFill>
                  <a:srgbClr val="AAAAAA"/>
                </a:solidFill>
                <a:latin typeface="Arial"/>
              </a:defRPr>
            </a:pPr>
            <a:r>
              <a:t>Keeps running when your device is off</a:t>
            </a:r>
          </a:p>
        </p:txBody>
      </p:sp>
      <p:sp>
        <p:nvSpPr>
          <p:cNvPr id="12" name="Rounded Rectangle 11"/>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MCP</a:t>
            </a:r>
          </a:p>
          <a:p>
            <a:pPr algn="l">
              <a:spcBef>
                <a:spcPts val="600"/>
              </a:spcBef>
              <a:defRPr sz="1200" b="0" i="0">
                <a:solidFill>
                  <a:srgbClr val="AAAAAA"/>
                </a:solidFill>
                <a:latin typeface="Arial"/>
              </a:defRPr>
            </a:pPr>
            <a:r>
              <a:t>Canva, OpenTable, Instacart at launch</a:t>
            </a:r>
          </a:p>
        </p:txBody>
      </p:sp>
      <p:sp>
        <p:nvSpPr>
          <p:cNvPr id="14" name="Rounded Rectangle 13"/>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Tasks / Skills / Schedules</a:t>
            </a:r>
          </a:p>
          <a:p>
            <a:pPr algn="l">
              <a:spcBef>
                <a:spcPts val="600"/>
              </a:spcBef>
              <a:defRPr sz="1200" b="0" i="0">
                <a:solidFill>
                  <a:srgbClr val="AAAAAA"/>
                </a:solidFill>
                <a:latin typeface="Arial"/>
              </a:defRPr>
            </a:pPr>
            <a:r>
              <a:t>Not just chat, a recurring operations layer</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02</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800" b="1" i="0">
                <a:solidFill>
                  <a:srgbClr val="F5F5F5"/>
                </a:solidFill>
                <a:latin typeface="Arial"/>
              </a:defRPr>
            </a:pPr>
            <a:r>
              <a:t>Cursor Composer 2.5</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Cursor's new coding model is built on Moonshot's open Kimi K2.5, a roughly 1 trillion parameter Mixture-of-Experts base. It matches Claude Opus 4.7 and GPT-5.5 on coding benchmarks at roughly one-tenth of the cost per task.</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18 MAY 2026</a:t>
            </a:r>
          </a:p>
        </p:txBody>
      </p:sp>
      <p:sp>
        <p:nvSpPr>
          <p:cNvPr id="7" name="Rounded Rectangle 6"/>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Frontier-grade coding is now a tenth of what it cost months ago. If your build budget assumed Opus-tier pricing, re-cost it. Open-weight bases plus targeted post-training are closing the gap fast.</a:t>
            </a:r>
          </a:p>
        </p:txBody>
      </p:sp>
      <p:sp>
        <p:nvSpPr>
          <p:cNvPr id="10" name="Rounded Rectangle 9"/>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1 / 10</a:t>
            </a:r>
          </a:p>
          <a:p>
            <a:pPr algn="l">
              <a:spcBef>
                <a:spcPts val="600"/>
              </a:spcBef>
              <a:defRPr sz="1200" b="0" i="0">
                <a:solidFill>
                  <a:srgbClr val="AAAAAA"/>
                </a:solidFill>
                <a:latin typeface="Arial"/>
              </a:defRPr>
            </a:pPr>
            <a:r>
              <a:t>Cost per task vs Opus 4.7</a:t>
            </a:r>
          </a:p>
        </p:txBody>
      </p:sp>
      <p:sp>
        <p:nvSpPr>
          <p:cNvPr id="12" name="Rounded Rectangle 11"/>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79.8%</a:t>
            </a:r>
          </a:p>
          <a:p>
            <a:pPr algn="l">
              <a:spcBef>
                <a:spcPts val="600"/>
              </a:spcBef>
              <a:defRPr sz="1200" b="0" i="0">
                <a:solidFill>
                  <a:srgbClr val="AAAAAA"/>
                </a:solidFill>
                <a:latin typeface="Arial"/>
              </a:defRPr>
            </a:pPr>
            <a:r>
              <a:t>SWE-Bench Multilingual</a:t>
            </a:r>
          </a:p>
        </p:txBody>
      </p:sp>
      <p:sp>
        <p:nvSpPr>
          <p:cNvPr id="14" name="Rounded Rectangle 13"/>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$0.50</a:t>
            </a:r>
          </a:p>
          <a:p>
            <a:pPr algn="l">
              <a:spcBef>
                <a:spcPts val="600"/>
              </a:spcBef>
              <a:defRPr sz="1200" b="0" i="0">
                <a:solidFill>
                  <a:srgbClr val="AAAAAA"/>
                </a:solidFill>
                <a:latin typeface="Arial"/>
              </a:defRPr>
            </a:pPr>
            <a:r>
              <a:t>Per million input tokens</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03</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000" b="1" i="0">
                <a:solidFill>
                  <a:srgbClr val="F5F5F5"/>
                </a:solidFill>
                <a:latin typeface="Arial"/>
              </a:defRPr>
            </a:pPr>
            <a:r>
              <a:t>Claude Agents Move</a:t>
            </a:r>
            <a:br/>
            <a:r>
              <a:t>Inside Your Perimeter</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At Code with Claude London, Anthropic shipped self-hosted sandboxes and MCP tunnels for Claude Managed Agents. Tool execution and private MCP servers stay inside your own network. The orchestration loop stays with Anthropic. No public endpoints, no inbound firewall rules.</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19 MAY 2026  ·  CODE WITH CLAUDE LONDON</a:t>
            </a:r>
          </a:p>
        </p:txBody>
      </p:sp>
      <p:sp>
        <p:nvSpPr>
          <p:cNvPr id="7" name="Rounded Rectangle 6"/>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The 'we cannot use agents because of data exposure' objection just weakened. Agents can reach internal databases and APIs through one outbound connection. Map which internal workflows are now safe to automate.</a:t>
            </a:r>
          </a:p>
        </p:txBody>
      </p:sp>
      <p:sp>
        <p:nvSpPr>
          <p:cNvPr id="10" name="Rounded Rectangle 9"/>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Self-hosted</a:t>
            </a:r>
          </a:p>
          <a:p>
            <a:pPr algn="l">
              <a:spcBef>
                <a:spcPts val="600"/>
              </a:spcBef>
              <a:defRPr sz="1200" b="0" i="0">
                <a:solidFill>
                  <a:srgbClr val="AAAAAA"/>
                </a:solidFill>
                <a:latin typeface="Arial"/>
              </a:defRPr>
            </a:pPr>
            <a:r>
              <a:t>Sandboxes, public beta</a:t>
            </a:r>
          </a:p>
        </p:txBody>
      </p:sp>
      <p:sp>
        <p:nvSpPr>
          <p:cNvPr id="12" name="Rounded Rectangle 11"/>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MCP Tunnels</a:t>
            </a:r>
          </a:p>
          <a:p>
            <a:pPr algn="l">
              <a:spcBef>
                <a:spcPts val="600"/>
              </a:spcBef>
              <a:defRPr sz="1200" b="0" i="0">
                <a:solidFill>
                  <a:srgbClr val="AAAAAA"/>
                </a:solidFill>
                <a:latin typeface="Arial"/>
              </a:defRPr>
            </a:pPr>
            <a:r>
              <a:t>Reach private servers, research preview</a:t>
            </a:r>
          </a:p>
        </p:txBody>
      </p:sp>
      <p:sp>
        <p:nvSpPr>
          <p:cNvPr id="14" name="Rounded Rectangle 13"/>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0</a:t>
            </a:r>
          </a:p>
          <a:p>
            <a:pPr algn="l">
              <a:spcBef>
                <a:spcPts val="600"/>
              </a:spcBef>
              <a:defRPr sz="1200" b="0" i="0">
                <a:solidFill>
                  <a:srgbClr val="AAAAAA"/>
                </a:solidFill>
                <a:latin typeface="Arial"/>
              </a:defRPr>
            </a:pPr>
            <a:r>
              <a:t>Inbound firewall rules required</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04</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000" b="1" i="0">
                <a:solidFill>
                  <a:srgbClr val="F5F5F5"/>
                </a:solidFill>
                <a:latin typeface="Arial"/>
              </a:defRPr>
            </a:pPr>
            <a:r>
              <a:t>OpenAI Files</a:t>
            </a:r>
            <a:br/>
            <a:r>
              <a:t>Confidentially for IPO</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OpenAI filed a confidential S-1 with the SEC, targeting a public listing as early as September 2026 at a valuation between $852 billion and over $1 trillion. It would be the largest IPO in history. Annualised revenue is around $25 billion.</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22 MAY 2026</a:t>
            </a:r>
          </a:p>
        </p:txBody>
      </p:sp>
      <p:sp>
        <p:nvSpPr>
          <p:cNvPr id="7" name="Rounded Rectangle 6"/>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The market is pricing AI as durable infrastructure, not a bubble to wait out. Capital and competition will intensify, not slow. Build on the assumption that these tools keep getting better and cheaper.</a:t>
            </a:r>
          </a:p>
        </p:txBody>
      </p:sp>
      <p:sp>
        <p:nvSpPr>
          <p:cNvPr id="10" name="Rounded Rectangle 9"/>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$1T+</a:t>
            </a:r>
          </a:p>
          <a:p>
            <a:pPr algn="l">
              <a:spcBef>
                <a:spcPts val="600"/>
              </a:spcBef>
              <a:defRPr sz="1200" b="0" i="0">
                <a:solidFill>
                  <a:srgbClr val="AAAAAA"/>
                </a:solidFill>
                <a:latin typeface="Arial"/>
              </a:defRPr>
            </a:pPr>
            <a:r>
              <a:t>Target listing valuation</a:t>
            </a:r>
          </a:p>
        </p:txBody>
      </p:sp>
      <p:sp>
        <p:nvSpPr>
          <p:cNvPr id="12" name="Rounded Rectangle 11"/>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$25B</a:t>
            </a:r>
          </a:p>
          <a:p>
            <a:pPr algn="l">
              <a:spcBef>
                <a:spcPts val="600"/>
              </a:spcBef>
              <a:defRPr sz="1200" b="0" i="0">
                <a:solidFill>
                  <a:srgbClr val="AAAAAA"/>
                </a:solidFill>
                <a:latin typeface="Arial"/>
              </a:defRPr>
            </a:pPr>
            <a:r>
              <a:t>Annualised revenue</a:t>
            </a:r>
          </a:p>
        </p:txBody>
      </p:sp>
      <p:sp>
        <p:nvSpPr>
          <p:cNvPr id="14" name="Rounded Rectangle 13"/>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Sept 2026</a:t>
            </a:r>
          </a:p>
          <a:p>
            <a:pPr algn="l">
              <a:spcBef>
                <a:spcPts val="600"/>
              </a:spcBef>
              <a:defRPr sz="1200" b="0" i="0">
                <a:solidFill>
                  <a:srgbClr val="AAAAAA"/>
                </a:solidFill>
                <a:latin typeface="Arial"/>
              </a:defRPr>
            </a:pPr>
            <a:r>
              <a:t>Earliest listing window</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05</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400" b="1" i="0">
                <a:solidFill>
                  <a:srgbClr val="F5F5F5"/>
                </a:solidFill>
                <a:latin typeface="Arial"/>
              </a:defRPr>
            </a:pPr>
            <a:r>
              <a:t>Codex Becomes a</a:t>
            </a:r>
            <a:br/>
            <a:r>
              <a:t>Desktop Agent</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OpenAI Codex can now control desktop apps, watch your screen, and keep running after your Mac locks, driven remotely from Codex Mobile. Start a multi-hour refactor at your desk, walk away, and approve commits or answer the agent's questions from a restaurant.</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24 MAY 2026</a:t>
            </a:r>
          </a:p>
        </p:txBody>
      </p:sp>
      <p:sp>
        <p:nvSpPr>
          <p:cNvPr id="7" name="Rounded Rectangle 6"/>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The coding agent no longer needs you at the keyboard. Long-running build and refactor jobs run while you are at dinner, with your phone as the approval surface. The constraint shifts from hours at the desk to how well you can specify and supervise overnight work.</a:t>
            </a:r>
          </a:p>
        </p:txBody>
      </p:sp>
      <p:sp>
        <p:nvSpPr>
          <p:cNvPr id="10" name="Rounded Rectangle 9"/>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Locked-use</a:t>
            </a:r>
          </a:p>
          <a:p>
            <a:pPr algn="l">
              <a:spcBef>
                <a:spcPts val="600"/>
              </a:spcBef>
              <a:defRPr sz="1200" b="0" i="0">
                <a:solidFill>
                  <a:srgbClr val="AAAAAA"/>
                </a:solidFill>
                <a:latin typeface="Arial"/>
              </a:defRPr>
            </a:pPr>
            <a:r>
              <a:t>Works after your Mac locks</a:t>
            </a:r>
          </a:p>
        </p:txBody>
      </p:sp>
      <p:sp>
        <p:nvSpPr>
          <p:cNvPr id="12" name="Rounded Rectangle 11"/>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Phone</a:t>
            </a:r>
          </a:p>
          <a:p>
            <a:pPr algn="l">
              <a:spcBef>
                <a:spcPts val="600"/>
              </a:spcBef>
              <a:defRPr sz="1200" b="0" i="0">
                <a:solidFill>
                  <a:srgbClr val="AAAAAA"/>
                </a:solidFill>
                <a:latin typeface="Arial"/>
              </a:defRPr>
            </a:pPr>
            <a:r>
              <a:t>Is now the control surface</a:t>
            </a:r>
          </a:p>
        </p:txBody>
      </p:sp>
      <p:sp>
        <p:nvSpPr>
          <p:cNvPr id="14" name="Rounded Rectangle 13"/>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Multi-hour</a:t>
            </a:r>
          </a:p>
          <a:p>
            <a:pPr algn="l">
              <a:spcBef>
                <a:spcPts val="600"/>
              </a:spcBef>
              <a:defRPr sz="1200" b="0" i="0">
                <a:solidFill>
                  <a:srgbClr val="AAAAAA"/>
                </a:solidFill>
                <a:latin typeface="Arial"/>
              </a:defRPr>
            </a:pPr>
            <a:r>
              <a:t>Tasks run unattended</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ACTION OF THE WEEK</a:t>
            </a:r>
          </a:p>
        </p:txBody>
      </p:sp>
      <p:sp>
        <p:nvSpPr>
          <p:cNvPr id="3" name="TextBox 2"/>
          <p:cNvSpPr txBox="1"/>
          <p:nvPr/>
        </p:nvSpPr>
        <p:spPr>
          <a:xfrm>
            <a:off x="731520" y="1005840"/>
            <a:ext cx="9144000" cy="914400"/>
          </a:xfrm>
          <a:prstGeom prst="rect">
            <a:avLst/>
          </a:prstGeom>
          <a:noFill/>
        </p:spPr>
        <p:txBody>
          <a:bodyPr wrap="square">
            <a:spAutoFit/>
          </a:bodyPr>
          <a:lstStyle/>
          <a:p>
            <a:pPr algn="l">
              <a:defRPr sz="3800" b="1" i="0">
                <a:solidFill>
                  <a:srgbClr val="F5F5F5"/>
                </a:solidFill>
                <a:latin typeface="Arial"/>
              </a:defRPr>
            </a:pPr>
            <a:r>
              <a:t>Hand One Recurring Task to an Agent</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8503920" cy="914400"/>
          </a:xfrm>
          <a:prstGeom prst="rect">
            <a:avLst/>
          </a:prstGeom>
          <a:noFill/>
        </p:spPr>
        <p:txBody>
          <a:bodyPr wrap="square">
            <a:spAutoFit/>
          </a:bodyPr>
          <a:lstStyle/>
          <a:p>
            <a:pPr algn="l">
              <a:defRPr sz="1500" b="0" i="0">
                <a:solidFill>
                  <a:srgbClr val="AAAAAA"/>
                </a:solidFill>
                <a:latin typeface="Arial"/>
              </a:defRPr>
            </a:pPr>
            <a:r>
              <a:t>Every signal tonight points the same way: agents run while you are away. The highest-leverage move before next Wednesday is to ship one. Ten minutes to set up.</a:t>
            </a:r>
          </a:p>
        </p:txBody>
      </p:sp>
      <p:sp>
        <p:nvSpPr>
          <p:cNvPr id="6" name="Rounded Rectangle 5"/>
          <p:cNvSpPr/>
          <p:nvPr/>
        </p:nvSpPr>
        <p:spPr>
          <a:xfrm>
            <a:off x="9601200" y="1097280"/>
            <a:ext cx="2194560" cy="164592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1417320"/>
            <a:ext cx="2194560" cy="1280160"/>
          </a:xfrm>
          <a:prstGeom prst="rect">
            <a:avLst/>
          </a:prstGeom>
          <a:noFill/>
        </p:spPr>
        <p:txBody>
          <a:bodyPr wrap="square">
            <a:spAutoFit/>
          </a:bodyPr>
          <a:lstStyle/>
          <a:p>
            <a:pPr algn="ctr">
              <a:defRPr sz="5600" b="1" i="0">
                <a:solidFill>
                  <a:srgbClr val="F5F5F5"/>
                </a:solidFill>
                <a:latin typeface="Arial"/>
              </a:defRPr>
            </a:pPr>
            <a:r>
              <a:t>10</a:t>
            </a:r>
          </a:p>
          <a:p>
            <a:pPr algn="ctr">
              <a:spcBef>
                <a:spcPts val="200"/>
              </a:spcBef>
              <a:defRPr sz="1600" b="1" i="0">
                <a:solidFill>
                  <a:srgbClr val="F5F5F5"/>
                </a:solidFill>
                <a:latin typeface="Arial"/>
              </a:defRPr>
            </a:pPr>
            <a:r>
              <a:t>MINUTES</a:t>
            </a:r>
          </a:p>
          <a:p>
            <a:pPr algn="ctr">
              <a:spcBef>
                <a:spcPts val="600"/>
              </a:spcBef>
              <a:defRPr sz="1000" b="0" i="0">
                <a:solidFill>
                  <a:srgbClr val="F5F5F5"/>
                </a:solidFill>
                <a:latin typeface="Arial"/>
              </a:defRPr>
            </a:pPr>
            <a:r>
              <a:t>To set up the first run</a:t>
            </a:r>
          </a:p>
        </p:txBody>
      </p:sp>
      <p:sp>
        <p:nvSpPr>
          <p:cNvPr id="8" name="Rounded Rectangle 7"/>
          <p:cNvSpPr/>
          <p:nvPr/>
        </p:nvSpPr>
        <p:spPr>
          <a:xfrm>
            <a:off x="54864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39312"/>
            <a:ext cx="548640" cy="457200"/>
          </a:xfrm>
          <a:prstGeom prst="rect">
            <a:avLst/>
          </a:prstGeom>
          <a:noFill/>
        </p:spPr>
        <p:txBody>
          <a:bodyPr wrap="square">
            <a:spAutoFit/>
          </a:bodyPr>
          <a:lstStyle/>
          <a:p>
            <a:pPr algn="ctr">
              <a:defRPr sz="1500" b="1" i="0">
                <a:solidFill>
                  <a:srgbClr val="F5F5F5"/>
                </a:solidFill>
                <a:latin typeface="Arial"/>
              </a:defRPr>
            </a:pPr>
            <a:r>
              <a:t>01</a:t>
            </a:r>
          </a:p>
        </p:txBody>
      </p:sp>
      <p:sp>
        <p:nvSpPr>
          <p:cNvPr id="11" name="TextBox 10"/>
          <p:cNvSpPr txBox="1"/>
          <p:nvPr/>
        </p:nvSpPr>
        <p:spPr>
          <a:xfrm>
            <a:off x="1463040" y="3639312"/>
            <a:ext cx="1691640" cy="411480"/>
          </a:xfrm>
          <a:prstGeom prst="rect">
            <a:avLst/>
          </a:prstGeom>
          <a:noFill/>
        </p:spPr>
        <p:txBody>
          <a:bodyPr wrap="square">
            <a:spAutoFit/>
          </a:bodyPr>
          <a:lstStyle/>
          <a:p>
            <a:pPr algn="l">
              <a:defRPr sz="1800" b="1" i="0">
                <a:solidFill>
                  <a:srgbClr val="F5F5F5"/>
                </a:solidFill>
                <a:latin typeface="Arial"/>
              </a:defRPr>
            </a:pPr>
            <a:r>
              <a:t>Pick</a:t>
            </a:r>
          </a:p>
        </p:txBody>
      </p:sp>
      <p:sp>
        <p:nvSpPr>
          <p:cNvPr id="12" name="TextBox 11"/>
          <p:cNvSpPr txBox="1"/>
          <p:nvPr/>
        </p:nvSpPr>
        <p:spPr>
          <a:xfrm>
            <a:off x="822960" y="4251960"/>
            <a:ext cx="2240280" cy="640080"/>
          </a:xfrm>
          <a:prstGeom prst="rect">
            <a:avLst/>
          </a:prstGeom>
          <a:noFill/>
        </p:spPr>
        <p:txBody>
          <a:bodyPr wrap="square">
            <a:spAutoFit/>
          </a:bodyPr>
          <a:lstStyle/>
          <a:p>
            <a:pPr algn="l">
              <a:defRPr sz="1200" b="0" i="0">
                <a:solidFill>
                  <a:srgbClr val="AAAAAA"/>
                </a:solidFill>
                <a:latin typeface="Arial"/>
              </a:defRPr>
            </a:pPr>
            <a:r>
              <a:t>One recurring, low-judgement job: inbox triage, a research digest, PR review</a:t>
            </a:r>
          </a:p>
        </p:txBody>
      </p:sp>
      <p:sp>
        <p:nvSpPr>
          <p:cNvPr id="13" name="TextBox 12"/>
          <p:cNvSpPr txBox="1"/>
          <p:nvPr/>
        </p:nvSpPr>
        <p:spPr>
          <a:xfrm>
            <a:off x="320497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14" name="Rounded Rectangle 13"/>
          <p:cNvSpPr/>
          <p:nvPr/>
        </p:nvSpPr>
        <p:spPr>
          <a:xfrm>
            <a:off x="333756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1188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3639312"/>
            <a:ext cx="548640" cy="457200"/>
          </a:xfrm>
          <a:prstGeom prst="rect">
            <a:avLst/>
          </a:prstGeom>
          <a:noFill/>
        </p:spPr>
        <p:txBody>
          <a:bodyPr wrap="square">
            <a:spAutoFit/>
          </a:bodyPr>
          <a:lstStyle/>
          <a:p>
            <a:pPr algn="ctr">
              <a:defRPr sz="1500" b="1" i="0">
                <a:solidFill>
                  <a:srgbClr val="F5F5F5"/>
                </a:solidFill>
                <a:latin typeface="Arial"/>
              </a:defRPr>
            </a:pPr>
            <a:r>
              <a:t>02</a:t>
            </a:r>
          </a:p>
        </p:txBody>
      </p:sp>
      <p:sp>
        <p:nvSpPr>
          <p:cNvPr id="17" name="TextBox 16"/>
          <p:cNvSpPr txBox="1"/>
          <p:nvPr/>
        </p:nvSpPr>
        <p:spPr>
          <a:xfrm>
            <a:off x="4251960" y="3639312"/>
            <a:ext cx="1691640" cy="411480"/>
          </a:xfrm>
          <a:prstGeom prst="rect">
            <a:avLst/>
          </a:prstGeom>
          <a:noFill/>
        </p:spPr>
        <p:txBody>
          <a:bodyPr wrap="square">
            <a:spAutoFit/>
          </a:bodyPr>
          <a:lstStyle/>
          <a:p>
            <a:pPr algn="l">
              <a:defRPr sz="1800" b="1" i="0">
                <a:solidFill>
                  <a:srgbClr val="F5F5F5"/>
                </a:solidFill>
                <a:latin typeface="Arial"/>
              </a:defRPr>
            </a:pPr>
            <a:r>
              <a:t>Spec</a:t>
            </a:r>
          </a:p>
        </p:txBody>
      </p:sp>
      <p:sp>
        <p:nvSpPr>
          <p:cNvPr id="18" name="TextBox 17"/>
          <p:cNvSpPr txBox="1"/>
          <p:nvPr/>
        </p:nvSpPr>
        <p:spPr>
          <a:xfrm>
            <a:off x="3611880" y="4251960"/>
            <a:ext cx="2240280" cy="640080"/>
          </a:xfrm>
          <a:prstGeom prst="rect">
            <a:avLst/>
          </a:prstGeom>
          <a:noFill/>
        </p:spPr>
        <p:txBody>
          <a:bodyPr wrap="square">
            <a:spAutoFit/>
          </a:bodyPr>
          <a:lstStyle/>
          <a:p>
            <a:pPr algn="l">
              <a:defRPr sz="1200" b="0" i="0">
                <a:solidFill>
                  <a:srgbClr val="AAAAAA"/>
                </a:solidFill>
                <a:latin typeface="Arial"/>
              </a:defRPr>
            </a:pPr>
            <a:r>
              <a:t>Write the inputs, the steps, and what 'done' looks like in plain language</a:t>
            </a:r>
          </a:p>
        </p:txBody>
      </p:sp>
      <p:sp>
        <p:nvSpPr>
          <p:cNvPr id="19" name="TextBox 18"/>
          <p:cNvSpPr txBox="1"/>
          <p:nvPr/>
        </p:nvSpPr>
        <p:spPr>
          <a:xfrm>
            <a:off x="599389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20" name="Rounded Rectangle 19"/>
          <p:cNvSpPr/>
          <p:nvPr/>
        </p:nvSpPr>
        <p:spPr>
          <a:xfrm>
            <a:off x="612648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080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639312"/>
            <a:ext cx="548640" cy="457200"/>
          </a:xfrm>
          <a:prstGeom prst="rect">
            <a:avLst/>
          </a:prstGeom>
          <a:noFill/>
        </p:spPr>
        <p:txBody>
          <a:bodyPr wrap="square">
            <a:spAutoFit/>
          </a:bodyPr>
          <a:lstStyle/>
          <a:p>
            <a:pPr algn="ctr">
              <a:defRPr sz="1500" b="1" i="0">
                <a:solidFill>
                  <a:srgbClr val="F5F5F5"/>
                </a:solidFill>
                <a:latin typeface="Arial"/>
              </a:defRPr>
            </a:pPr>
            <a:r>
              <a:t>03</a:t>
            </a:r>
          </a:p>
        </p:txBody>
      </p:sp>
      <p:sp>
        <p:nvSpPr>
          <p:cNvPr id="23" name="TextBox 22"/>
          <p:cNvSpPr txBox="1"/>
          <p:nvPr/>
        </p:nvSpPr>
        <p:spPr>
          <a:xfrm>
            <a:off x="7040880" y="3639312"/>
            <a:ext cx="1691640" cy="411480"/>
          </a:xfrm>
          <a:prstGeom prst="rect">
            <a:avLst/>
          </a:prstGeom>
          <a:noFill/>
        </p:spPr>
        <p:txBody>
          <a:bodyPr wrap="square">
            <a:spAutoFit/>
          </a:bodyPr>
          <a:lstStyle/>
          <a:p>
            <a:pPr algn="l">
              <a:defRPr sz="1800" b="1" i="0">
                <a:solidFill>
                  <a:srgbClr val="F5F5F5"/>
                </a:solidFill>
                <a:latin typeface="Arial"/>
              </a:defRPr>
            </a:pPr>
            <a:r>
              <a:t>Run</a:t>
            </a:r>
          </a:p>
        </p:txBody>
      </p:sp>
      <p:sp>
        <p:nvSpPr>
          <p:cNvPr id="24" name="TextBox 23"/>
          <p:cNvSpPr txBox="1"/>
          <p:nvPr/>
        </p:nvSpPr>
        <p:spPr>
          <a:xfrm>
            <a:off x="6400800" y="4251960"/>
            <a:ext cx="2240280" cy="640080"/>
          </a:xfrm>
          <a:prstGeom prst="rect">
            <a:avLst/>
          </a:prstGeom>
          <a:noFill/>
        </p:spPr>
        <p:txBody>
          <a:bodyPr wrap="square">
            <a:spAutoFit/>
          </a:bodyPr>
          <a:lstStyle/>
          <a:p>
            <a:pPr algn="l">
              <a:defRPr sz="1200" b="0" i="0">
                <a:solidFill>
                  <a:srgbClr val="AAAAAA"/>
                </a:solidFill>
                <a:latin typeface="Arial"/>
              </a:defRPr>
            </a:pPr>
            <a:r>
              <a:t>Execute once with you watching. Correct it. Save it as a Skill or prompt</a:t>
            </a:r>
          </a:p>
        </p:txBody>
      </p:sp>
      <p:sp>
        <p:nvSpPr>
          <p:cNvPr id="25" name="TextBox 24"/>
          <p:cNvSpPr txBox="1"/>
          <p:nvPr/>
        </p:nvSpPr>
        <p:spPr>
          <a:xfrm>
            <a:off x="878281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26" name="Rounded Rectangle 25"/>
          <p:cNvSpPr/>
          <p:nvPr/>
        </p:nvSpPr>
        <p:spPr>
          <a:xfrm>
            <a:off x="891540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8972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9720" y="3639312"/>
            <a:ext cx="548640" cy="457200"/>
          </a:xfrm>
          <a:prstGeom prst="rect">
            <a:avLst/>
          </a:prstGeom>
          <a:noFill/>
        </p:spPr>
        <p:txBody>
          <a:bodyPr wrap="square">
            <a:spAutoFit/>
          </a:bodyPr>
          <a:lstStyle/>
          <a:p>
            <a:pPr algn="ctr">
              <a:defRPr sz="1500" b="1" i="0">
                <a:solidFill>
                  <a:srgbClr val="F5F5F5"/>
                </a:solidFill>
                <a:latin typeface="Arial"/>
              </a:defRPr>
            </a:pPr>
            <a:r>
              <a:t>04</a:t>
            </a:r>
          </a:p>
        </p:txBody>
      </p:sp>
      <p:sp>
        <p:nvSpPr>
          <p:cNvPr id="29" name="TextBox 28"/>
          <p:cNvSpPr txBox="1"/>
          <p:nvPr/>
        </p:nvSpPr>
        <p:spPr>
          <a:xfrm>
            <a:off x="9829800" y="3639312"/>
            <a:ext cx="1691640" cy="411480"/>
          </a:xfrm>
          <a:prstGeom prst="rect">
            <a:avLst/>
          </a:prstGeom>
          <a:noFill/>
        </p:spPr>
        <p:txBody>
          <a:bodyPr wrap="square">
            <a:spAutoFit/>
          </a:bodyPr>
          <a:lstStyle/>
          <a:p>
            <a:pPr algn="l">
              <a:defRPr sz="1800" b="1" i="0">
                <a:solidFill>
                  <a:srgbClr val="F5F5F5"/>
                </a:solidFill>
                <a:latin typeface="Arial"/>
              </a:defRPr>
            </a:pPr>
            <a:r>
              <a:t>Schedule</a:t>
            </a:r>
          </a:p>
        </p:txBody>
      </p:sp>
      <p:sp>
        <p:nvSpPr>
          <p:cNvPr id="30" name="TextBox 29"/>
          <p:cNvSpPr txBox="1"/>
          <p:nvPr/>
        </p:nvSpPr>
        <p:spPr>
          <a:xfrm>
            <a:off x="9189720" y="4251960"/>
            <a:ext cx="2240280" cy="640080"/>
          </a:xfrm>
          <a:prstGeom prst="rect">
            <a:avLst/>
          </a:prstGeom>
          <a:noFill/>
        </p:spPr>
        <p:txBody>
          <a:bodyPr wrap="square">
            <a:spAutoFit/>
          </a:bodyPr>
          <a:lstStyle/>
          <a:p>
            <a:pPr algn="l">
              <a:defRPr sz="1200" b="0" i="0">
                <a:solidFill>
                  <a:srgbClr val="AAAAAA"/>
                </a:solidFill>
                <a:latin typeface="Arial"/>
              </a:defRPr>
            </a:pPr>
            <a:r>
              <a:t>Hand it off: Gemini Spark, Codex cloud, or a Claude routine</a:t>
            </a:r>
          </a:p>
        </p:txBody>
      </p:sp>
      <p:sp>
        <p:nvSpPr>
          <p:cNvPr id="31" name="Rounded Rectangle 30"/>
          <p:cNvSpPr/>
          <p:nvPr/>
        </p:nvSpPr>
        <p:spPr>
          <a:xfrm>
            <a:off x="731520" y="5257800"/>
            <a:ext cx="10698480" cy="11430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5257800"/>
            <a:ext cx="50800" cy="11430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367528"/>
            <a:ext cx="10378440" cy="96012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The teams that win the next year are not the ones with the best model access. They are the ones who can specify recurring work clearly enough to hand it off. Start with one task this week. The muscle compounds.</a:t>
            </a:r>
          </a:p>
        </p:txBody>
      </p:sp>
      <p:sp>
        <p:nvSpPr>
          <p:cNvPr id="34" name="TextBox 3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35" name="TextBox 3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BY TIER</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000" b="1" i="0">
                <a:solidFill>
                  <a:srgbClr val="F5F5F5"/>
                </a:solidFill>
                <a:latin typeface="Arial"/>
              </a:defRPr>
            </a:pPr>
            <a:r>
              <a:t>What To Do With This Week's News</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548640"/>
          </a:xfrm>
          <a:prstGeom prst="rect">
            <a:avLst/>
          </a:prstGeom>
          <a:noFill/>
        </p:spPr>
        <p:txBody>
          <a:bodyPr wrap="square">
            <a:spAutoFit/>
          </a:bodyPr>
          <a:lstStyle/>
          <a:p>
            <a:pPr algn="l">
              <a:defRPr sz="1600" b="0" i="0">
                <a:solidFill>
                  <a:srgbClr val="AAAAAA"/>
                </a:solidFill>
                <a:latin typeface="Arial"/>
              </a:defRPr>
            </a:pPr>
            <a:r>
              <a:t>One action calibrated to where you are right now. Pick your column.</a:t>
            </a:r>
          </a:p>
        </p:txBody>
      </p:sp>
      <p:sp>
        <p:nvSpPr>
          <p:cNvPr id="6" name="Rounded Rectangle 5"/>
          <p:cNvSpPr/>
          <p:nvPr/>
        </p:nvSpPr>
        <p:spPr>
          <a:xfrm>
            <a:off x="45720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46120"/>
            <a:ext cx="3108960" cy="274320"/>
          </a:xfrm>
          <a:prstGeom prst="rect">
            <a:avLst/>
          </a:prstGeom>
          <a:noFill/>
        </p:spPr>
        <p:txBody>
          <a:bodyPr wrap="square">
            <a:spAutoFit/>
          </a:bodyPr>
          <a:lstStyle/>
          <a:p>
            <a:pPr algn="l">
              <a:defRPr sz="1200" b="1" i="0">
                <a:solidFill>
                  <a:srgbClr val="C81E1E"/>
                </a:solidFill>
                <a:latin typeface="Arial"/>
              </a:defRPr>
            </a:pPr>
            <a:r>
              <a:t>TIER 1, EXPLORER</a:t>
            </a:r>
          </a:p>
        </p:txBody>
      </p:sp>
      <p:sp>
        <p:nvSpPr>
          <p:cNvPr id="9" name="TextBox 8"/>
          <p:cNvSpPr txBox="1"/>
          <p:nvPr/>
        </p:nvSpPr>
        <p:spPr>
          <a:xfrm>
            <a:off x="731520" y="3611880"/>
            <a:ext cx="3108960" cy="548640"/>
          </a:xfrm>
          <a:prstGeom prst="rect">
            <a:avLst/>
          </a:prstGeom>
          <a:noFill/>
        </p:spPr>
        <p:txBody>
          <a:bodyPr wrap="square">
            <a:spAutoFit/>
          </a:bodyPr>
          <a:lstStyle/>
          <a:p>
            <a:pPr algn="l">
              <a:defRPr sz="2000" b="1" i="0">
                <a:solidFill>
                  <a:srgbClr val="F5F5F5"/>
                </a:solidFill>
                <a:latin typeface="Arial"/>
              </a:defRPr>
            </a:pPr>
            <a:r>
              <a:t>Try a hands-off agent</a:t>
            </a:r>
          </a:p>
        </p:txBody>
      </p:sp>
      <p:sp>
        <p:nvSpPr>
          <p:cNvPr id="10" name="TextBox 9"/>
          <p:cNvSpPr txBox="1"/>
          <p:nvPr/>
        </p:nvSpPr>
        <p:spPr>
          <a:xfrm>
            <a:off x="731520" y="4389120"/>
            <a:ext cx="3108960" cy="1645919"/>
          </a:xfrm>
          <a:prstGeom prst="rect">
            <a:avLst/>
          </a:prstGeom>
          <a:noFill/>
        </p:spPr>
        <p:txBody>
          <a:bodyPr wrap="square">
            <a:spAutoFit/>
          </a:bodyPr>
          <a:lstStyle/>
          <a:p>
            <a:pPr algn="l">
              <a:defRPr sz="1200" b="0" i="0">
                <a:solidFill>
                  <a:srgbClr val="AAAAAA"/>
                </a:solidFill>
                <a:latin typeface="Arial"/>
              </a:defRPr>
            </a:pPr>
            <a:r>
              <a:t>•  Open Gemini, Claude, or ChatGPT and give it one recurring task to do for you</a:t>
            </a:r>
            <a:br/>
            <a:br/>
            <a:r>
              <a:t>•  Ask it to draft your Monday inbox summary or a weekly research digest</a:t>
            </a:r>
            <a:br/>
            <a:br/>
            <a:r>
              <a:t>•  Notice what it gets right and where you had to step in</a:t>
            </a:r>
          </a:p>
        </p:txBody>
      </p:sp>
      <p:sp>
        <p:nvSpPr>
          <p:cNvPr id="11" name="TextBox 10"/>
          <p:cNvSpPr txBox="1"/>
          <p:nvPr/>
        </p:nvSpPr>
        <p:spPr>
          <a:xfrm>
            <a:off x="731520" y="6126479"/>
            <a:ext cx="3108960" cy="365760"/>
          </a:xfrm>
          <a:prstGeom prst="rect">
            <a:avLst/>
          </a:prstGeom>
          <a:noFill/>
        </p:spPr>
        <p:txBody>
          <a:bodyPr wrap="square">
            <a:spAutoFit/>
          </a:bodyPr>
          <a:lstStyle/>
          <a:p>
            <a:pPr algn="l">
              <a:defRPr sz="1200" b="1" i="1">
                <a:solidFill>
                  <a:srgbClr val="C81E1E"/>
                </a:solidFill>
                <a:latin typeface="Arial"/>
              </a:defRPr>
            </a:pPr>
            <a:r>
              <a:t>Goal: feel what hands-off actually feels like</a:t>
            </a:r>
          </a:p>
        </p:txBody>
      </p:sp>
      <p:sp>
        <p:nvSpPr>
          <p:cNvPr id="12" name="Rounded Rectangle 11"/>
          <p:cNvSpPr/>
          <p:nvPr/>
        </p:nvSpPr>
        <p:spPr>
          <a:xfrm>
            <a:off x="425196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6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3246120"/>
            <a:ext cx="3108960" cy="274320"/>
          </a:xfrm>
          <a:prstGeom prst="rect">
            <a:avLst/>
          </a:prstGeom>
          <a:noFill/>
        </p:spPr>
        <p:txBody>
          <a:bodyPr wrap="square">
            <a:spAutoFit/>
          </a:bodyPr>
          <a:lstStyle/>
          <a:p>
            <a:pPr algn="l">
              <a:defRPr sz="1200" b="1" i="0">
                <a:solidFill>
                  <a:srgbClr val="C81E1E"/>
                </a:solidFill>
                <a:latin typeface="Arial"/>
              </a:defRPr>
            </a:pPr>
            <a:r>
              <a:t>TIER 2, OPERATOR</a:t>
            </a:r>
          </a:p>
        </p:txBody>
      </p:sp>
      <p:sp>
        <p:nvSpPr>
          <p:cNvPr id="15" name="TextBox 14"/>
          <p:cNvSpPr txBox="1"/>
          <p:nvPr/>
        </p:nvSpPr>
        <p:spPr>
          <a:xfrm>
            <a:off x="4526280" y="3611880"/>
            <a:ext cx="3108960" cy="548640"/>
          </a:xfrm>
          <a:prstGeom prst="rect">
            <a:avLst/>
          </a:prstGeom>
          <a:noFill/>
        </p:spPr>
        <p:txBody>
          <a:bodyPr wrap="square">
            <a:spAutoFit/>
          </a:bodyPr>
          <a:lstStyle/>
          <a:p>
            <a:pPr algn="l">
              <a:defRPr sz="2000" b="1" i="0">
                <a:solidFill>
                  <a:srgbClr val="F5F5F5"/>
                </a:solidFill>
                <a:latin typeface="Arial"/>
              </a:defRPr>
            </a:pPr>
            <a:r>
              <a:t>Map your recurring work</a:t>
            </a:r>
          </a:p>
        </p:txBody>
      </p:sp>
      <p:sp>
        <p:nvSpPr>
          <p:cNvPr id="16" name="TextBox 15"/>
          <p:cNvSpPr txBox="1"/>
          <p:nvPr/>
        </p:nvSpPr>
        <p:spPr>
          <a:xfrm>
            <a:off x="4526280" y="4389120"/>
            <a:ext cx="3108960" cy="1645919"/>
          </a:xfrm>
          <a:prstGeom prst="rect">
            <a:avLst/>
          </a:prstGeom>
          <a:noFill/>
        </p:spPr>
        <p:txBody>
          <a:bodyPr wrap="square">
            <a:spAutoFit/>
          </a:bodyPr>
          <a:lstStyle/>
          <a:p>
            <a:pPr algn="l">
              <a:defRPr sz="1200" b="0" i="0">
                <a:solidFill>
                  <a:srgbClr val="AAAAAA"/>
                </a:solidFill>
                <a:latin typeface="Arial"/>
              </a:defRPr>
            </a:pPr>
            <a:r>
              <a:t>•  List five weekly tasks that are low-judgement and repeatable</a:t>
            </a:r>
            <a:br/>
            <a:br/>
            <a:r>
              <a:t>•  Spec the easiest one as inputs, steps, and a 'done' definition</a:t>
            </a:r>
            <a:br/>
            <a:br/>
            <a:r>
              <a:t>•  Schedule it with Gemini Spark, Codex cloud, or a Claude routine</a:t>
            </a:r>
          </a:p>
        </p:txBody>
      </p:sp>
      <p:sp>
        <p:nvSpPr>
          <p:cNvPr id="17" name="TextBox 16"/>
          <p:cNvSpPr txBox="1"/>
          <p:nvPr/>
        </p:nvSpPr>
        <p:spPr>
          <a:xfrm>
            <a:off x="4526280" y="6126479"/>
            <a:ext cx="3108960" cy="365760"/>
          </a:xfrm>
          <a:prstGeom prst="rect">
            <a:avLst/>
          </a:prstGeom>
          <a:noFill/>
        </p:spPr>
        <p:txBody>
          <a:bodyPr wrap="square">
            <a:spAutoFit/>
          </a:bodyPr>
          <a:lstStyle/>
          <a:p>
            <a:pPr algn="l">
              <a:defRPr sz="1200" b="1" i="1">
                <a:solidFill>
                  <a:srgbClr val="C81E1E"/>
                </a:solidFill>
                <a:latin typeface="Arial"/>
              </a:defRPr>
            </a:pPr>
            <a:r>
              <a:t>Goal: move AI from a chat tool to an operations layer</a:t>
            </a:r>
          </a:p>
        </p:txBody>
      </p:sp>
      <p:sp>
        <p:nvSpPr>
          <p:cNvPr id="18" name="Rounded Rectangle 17"/>
          <p:cNvSpPr/>
          <p:nvPr/>
        </p:nvSpPr>
        <p:spPr>
          <a:xfrm>
            <a:off x="804672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3246120"/>
            <a:ext cx="3108960" cy="274320"/>
          </a:xfrm>
          <a:prstGeom prst="rect">
            <a:avLst/>
          </a:prstGeom>
          <a:noFill/>
        </p:spPr>
        <p:txBody>
          <a:bodyPr wrap="square">
            <a:spAutoFit/>
          </a:bodyPr>
          <a:lstStyle/>
          <a:p>
            <a:pPr algn="l">
              <a:defRPr sz="1200" b="1" i="0">
                <a:solidFill>
                  <a:srgbClr val="C81E1E"/>
                </a:solidFill>
                <a:latin typeface="Arial"/>
              </a:defRPr>
            </a:pPr>
            <a:r>
              <a:t>TIER 3, BUILDER</a:t>
            </a:r>
          </a:p>
        </p:txBody>
      </p:sp>
      <p:sp>
        <p:nvSpPr>
          <p:cNvPr id="21" name="TextBox 20"/>
          <p:cNvSpPr txBox="1"/>
          <p:nvPr/>
        </p:nvSpPr>
        <p:spPr>
          <a:xfrm>
            <a:off x="8321040" y="3611880"/>
            <a:ext cx="3108960" cy="548640"/>
          </a:xfrm>
          <a:prstGeom prst="rect">
            <a:avLst/>
          </a:prstGeom>
          <a:noFill/>
        </p:spPr>
        <p:txBody>
          <a:bodyPr wrap="square">
            <a:spAutoFit/>
          </a:bodyPr>
          <a:lstStyle/>
          <a:p>
            <a:pPr algn="l">
              <a:defRPr sz="2000" b="1" i="0">
                <a:solidFill>
                  <a:srgbClr val="F5F5F5"/>
                </a:solidFill>
                <a:latin typeface="Arial"/>
              </a:defRPr>
            </a:pPr>
            <a:r>
              <a:t>Ship an async agent</a:t>
            </a:r>
          </a:p>
        </p:txBody>
      </p:sp>
      <p:sp>
        <p:nvSpPr>
          <p:cNvPr id="22" name="TextBox 21"/>
          <p:cNvSpPr txBox="1"/>
          <p:nvPr/>
        </p:nvSpPr>
        <p:spPr>
          <a:xfrm>
            <a:off x="8321040" y="4389120"/>
            <a:ext cx="3108960" cy="1645919"/>
          </a:xfrm>
          <a:prstGeom prst="rect">
            <a:avLst/>
          </a:prstGeom>
          <a:noFill/>
        </p:spPr>
        <p:txBody>
          <a:bodyPr wrap="square">
            <a:spAutoFit/>
          </a:bodyPr>
          <a:lstStyle/>
          <a:p>
            <a:pPr algn="l">
              <a:defRPr sz="1200" b="0" i="0">
                <a:solidFill>
                  <a:srgbClr val="AAAAAA"/>
                </a:solidFill>
                <a:latin typeface="Arial"/>
              </a:defRPr>
            </a:pPr>
            <a:r>
              <a:t>•  Use Codex local-to-cloud handoff for long refactors that outlast your session</a:t>
            </a:r>
            <a:br/>
            <a:br/>
            <a:r>
              <a:t>•  For internal data, run a Claude self-hosted sandbox and an MCP tunnel, not a public endpoint</a:t>
            </a:r>
            <a:br/>
            <a:br/>
            <a:r>
              <a:t>•  Log every agent action with the identity that triggered it</a:t>
            </a:r>
          </a:p>
        </p:txBody>
      </p:sp>
      <p:sp>
        <p:nvSpPr>
          <p:cNvPr id="23" name="TextBox 22"/>
          <p:cNvSpPr txBox="1"/>
          <p:nvPr/>
        </p:nvSpPr>
        <p:spPr>
          <a:xfrm>
            <a:off x="8321040" y="6126479"/>
            <a:ext cx="3108960" cy="365760"/>
          </a:xfrm>
          <a:prstGeom prst="rect">
            <a:avLst/>
          </a:prstGeom>
          <a:noFill/>
        </p:spPr>
        <p:txBody>
          <a:bodyPr wrap="square">
            <a:spAutoFit/>
          </a:bodyPr>
          <a:lstStyle/>
          <a:p>
            <a:pPr algn="l">
              <a:defRPr sz="1200" b="1" i="1">
                <a:solidFill>
                  <a:srgbClr val="C81E1E"/>
                </a:solidFill>
                <a:latin typeface="Arial"/>
              </a:defRPr>
            </a:pPr>
            <a:r>
              <a:t>Goal: agents that run while you sleep, safely</a:t>
            </a:r>
          </a:p>
        </p:txBody>
      </p:sp>
      <p:sp>
        <p:nvSpPr>
          <p:cNvPr id="24" name="TextBox 2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5" name="TextBox 2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4114800" y="1828800"/>
            <a:ext cx="7315200" cy="365760"/>
          </a:xfrm>
          <a:prstGeom prst="rect">
            <a:avLst/>
          </a:prstGeom>
          <a:noFill/>
        </p:spPr>
        <p:txBody>
          <a:bodyPr wrap="square">
            <a:spAutoFit/>
          </a:bodyPr>
          <a:lstStyle/>
          <a:p>
            <a:pPr algn="l">
              <a:defRPr sz="1300" b="1" i="0">
                <a:solidFill>
                  <a:srgbClr val="C81E1E"/>
                </a:solidFill>
                <a:latin typeface="Arial"/>
              </a:defRPr>
            </a:pPr>
            <a:r>
              <a:t>7:15 PM</a:t>
            </a:r>
          </a:p>
        </p:txBody>
      </p:sp>
      <p:sp>
        <p:nvSpPr>
          <p:cNvPr id="3" name="TextBox 2"/>
          <p:cNvSpPr txBox="1"/>
          <p:nvPr/>
        </p:nvSpPr>
        <p:spPr>
          <a:xfrm>
            <a:off x="1371600" y="2560320"/>
            <a:ext cx="9144000" cy="914400"/>
          </a:xfrm>
          <a:prstGeom prst="rect">
            <a:avLst/>
          </a:prstGeom>
          <a:noFill/>
        </p:spPr>
        <p:txBody>
          <a:bodyPr wrap="square">
            <a:spAutoFit/>
          </a:bodyPr>
          <a:lstStyle/>
          <a:p>
            <a:pPr algn="ctr">
              <a:defRPr sz="6400" b="1" i="0">
                <a:solidFill>
                  <a:srgbClr val="F5F5F5"/>
                </a:solidFill>
                <a:latin typeface="Arial"/>
              </a:defRPr>
            </a:pPr>
            <a:r>
              <a:t>Dinner &amp; Drinks</a:t>
            </a:r>
          </a:p>
        </p:txBody>
      </p:sp>
      <p:sp>
        <p:nvSpPr>
          <p:cNvPr id="4" name="Rectangle 3"/>
          <p:cNvSpPr/>
          <p:nvPr/>
        </p:nvSpPr>
        <p:spPr>
          <a:xfrm>
            <a:off x="5669280" y="36576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4114800"/>
            <a:ext cx="8229600" cy="457200"/>
          </a:xfrm>
          <a:prstGeom prst="rect">
            <a:avLst/>
          </a:prstGeom>
          <a:noFill/>
        </p:spPr>
        <p:txBody>
          <a:bodyPr wrap="square">
            <a:spAutoFit/>
          </a:bodyPr>
          <a:lstStyle/>
          <a:p>
            <a:pPr algn="ctr">
              <a:defRPr sz="2200" b="0" i="0">
                <a:solidFill>
                  <a:srgbClr val="888888"/>
                </a:solidFill>
                <a:latin typeface="Arial"/>
              </a:defRPr>
            </a:pPr>
            <a:r>
              <a:t>Order up. Best conversations happen over food.</a:t>
            </a:r>
          </a:p>
        </p:txBody>
      </p:sp>
      <p:sp>
        <p:nvSpPr>
          <p:cNvPr id="6" name="TextBox 5"/>
          <p:cNvSpPr txBox="1"/>
          <p:nvPr/>
        </p:nvSpPr>
        <p:spPr>
          <a:xfrm>
            <a:off x="1828800" y="4754880"/>
            <a:ext cx="8229600" cy="365760"/>
          </a:xfrm>
          <a:prstGeom prst="rect">
            <a:avLst/>
          </a:prstGeom>
          <a:noFill/>
        </p:spPr>
        <p:txBody>
          <a:bodyPr wrap="square">
            <a:spAutoFit/>
          </a:bodyPr>
          <a:lstStyle/>
          <a:p>
            <a:pPr algn="ctr">
              <a:defRPr sz="1700" b="0" i="0">
                <a:solidFill>
                  <a:srgbClr val="888888"/>
                </a:solidFill>
                <a:latin typeface="Arial"/>
              </a:defRPr>
            </a:pPr>
            <a:r>
              <a:t>Builder Spotlights start at 7:30 sharp.</a:t>
            </a:r>
          </a:p>
        </p:txBody>
      </p:sp>
      <p:sp>
        <p:nvSpPr>
          <p:cNvPr id="7" name="TextBox 6"/>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8" name="TextBox 7"/>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4114800" y="1371600"/>
            <a:ext cx="7315200" cy="365760"/>
          </a:xfrm>
          <a:prstGeom prst="rect">
            <a:avLst/>
          </a:prstGeom>
          <a:noFill/>
        </p:spPr>
        <p:txBody>
          <a:bodyPr wrap="square">
            <a:spAutoFit/>
          </a:bodyPr>
          <a:lstStyle/>
          <a:p>
            <a:pPr algn="l">
              <a:defRPr sz="1300" b="1" i="0">
                <a:solidFill>
                  <a:srgbClr val="C81E1E"/>
                </a:solidFill>
                <a:latin typeface="Arial"/>
              </a:defRPr>
            </a:pPr>
            <a:r>
              <a:t>7:30 PM</a:t>
            </a:r>
          </a:p>
        </p:txBody>
      </p:sp>
      <p:sp>
        <p:nvSpPr>
          <p:cNvPr id="3" name="TextBox 2"/>
          <p:cNvSpPr txBox="1"/>
          <p:nvPr/>
        </p:nvSpPr>
        <p:spPr>
          <a:xfrm>
            <a:off x="1371600" y="2011680"/>
            <a:ext cx="9144000" cy="914400"/>
          </a:xfrm>
          <a:prstGeom prst="rect">
            <a:avLst/>
          </a:prstGeom>
          <a:noFill/>
        </p:spPr>
        <p:txBody>
          <a:bodyPr wrap="square">
            <a:spAutoFit/>
          </a:bodyPr>
          <a:lstStyle/>
          <a:p>
            <a:pPr algn="ctr">
              <a:defRPr sz="6400" b="1" i="0">
                <a:solidFill>
                  <a:srgbClr val="F5F5F5"/>
                </a:solidFill>
                <a:latin typeface="Arial"/>
              </a:defRPr>
            </a:pPr>
            <a:r>
              <a:t>Builder Spotlights</a:t>
            </a:r>
          </a:p>
        </p:txBody>
      </p:sp>
      <p:sp>
        <p:nvSpPr>
          <p:cNvPr id="4" name="Rectangle 3"/>
          <p:cNvSpPr/>
          <p:nvPr/>
        </p:nvSpPr>
        <p:spPr>
          <a:xfrm>
            <a:off x="5669280" y="32004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0" y="3840480"/>
            <a:ext cx="2926080" cy="20116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0" y="4023360"/>
            <a:ext cx="2926080" cy="1645920"/>
          </a:xfrm>
          <a:prstGeom prst="rect">
            <a:avLst/>
          </a:prstGeom>
          <a:noFill/>
        </p:spPr>
        <p:txBody>
          <a:bodyPr wrap="square">
            <a:spAutoFit/>
          </a:bodyPr>
          <a:lstStyle/>
          <a:p>
            <a:pPr algn="ctr">
              <a:defRPr sz="4400" b="1" i="0">
                <a:solidFill>
                  <a:srgbClr val="C81E1E"/>
                </a:solidFill>
                <a:latin typeface="Arial"/>
              </a:defRPr>
            </a:pPr>
            <a:r>
              <a:t>01</a:t>
            </a:r>
          </a:p>
          <a:p>
            <a:pPr algn="ctr">
              <a:spcBef>
                <a:spcPts val="800"/>
              </a:spcBef>
              <a:defRPr sz="1600" b="1" i="0">
                <a:solidFill>
                  <a:srgbClr val="F5F5F5"/>
                </a:solidFill>
                <a:latin typeface="Arial"/>
              </a:defRPr>
            </a:pPr>
            <a:r>
              <a:t>10 min + 5 min Q&amp;A</a:t>
            </a:r>
          </a:p>
          <a:p>
            <a:pPr algn="ctr">
              <a:spcBef>
                <a:spcPts val="600"/>
              </a:spcBef>
              <a:defRPr sz="1300" b="0" i="0">
                <a:solidFill>
                  <a:srgbClr val="888888"/>
                </a:solidFill>
                <a:latin typeface="Arial"/>
              </a:defRPr>
            </a:pPr>
            <a:r>
              <a:t>[Builder name + what they built]</a:t>
            </a:r>
          </a:p>
        </p:txBody>
      </p:sp>
      <p:sp>
        <p:nvSpPr>
          <p:cNvPr id="7" name="Rounded Rectangle 6"/>
          <p:cNvSpPr/>
          <p:nvPr/>
        </p:nvSpPr>
        <p:spPr>
          <a:xfrm>
            <a:off x="6858000" y="3840480"/>
            <a:ext cx="2926080" cy="20116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4023360"/>
            <a:ext cx="2926080" cy="1645920"/>
          </a:xfrm>
          <a:prstGeom prst="rect">
            <a:avLst/>
          </a:prstGeom>
          <a:noFill/>
        </p:spPr>
        <p:txBody>
          <a:bodyPr wrap="square">
            <a:spAutoFit/>
          </a:bodyPr>
          <a:lstStyle/>
          <a:p>
            <a:pPr algn="ctr">
              <a:defRPr sz="4400" b="1" i="0">
                <a:solidFill>
                  <a:srgbClr val="C81E1E"/>
                </a:solidFill>
                <a:latin typeface="Arial"/>
              </a:defRPr>
            </a:pPr>
            <a:r>
              <a:t>02</a:t>
            </a:r>
          </a:p>
          <a:p>
            <a:pPr algn="ctr">
              <a:spcBef>
                <a:spcPts val="800"/>
              </a:spcBef>
              <a:defRPr sz="1600" b="1" i="0">
                <a:solidFill>
                  <a:srgbClr val="F5F5F5"/>
                </a:solidFill>
                <a:latin typeface="Arial"/>
              </a:defRPr>
            </a:pPr>
            <a:r>
              <a:t>10 min + 5 min Q&amp;A</a:t>
            </a:r>
          </a:p>
          <a:p>
            <a:pPr algn="ctr">
              <a:spcBef>
                <a:spcPts val="600"/>
              </a:spcBef>
              <a:defRPr sz="1300" b="0" i="0">
                <a:solidFill>
                  <a:srgbClr val="888888"/>
                </a:solidFill>
                <a:latin typeface="Arial"/>
              </a:defRPr>
            </a:pPr>
            <a:r>
              <a:t>[Builder name + what they built]</a:t>
            </a:r>
          </a:p>
        </p:txBody>
      </p:sp>
      <p:sp>
        <p:nvSpPr>
          <p:cNvPr id="9" name="TextBox 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0" name="TextBox 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COMMUNITY WINS</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400" b="1" i="0">
                <a:solidFill>
                  <a:srgbClr val="F5F5F5"/>
                </a:solidFill>
                <a:latin typeface="Arial"/>
              </a:defRPr>
            </a:pPr>
            <a:r>
              <a:t>Wins From The Room</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731520"/>
          </a:xfrm>
          <a:prstGeom prst="rect">
            <a:avLst/>
          </a:prstGeom>
          <a:noFill/>
        </p:spPr>
        <p:txBody>
          <a:bodyPr wrap="square">
            <a:spAutoFit/>
          </a:bodyPr>
          <a:lstStyle/>
          <a:p>
            <a:pPr algn="l">
              <a:defRPr sz="1500" b="0" i="0">
                <a:solidFill>
                  <a:srgbClr val="AAAAAA"/>
                </a:solidFill>
                <a:latin typeface="Arial"/>
              </a:defRPr>
            </a:pPr>
            <a:r>
              <a:t>Members who shipped something since last edition. This is what the community looks like when it builds in public.</a:t>
            </a:r>
          </a:p>
        </p:txBody>
      </p:sp>
      <p:sp>
        <p:nvSpPr>
          <p:cNvPr id="6" name="Rounded Rectangle 5"/>
          <p:cNvSpPr/>
          <p:nvPr/>
        </p:nvSpPr>
        <p:spPr>
          <a:xfrm>
            <a:off x="45720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78308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83080" y="3730752"/>
            <a:ext cx="1005840" cy="548640"/>
          </a:xfrm>
          <a:prstGeom prst="rect">
            <a:avLst/>
          </a:prstGeom>
          <a:noFill/>
        </p:spPr>
        <p:txBody>
          <a:bodyPr wrap="square">
            <a:spAutoFit/>
          </a:bodyPr>
          <a:lstStyle/>
          <a:p>
            <a:pPr algn="ctr">
              <a:defRPr sz="2200" b="1" i="0">
                <a:solidFill>
                  <a:srgbClr val="F5F5F5"/>
                </a:solidFill>
                <a:latin typeface="Arial"/>
              </a:defRPr>
            </a:pPr>
            <a:r>
              <a:t>M1</a:t>
            </a:r>
          </a:p>
        </p:txBody>
      </p:sp>
      <p:sp>
        <p:nvSpPr>
          <p:cNvPr id="9" name="TextBox 8"/>
          <p:cNvSpPr txBox="1"/>
          <p:nvPr/>
        </p:nvSpPr>
        <p:spPr>
          <a:xfrm>
            <a:off x="731520" y="4617720"/>
            <a:ext cx="3108960" cy="365760"/>
          </a:xfrm>
          <a:prstGeom prst="rect">
            <a:avLst/>
          </a:prstGeom>
          <a:noFill/>
        </p:spPr>
        <p:txBody>
          <a:bodyPr wrap="square">
            <a:spAutoFit/>
          </a:bodyPr>
          <a:lstStyle/>
          <a:p>
            <a:pPr algn="ctr">
              <a:defRPr sz="1800" b="1" i="0">
                <a:solidFill>
                  <a:srgbClr val="F5F5F5"/>
                </a:solidFill>
                <a:latin typeface="Arial"/>
              </a:defRPr>
            </a:pPr>
            <a:r>
              <a:t>[Member 1 name]</a:t>
            </a:r>
          </a:p>
        </p:txBody>
      </p:sp>
      <p:sp>
        <p:nvSpPr>
          <p:cNvPr id="10" name="TextBox 9"/>
          <p:cNvSpPr txBox="1"/>
          <p:nvPr/>
        </p:nvSpPr>
        <p:spPr>
          <a:xfrm>
            <a:off x="73152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11" name="TextBox 10"/>
          <p:cNvSpPr txBox="1"/>
          <p:nvPr/>
        </p:nvSpPr>
        <p:spPr>
          <a:xfrm>
            <a:off x="731520" y="5440680"/>
            <a:ext cx="3108960" cy="822960"/>
          </a:xfrm>
          <a:prstGeom prst="rect">
            <a:avLst/>
          </a:prstGeom>
          <a:noFill/>
        </p:spPr>
        <p:txBody>
          <a:bodyPr wrap="square">
            <a:spAutoFit/>
          </a:bodyPr>
          <a:lstStyle/>
          <a:p>
            <a:pPr algn="ctr">
              <a:defRPr sz="1200" b="0" i="0">
                <a:solidFill>
                  <a:srgbClr val="AAAAAA"/>
                </a:solidFill>
                <a:latin typeface="Arial"/>
              </a:defRPr>
            </a:pPr>
            <a:r>
              <a:t>[What they shipped, one line, with the result or time saved]</a:t>
            </a:r>
          </a:p>
        </p:txBody>
      </p:sp>
      <p:sp>
        <p:nvSpPr>
          <p:cNvPr id="12" name="Rounded Rectangle 11"/>
          <p:cNvSpPr/>
          <p:nvPr/>
        </p:nvSpPr>
        <p:spPr>
          <a:xfrm>
            <a:off x="425196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7784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0" y="3730752"/>
            <a:ext cx="1005840" cy="548640"/>
          </a:xfrm>
          <a:prstGeom prst="rect">
            <a:avLst/>
          </a:prstGeom>
          <a:noFill/>
        </p:spPr>
        <p:txBody>
          <a:bodyPr wrap="square">
            <a:spAutoFit/>
          </a:bodyPr>
          <a:lstStyle/>
          <a:p>
            <a:pPr algn="ctr">
              <a:defRPr sz="2200" b="1" i="0">
                <a:solidFill>
                  <a:srgbClr val="F5F5F5"/>
                </a:solidFill>
                <a:latin typeface="Arial"/>
              </a:defRPr>
            </a:pPr>
            <a:r>
              <a:t>M2</a:t>
            </a:r>
          </a:p>
        </p:txBody>
      </p:sp>
      <p:sp>
        <p:nvSpPr>
          <p:cNvPr id="15" name="TextBox 14"/>
          <p:cNvSpPr txBox="1"/>
          <p:nvPr/>
        </p:nvSpPr>
        <p:spPr>
          <a:xfrm>
            <a:off x="4526280" y="4617720"/>
            <a:ext cx="3108960" cy="365760"/>
          </a:xfrm>
          <a:prstGeom prst="rect">
            <a:avLst/>
          </a:prstGeom>
          <a:noFill/>
        </p:spPr>
        <p:txBody>
          <a:bodyPr wrap="square">
            <a:spAutoFit/>
          </a:bodyPr>
          <a:lstStyle/>
          <a:p>
            <a:pPr algn="ctr">
              <a:defRPr sz="1800" b="1" i="0">
                <a:solidFill>
                  <a:srgbClr val="F5F5F5"/>
                </a:solidFill>
                <a:latin typeface="Arial"/>
              </a:defRPr>
            </a:pPr>
            <a:r>
              <a:t>[Member 2 name]</a:t>
            </a:r>
          </a:p>
        </p:txBody>
      </p:sp>
      <p:sp>
        <p:nvSpPr>
          <p:cNvPr id="16" name="TextBox 15"/>
          <p:cNvSpPr txBox="1"/>
          <p:nvPr/>
        </p:nvSpPr>
        <p:spPr>
          <a:xfrm>
            <a:off x="452628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17" name="TextBox 16"/>
          <p:cNvSpPr txBox="1"/>
          <p:nvPr/>
        </p:nvSpPr>
        <p:spPr>
          <a:xfrm>
            <a:off x="4526280" y="5440680"/>
            <a:ext cx="3108960" cy="822960"/>
          </a:xfrm>
          <a:prstGeom prst="rect">
            <a:avLst/>
          </a:prstGeom>
          <a:noFill/>
        </p:spPr>
        <p:txBody>
          <a:bodyPr wrap="square">
            <a:spAutoFit/>
          </a:bodyPr>
          <a:lstStyle/>
          <a:p>
            <a:pPr algn="ctr">
              <a:defRPr sz="1200" b="0" i="0">
                <a:solidFill>
                  <a:srgbClr val="AAAAAA"/>
                </a:solidFill>
                <a:latin typeface="Arial"/>
              </a:defRPr>
            </a:pPr>
            <a:r>
              <a:t>[What they shipped, one line, with the result or time saved]</a:t>
            </a:r>
          </a:p>
        </p:txBody>
      </p:sp>
      <p:sp>
        <p:nvSpPr>
          <p:cNvPr id="18" name="Rounded Rectangle 17"/>
          <p:cNvSpPr/>
          <p:nvPr/>
        </p:nvSpPr>
        <p:spPr>
          <a:xfrm>
            <a:off x="804672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7260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3730752"/>
            <a:ext cx="1005840" cy="548640"/>
          </a:xfrm>
          <a:prstGeom prst="rect">
            <a:avLst/>
          </a:prstGeom>
          <a:noFill/>
        </p:spPr>
        <p:txBody>
          <a:bodyPr wrap="square">
            <a:spAutoFit/>
          </a:bodyPr>
          <a:lstStyle/>
          <a:p>
            <a:pPr algn="ctr">
              <a:defRPr sz="2200" b="1" i="0">
                <a:solidFill>
                  <a:srgbClr val="F5F5F5"/>
                </a:solidFill>
                <a:latin typeface="Arial"/>
              </a:defRPr>
            </a:pPr>
            <a:r>
              <a:t>M3</a:t>
            </a:r>
          </a:p>
        </p:txBody>
      </p:sp>
      <p:sp>
        <p:nvSpPr>
          <p:cNvPr id="21" name="TextBox 20"/>
          <p:cNvSpPr txBox="1"/>
          <p:nvPr/>
        </p:nvSpPr>
        <p:spPr>
          <a:xfrm>
            <a:off x="8321040" y="4617720"/>
            <a:ext cx="3108960" cy="365760"/>
          </a:xfrm>
          <a:prstGeom prst="rect">
            <a:avLst/>
          </a:prstGeom>
          <a:noFill/>
        </p:spPr>
        <p:txBody>
          <a:bodyPr wrap="square">
            <a:spAutoFit/>
          </a:bodyPr>
          <a:lstStyle/>
          <a:p>
            <a:pPr algn="ctr">
              <a:defRPr sz="1800" b="1" i="0">
                <a:solidFill>
                  <a:srgbClr val="F5F5F5"/>
                </a:solidFill>
                <a:latin typeface="Arial"/>
              </a:defRPr>
            </a:pPr>
            <a:r>
              <a:t>[Member 3 name]</a:t>
            </a:r>
          </a:p>
        </p:txBody>
      </p:sp>
      <p:sp>
        <p:nvSpPr>
          <p:cNvPr id="22" name="TextBox 21"/>
          <p:cNvSpPr txBox="1"/>
          <p:nvPr/>
        </p:nvSpPr>
        <p:spPr>
          <a:xfrm>
            <a:off x="832104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23" name="TextBox 22"/>
          <p:cNvSpPr txBox="1"/>
          <p:nvPr/>
        </p:nvSpPr>
        <p:spPr>
          <a:xfrm>
            <a:off x="8321040" y="5440680"/>
            <a:ext cx="3108960" cy="822960"/>
          </a:xfrm>
          <a:prstGeom prst="rect">
            <a:avLst/>
          </a:prstGeom>
          <a:noFill/>
        </p:spPr>
        <p:txBody>
          <a:bodyPr wrap="square">
            <a:spAutoFit/>
          </a:bodyPr>
          <a:lstStyle/>
          <a:p>
            <a:pPr algn="ctr">
              <a:defRPr sz="1200" b="0" i="0">
                <a:solidFill>
                  <a:srgbClr val="AAAAAA"/>
                </a:solidFill>
                <a:latin typeface="Arial"/>
              </a:defRPr>
            </a:pPr>
            <a:r>
              <a:t>[What they shipped, one line, with the result or time saved]</a:t>
            </a:r>
          </a:p>
        </p:txBody>
      </p:sp>
      <p:sp>
        <p:nvSpPr>
          <p:cNvPr id="24" name="TextBox 23"/>
          <p:cNvSpPr txBox="1"/>
          <p:nvPr/>
        </p:nvSpPr>
        <p:spPr>
          <a:xfrm>
            <a:off x="731520" y="6492240"/>
            <a:ext cx="10881360" cy="320040"/>
          </a:xfrm>
          <a:prstGeom prst="rect">
            <a:avLst/>
          </a:prstGeom>
          <a:noFill/>
        </p:spPr>
        <p:txBody>
          <a:bodyPr wrap="square">
            <a:spAutoFit/>
          </a:bodyPr>
          <a:lstStyle/>
          <a:p>
            <a:pPr algn="ctr">
              <a:defRPr sz="1300" b="0" i="1">
                <a:solidFill>
                  <a:srgbClr val="E0B040"/>
                </a:solidFill>
                <a:latin typeface="Arial"/>
              </a:defRPr>
            </a:pPr>
            <a:r>
              <a:t>Want to be on this slide next edition? Tell me what you shipped. No pitch needed, just a screenshot and one line.</a:t>
            </a:r>
          </a:p>
        </p:txBody>
      </p:sp>
      <p:sp>
        <p:nvSpPr>
          <p:cNvPr id="25" name="TextBox 24"/>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6" name="TextBox 25"/>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3200400" y="731520"/>
            <a:ext cx="7315200" cy="365760"/>
          </a:xfrm>
          <a:prstGeom prst="rect">
            <a:avLst/>
          </a:prstGeom>
          <a:noFill/>
        </p:spPr>
        <p:txBody>
          <a:bodyPr wrap="square">
            <a:spAutoFit/>
          </a:bodyPr>
          <a:lstStyle/>
          <a:p>
            <a:pPr algn="l">
              <a:defRPr sz="1300" b="1" i="0">
                <a:solidFill>
                  <a:srgbClr val="C81E1E"/>
                </a:solidFill>
                <a:latin typeface="Arial"/>
              </a:defRPr>
            </a:pPr>
            <a:r>
              <a:t>THANK YOU</a:t>
            </a:r>
          </a:p>
        </p:txBody>
      </p:sp>
      <p:sp>
        <p:nvSpPr>
          <p:cNvPr id="3" name="TextBox 2"/>
          <p:cNvSpPr txBox="1"/>
          <p:nvPr/>
        </p:nvSpPr>
        <p:spPr>
          <a:xfrm>
            <a:off x="1371600" y="1371600"/>
            <a:ext cx="9144000" cy="1097280"/>
          </a:xfrm>
          <a:prstGeom prst="rect">
            <a:avLst/>
          </a:prstGeom>
          <a:noFill/>
        </p:spPr>
        <p:txBody>
          <a:bodyPr wrap="square">
            <a:spAutoFit/>
          </a:bodyPr>
          <a:lstStyle/>
          <a:p>
            <a:pPr algn="ctr">
              <a:defRPr sz="5600" b="1" i="0">
                <a:solidFill>
                  <a:srgbClr val="F5F5F5"/>
                </a:solidFill>
                <a:latin typeface="Arial"/>
              </a:defRPr>
            </a:pPr>
            <a:r>
              <a:t>See You at</a:t>
            </a:r>
            <a:br/>
            <a:r>
              <a:t>Edition 8</a:t>
            </a:r>
          </a:p>
        </p:txBody>
      </p:sp>
      <p:sp>
        <p:nvSpPr>
          <p:cNvPr id="4" name="Rectangle 3"/>
          <p:cNvSpPr/>
          <p:nvPr/>
        </p:nvSpPr>
        <p:spPr>
          <a:xfrm>
            <a:off x="5669280" y="27432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286000" y="3200400"/>
            <a:ext cx="2286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3291840"/>
            <a:ext cx="2286000" cy="914400"/>
          </a:xfrm>
          <a:prstGeom prst="rect">
            <a:avLst/>
          </a:prstGeom>
          <a:noFill/>
        </p:spPr>
        <p:txBody>
          <a:bodyPr wrap="square">
            <a:spAutoFit/>
          </a:bodyPr>
          <a:lstStyle/>
          <a:p>
            <a:pPr algn="ctr">
              <a:defRPr sz="1200" b="1" i="0">
                <a:solidFill>
                  <a:srgbClr val="888888"/>
                </a:solidFill>
                <a:latin typeface="Arial"/>
              </a:defRPr>
            </a:pPr>
            <a:r>
              <a:t>YOUTUBE</a:t>
            </a:r>
          </a:p>
          <a:p>
            <a:pPr algn="ctr">
              <a:spcBef>
                <a:spcPts val="800"/>
              </a:spcBef>
              <a:defRPr sz="1700" b="1" i="0">
                <a:solidFill>
                  <a:srgbClr val="F5F5F5"/>
                </a:solidFill>
                <a:latin typeface="Arial"/>
              </a:defRPr>
            </a:pPr>
            <a:r>
              <a:t>@joshbuildswithai</a:t>
            </a:r>
          </a:p>
        </p:txBody>
      </p:sp>
      <p:sp>
        <p:nvSpPr>
          <p:cNvPr id="7" name="Rounded Rectangle 6"/>
          <p:cNvSpPr/>
          <p:nvPr/>
        </p:nvSpPr>
        <p:spPr>
          <a:xfrm>
            <a:off x="5029200" y="3200400"/>
            <a:ext cx="2286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2286000" cy="914400"/>
          </a:xfrm>
          <a:prstGeom prst="rect">
            <a:avLst/>
          </a:prstGeom>
          <a:noFill/>
        </p:spPr>
        <p:txBody>
          <a:bodyPr wrap="square">
            <a:spAutoFit/>
          </a:bodyPr>
          <a:lstStyle/>
          <a:p>
            <a:pPr algn="ctr">
              <a:defRPr sz="1200" b="1" i="0">
                <a:solidFill>
                  <a:srgbClr val="888888"/>
                </a:solidFill>
                <a:latin typeface="Arial"/>
              </a:defRPr>
            </a:pPr>
            <a:r>
              <a:t>INSTAGRAM</a:t>
            </a:r>
          </a:p>
          <a:p>
            <a:pPr algn="ctr">
              <a:spcBef>
                <a:spcPts val="800"/>
              </a:spcBef>
              <a:defRPr sz="1700" b="1" i="0">
                <a:solidFill>
                  <a:srgbClr val="F5F5F5"/>
                </a:solidFill>
                <a:latin typeface="Arial"/>
              </a:defRPr>
            </a:pPr>
            <a:r>
              <a:t>@joshbuildswithai</a:t>
            </a:r>
          </a:p>
        </p:txBody>
      </p:sp>
      <p:sp>
        <p:nvSpPr>
          <p:cNvPr id="9" name="Rounded Rectangle 8"/>
          <p:cNvSpPr/>
          <p:nvPr/>
        </p:nvSpPr>
        <p:spPr>
          <a:xfrm>
            <a:off x="7772400" y="3200400"/>
            <a:ext cx="2286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3291840"/>
            <a:ext cx="2286000" cy="914400"/>
          </a:xfrm>
          <a:prstGeom prst="rect">
            <a:avLst/>
          </a:prstGeom>
          <a:noFill/>
        </p:spPr>
        <p:txBody>
          <a:bodyPr wrap="square">
            <a:spAutoFit/>
          </a:bodyPr>
          <a:lstStyle/>
          <a:p>
            <a:pPr algn="ctr">
              <a:defRPr sz="1200" b="1" i="0">
                <a:solidFill>
                  <a:srgbClr val="888888"/>
                </a:solidFill>
                <a:latin typeface="Arial"/>
              </a:defRPr>
            </a:pPr>
            <a:r>
              <a:t>TIKTOK</a:t>
            </a:r>
          </a:p>
          <a:p>
            <a:pPr algn="ctr">
              <a:spcBef>
                <a:spcPts val="800"/>
              </a:spcBef>
              <a:defRPr sz="1700" b="1" i="0">
                <a:solidFill>
                  <a:srgbClr val="F5F5F5"/>
                </a:solidFill>
                <a:latin typeface="Arial"/>
              </a:defRPr>
            </a:pPr>
            <a:r>
              <a:t>@joshbuildswithai</a:t>
            </a:r>
          </a:p>
        </p:txBody>
      </p:sp>
      <p:sp>
        <p:nvSpPr>
          <p:cNvPr id="11" name="Rounded Rectangle 10"/>
          <p:cNvSpPr/>
          <p:nvPr/>
        </p:nvSpPr>
        <p:spPr>
          <a:xfrm>
            <a:off x="2286000" y="4754880"/>
            <a:ext cx="7315200" cy="1645920"/>
          </a:xfrm>
          <a:prstGeom prst="roundRect">
            <a:avLst/>
          </a:prstGeom>
          <a:solidFill>
            <a:srgbClr val="333333"/>
          </a:solidFill>
          <a:ln w="127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0" y="4937760"/>
            <a:ext cx="7315200" cy="1280160"/>
          </a:xfrm>
          <a:prstGeom prst="rect">
            <a:avLst/>
          </a:prstGeom>
          <a:noFill/>
        </p:spPr>
        <p:txBody>
          <a:bodyPr wrap="square">
            <a:spAutoFit/>
          </a:bodyPr>
          <a:lstStyle/>
          <a:p>
            <a:pPr algn="ctr">
              <a:defRPr sz="1200" b="1" i="0">
                <a:solidFill>
                  <a:srgbClr val="C81E1E"/>
                </a:solidFill>
                <a:latin typeface="Arial"/>
              </a:defRPr>
            </a:pPr>
            <a:r>
              <a:t>NEXT WEDNESDAY · EDITION 8 · 3 JUNE</a:t>
            </a:r>
          </a:p>
          <a:p>
            <a:pPr algn="ctr">
              <a:spcBef>
                <a:spcPts val="800"/>
              </a:spcBef>
              <a:defRPr sz="2600" b="1" i="0">
                <a:solidFill>
                  <a:srgbClr val="F5F5F5"/>
                </a:solidFill>
                <a:latin typeface="Arial"/>
              </a:defRPr>
            </a:pPr>
            <a:r>
              <a:t>Same room. New signals. Two new builders.</a:t>
            </a:r>
          </a:p>
          <a:p>
            <a:pPr algn="ctr">
              <a:spcBef>
                <a:spcPts val="600"/>
              </a:spcBef>
              <a:defRPr sz="1500" b="0" i="0">
                <a:solidFill>
                  <a:srgbClr val="888888"/>
                </a:solidFill>
                <a:latin typeface="Arial"/>
              </a:defRPr>
            </a:pPr>
            <a:r>
              <a:t>Topic announced on MeetUp. RSVP to hold your seat.</a:t>
            </a:r>
          </a:p>
        </p:txBody>
      </p:sp>
      <p:sp>
        <p:nvSpPr>
          <p:cNvPr id="13" name="TextBox 12"/>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4" name="TextBox 13"/>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