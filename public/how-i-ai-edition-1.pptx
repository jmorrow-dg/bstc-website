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81E1E"/>
                </a:solidFill>
                <a:latin typeface="Arial"/>
              </a:defRPr>
            </a:pPr>
            <a:r>
              <a:t>BALI START-UPS &amp; TECH COMMUNITY PRESENTS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F5F5F5"/>
                </a:solidFill>
                <a:latin typeface="Arial"/>
              </a:defRPr>
            </a:pPr>
            <a:r>
              <a:t>How I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F5F5"/>
                </a:solidFill>
                <a:latin typeface="Arial"/>
              </a:defRPr>
            </a:pPr>
            <a:r>
              <a:t>Edition 1</a:t>
            </a:r>
          </a:p>
          <a:p>
            <a:pPr algn="l">
              <a:spcBef>
                <a:spcPts val="800"/>
              </a:spcBef>
              <a:defRPr sz="2000" b="0" i="0">
                <a:solidFill>
                  <a:srgbClr val="888888"/>
                </a:solidFill>
                <a:latin typeface="Arial"/>
              </a:defRPr>
            </a:pPr>
            <a:r>
              <a:t>Seoul Soul Project, Canggu — 15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888888"/>
                </a:solidFill>
                <a:latin typeface="Arial"/>
              </a:defRPr>
            </a:pPr>
            <a:r>
              <a:t>Builders show tools. Operators share workflows. Everyone leaves sharper.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BSTC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81E1E"/>
                </a:solidFill>
                <a:latin typeface="Arial"/>
              </a:defRPr>
            </a:pPr>
            <a:r>
              <a:t>MY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5F5F5"/>
                </a:solidFill>
                <a:latin typeface="Arial"/>
              </a:defRPr>
            </a:pPr>
            <a:r>
              <a:t>Josh 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888888"/>
                </a:solidFill>
                <a:latin typeface="Arial"/>
              </a:defRPr>
            </a:pPr>
            <a:r>
              <a:t>•  5+ years in B2B technology</a:t>
            </a:r>
          </a:p>
          <a:p>
            <a:pPr algn="l">
              <a:spcBef>
                <a:spcPts val="1000"/>
              </a:spcBef>
              <a:defRPr sz="1600" b="0" i="0">
                <a:solidFill>
                  <a:srgbClr val="888888"/>
                </a:solidFill>
                <a:latin typeface="Arial"/>
              </a:defRPr>
            </a:pPr>
            <a:r>
              <a:t>•  Oxford/MIT AI Programmes / Legal Background</a:t>
            </a:r>
          </a:p>
          <a:p>
            <a:pPr algn="l">
              <a:spcBef>
                <a:spcPts val="1000"/>
              </a:spcBef>
              <a:defRPr sz="1600" b="0" i="0">
                <a:solidFill>
                  <a:srgbClr val="888888"/>
                </a:solidFill>
                <a:latin typeface="Arial"/>
              </a:defRPr>
            </a:pPr>
            <a:r>
              <a:t>•  Co-Founder of Bali Start-Up &amp; Tech (3k+ folks on Meetup/WA)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5F5F5"/>
                </a:solidFill>
                <a:latin typeface="Arial"/>
              </a:defRPr>
            </a:pPr>
            <a:r>
              <a:t>David &amp; Goliath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3774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888888"/>
                </a:solidFill>
                <a:latin typeface="Arial"/>
              </a:defRPr>
            </a:pPr>
            <a:r>
              <a:t>•  AI systems firm for ambitious teams</a:t>
            </a:r>
          </a:p>
          <a:p>
            <a:pPr algn="l">
              <a:spcBef>
                <a:spcPts val="1000"/>
              </a:spcBef>
              <a:defRPr sz="1600" b="0" i="0">
                <a:solidFill>
                  <a:srgbClr val="888888"/>
                </a:solidFill>
                <a:latin typeface="Arial"/>
              </a:defRPr>
            </a:pPr>
            <a:r>
              <a:t>•  Australia founded and globally minded</a:t>
            </a:r>
          </a:p>
          <a:p>
            <a:pPr algn="l">
              <a:spcBef>
                <a:spcPts val="1000"/>
              </a:spcBef>
              <a:defRPr sz="1600" b="0" i="0">
                <a:solidFill>
                  <a:srgbClr val="888888"/>
                </a:solidFill>
                <a:latin typeface="Arial"/>
              </a:defRPr>
            </a:pPr>
            <a:r>
              <a:t>•  We build operating AI infrastructure across revenue, capacity &amp; AI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5F5F5"/>
                </a:solidFill>
                <a:latin typeface="Arial"/>
              </a:defRPr>
            </a:pPr>
            <a:r>
              <a:t>Oligo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3774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888888"/>
                </a:solidFill>
                <a:latin typeface="Arial"/>
              </a:defRPr>
            </a:pPr>
            <a:r>
              <a:t>•  Selected as runtime AI security vendor in AWS Security Hub</a:t>
            </a:r>
          </a:p>
          <a:p>
            <a:pPr algn="l">
              <a:spcBef>
                <a:spcPts val="1000"/>
              </a:spcBef>
              <a:defRPr sz="1600" b="0" i="0">
                <a:solidFill>
                  <a:srgbClr val="888888"/>
                </a:solidFill>
                <a:latin typeface="Arial"/>
              </a:defRPr>
            </a:pPr>
            <a:r>
              <a:t>•  Working with security leaders at APAC's largest companies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BSTC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81E1E"/>
                </a:solidFill>
                <a:latin typeface="Arial"/>
              </a:defRPr>
            </a:pPr>
            <a:r>
              <a:t>6:30 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 i="0">
                <a:solidFill>
                  <a:srgbClr val="F5F5F5"/>
                </a:solidFill>
                <a:latin typeface="Arial"/>
              </a:defRPr>
            </a:pPr>
            <a:r>
              <a:t>Money 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731520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5F5F5"/>
                </a:solidFill>
                <a:latin typeface="Arial"/>
              </a:defRPr>
            </a:pPr>
            <a:r>
              <a:t>60-second intros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888888"/>
                </a:solidFill>
                <a:latin typeface="Arial"/>
              </a:defRPr>
            </a:pPr>
            <a:r>
              <a:t>One way AI made you money, saved you money,</a:t>
            </a:r>
            <a:br/>
            <a:r>
              <a:t>or saved you serious time. No pitches. Just results.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645920" cy="1097280"/>
          </a:xfrm>
          <a:prstGeom prst="round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5F5F5"/>
                </a:solidFill>
                <a:latin typeface="Arial"/>
              </a:defRPr>
            </a:pPr>
            <a:r>
              <a:t>60s</a:t>
            </a:r>
          </a:p>
          <a:p>
            <a:pPr algn="ctr">
              <a:defRPr sz="1100" b="0" i="0">
                <a:solidFill>
                  <a:srgbClr val="F5F5F5"/>
                </a:solidFill>
                <a:latin typeface="Arial"/>
              </a:defRPr>
            </a:pPr>
            <a:r>
              <a:t>PER PERSON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029200"/>
            <a:ext cx="3200400" cy="10972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51206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5F5F5"/>
                </a:solidFill>
                <a:latin typeface="Arial"/>
              </a:defRPr>
            </a:pPr>
            <a:r>
              <a:t>3 Parts</a:t>
            </a:r>
          </a:p>
          <a:p>
            <a:pPr algn="ctr">
              <a:defRPr sz="1300" b="0" i="0">
                <a:solidFill>
                  <a:srgbClr val="888888"/>
                </a:solidFill>
                <a:latin typeface="Arial"/>
              </a:defRPr>
            </a:pPr>
            <a:r>
              <a:t>Tool / Workflow /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BSTC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81E1E"/>
                </a:solidFill>
                <a:latin typeface="Arial"/>
              </a:defRPr>
            </a:pPr>
            <a:r>
              <a:t>7:00 PM — AI INTEL DROP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5F5F5"/>
                </a:solidFill>
                <a:latin typeface="Arial"/>
              </a:defRPr>
            </a:pPr>
            <a:r>
              <a:t>This Week in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108960"/>
            <a:ext cx="731520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888888"/>
                </a:solidFill>
                <a:latin typeface="Arial"/>
              </a:defRPr>
            </a:pPr>
            <a:r>
              <a:t>The 5 signals that matter most from the last 7 days.</a:t>
            </a:r>
            <a:br/>
            <a:r>
              <a:t>What happened, and what it means for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2286000" cy="6400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5F5F5"/>
                </a:solidFill>
                <a:latin typeface="Arial"/>
              </a:defRPr>
            </a:pPr>
            <a:r>
              <a:t>50+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4800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C81E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754880"/>
            <a:ext cx="2286000" cy="6400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5F5F5"/>
                </a:solidFill>
                <a:latin typeface="Arial"/>
              </a:defRPr>
            </a:pPr>
            <a:r>
              <a:t>Signal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800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C81E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754880"/>
            <a:ext cx="2286000" cy="6400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5F5F5"/>
                </a:solidFill>
                <a:latin typeface="Arial"/>
              </a:defRPr>
            </a:pPr>
            <a:r>
              <a:t>Top 5 Tonight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BSTC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81E1E"/>
                </a:solidFill>
                <a:latin typeface="Arial"/>
              </a:defRPr>
            </a:pPr>
            <a:r>
              <a:t>SIGNAL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5F5F5"/>
                </a:solidFill>
                <a:latin typeface="Arial"/>
              </a:defRPr>
            </a:pPr>
            <a:r>
              <a:t>Stanford AI Index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731520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888888"/>
                </a:solidFill>
                <a:latin typeface="Arial"/>
              </a:defRPr>
            </a:pPr>
            <a:r>
              <a:t>AI agent task success rate jumped from 20% to 77% in 12 months. GenAI hit 53% population adoption in 3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029200" cy="91440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50800" cy="9144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F5F5"/>
                </a:solidFill>
                <a:latin typeface="Arial"/>
              </a:defRPr>
            </a:pPr>
            <a:r>
              <a:t>What this means for you:</a:t>
            </a:r>
          </a:p>
          <a:p>
            <a:pPr algn="l">
              <a:spcBef>
                <a:spcPts val="600"/>
              </a:spcBef>
              <a:defRPr sz="1300" b="0" i="0">
                <a:solidFill>
                  <a:srgbClr val="888888"/>
                </a:solidFill>
                <a:latin typeface="Arial"/>
              </a:defRPr>
            </a:pPr>
            <a:r>
              <a:t>If you tried AI agents 6 months ago and they felt unreliable, try again. The reliability gap just closed. The early-mover window is shrinking.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1645920" cy="164592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888888"/>
                </a:solidFill>
                <a:latin typeface="Arial"/>
              </a:defRPr>
            </a:pPr>
            <a:r>
              <a:t>20%</a:t>
            </a:r>
          </a:p>
          <a:p>
            <a:pPr algn="ctr">
              <a:spcBef>
                <a:spcPts val="800"/>
              </a:spcBef>
              <a:defRPr sz="1300" b="0" i="0">
                <a:solidFill>
                  <a:srgbClr val="888888"/>
                </a:solidFill>
                <a:latin typeface="Arial"/>
              </a:defRPr>
            </a:pPr>
            <a:r>
              <a:t>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C81E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1463040"/>
            <a:ext cx="1828800" cy="2194560"/>
          </a:xfrm>
          <a:prstGeom prst="round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5F5F5"/>
                </a:solidFill>
                <a:latin typeface="Arial"/>
              </a:defRPr>
            </a:pPr>
            <a:r>
              <a:t>77%</a:t>
            </a:r>
          </a:p>
          <a:p>
            <a:pPr algn="ctr">
              <a:spcBef>
                <a:spcPts val="800"/>
              </a:spcBef>
              <a:defRPr sz="1300" b="0" i="0">
                <a:solidFill>
                  <a:srgbClr val="F5F5F5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BSTC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81E1E"/>
                </a:solidFill>
                <a:latin typeface="Arial"/>
              </a:defRPr>
            </a:pPr>
            <a:r>
              <a:t>SIGNAL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5F5F5"/>
                </a:solidFill>
                <a:latin typeface="Arial"/>
              </a:defRPr>
            </a:pPr>
            <a:r>
              <a:t>Anthropic's Model Too</a:t>
            </a:r>
            <a:br/>
            <a:r>
              <a:t>Dangerous to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731520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888888"/>
                </a:solidFill>
                <a:latin typeface="Arial"/>
              </a:defRPr>
            </a:pPr>
            <a:r>
              <a:t>Project Glasswing: first frontier model deliberately withheld from public release due to offensive security capability.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486400" cy="91440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50800" cy="9144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F5F5"/>
                </a:solidFill>
                <a:latin typeface="Arial"/>
              </a:defRPr>
            </a:pPr>
            <a:r>
              <a:t>What this means for you:</a:t>
            </a:r>
          </a:p>
          <a:p>
            <a:pPr algn="l">
              <a:spcBef>
                <a:spcPts val="600"/>
              </a:spcBef>
              <a:defRPr sz="1300" b="0" i="0">
                <a:solidFill>
                  <a:srgbClr val="888888"/>
                </a:solidFill>
                <a:latin typeface="Arial"/>
              </a:defRPr>
            </a:pPr>
            <a:r>
              <a:t>Security hygiene is no longer optional. Patch management is existential. The defender window is open but finite.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828800"/>
            <a:ext cx="3657600" cy="128016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0116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C81E1E"/>
                </a:solidFill>
                <a:latin typeface="Arial"/>
              </a:defRPr>
            </a:pPr>
            <a:r>
              <a:t>83%</a:t>
            </a:r>
          </a:p>
          <a:p>
            <a:pPr algn="ctr">
              <a:spcBef>
                <a:spcPts val="400"/>
              </a:spcBef>
              <a:defRPr sz="1300" b="0" i="0">
                <a:solidFill>
                  <a:srgbClr val="888888"/>
                </a:solidFill>
                <a:latin typeface="Arial"/>
              </a:defRPr>
            </a:pPr>
            <a:r>
              <a:t>First-attempt exploit 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474720"/>
            <a:ext cx="3657600" cy="128016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657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C81E1E"/>
                </a:solidFill>
                <a:latin typeface="Arial"/>
              </a:defRPr>
            </a:pPr>
            <a:r>
              <a:t>10,000+</a:t>
            </a:r>
          </a:p>
          <a:p>
            <a:pPr algn="ctr">
              <a:spcBef>
                <a:spcPts val="400"/>
              </a:spcBef>
              <a:defRPr sz="1300" b="0" i="0">
                <a:solidFill>
                  <a:srgbClr val="888888"/>
                </a:solidFill>
                <a:latin typeface="Arial"/>
              </a:defRPr>
            </a:pPr>
            <a:r>
              <a:t>Zero-days found autonomously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BSTC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81E1E"/>
                </a:solidFill>
                <a:latin typeface="Arial"/>
              </a:defRPr>
            </a:pPr>
            <a:r>
              <a:t>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 i="0">
                <a:solidFill>
                  <a:srgbClr val="F5F5F5"/>
                </a:solidFill>
                <a:latin typeface="Arial"/>
              </a:defRPr>
            </a:pPr>
            <a:r>
              <a:t>And just this week...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4114800" cy="38404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F5F5"/>
                </a:solidFill>
                <a:latin typeface="Arial"/>
              </a:defRPr>
            </a:pPr>
            <a:r>
              <a:t>Anthropic ✔  @AnthropicAI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5F5F5"/>
                </a:solidFill>
                <a:latin typeface="Arial"/>
              </a:defRPr>
            </a:pPr>
            <a:r>
              <a:t>Introducing Project Glasswing: an urgent initiative to help secure the world's most critical software.</a:t>
            </a:r>
          </a:p>
          <a:p>
            <a:pPr algn="l">
              <a:defRPr sz="800" b="0" i="0">
                <a:solidFill>
                  <a:srgbClr val="F5F5F5"/>
                </a:solidFill>
                <a:latin typeface="Arial"/>
              </a:defRPr>
            </a:pPr>
          </a:p>
          <a:p>
            <a:pPr algn="l">
              <a:defRPr sz="1400" b="0" i="0">
                <a:solidFill>
                  <a:srgbClr val="F5F5F5"/>
                </a:solidFill>
                <a:latin typeface="Arial"/>
              </a:defRPr>
            </a:pPr>
            <a:r>
              <a:t>It's powered by our newest frontier model, Claude Mythos Preview, which can find software vulnerabilities better than all but the most skilled humans.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389120"/>
            <a:ext cx="3474720" cy="91440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4805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5F5F5"/>
                </a:solidFill>
                <a:latin typeface="Arial"/>
              </a:defRPr>
            </a:pPr>
            <a:r>
              <a:t>Project Glasswing</a:t>
            </a:r>
          </a:p>
          <a:p>
            <a:pPr algn="l">
              <a:defRPr sz="1100" b="0" i="0">
                <a:solidFill>
                  <a:srgbClr val="888888"/>
                </a:solidFill>
                <a:latin typeface="Arial"/>
              </a:defRPr>
            </a:pPr>
            <a:r>
              <a:t>Securing critical software for the AI 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486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88888"/>
                </a:solidFill>
                <a:latin typeface="Arial"/>
              </a:defRPr>
            </a:pPr>
            <a:r>
              <a:t>2:06 AM · Apr 8, 2026 · 14.4M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760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1.2K replies    7K reposts    28K likes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560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C81E1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5603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5F5F5"/>
                </a:solidFill>
                <a:latin typeface="Arial"/>
              </a:defRPr>
            </a:pPr>
            <a:r>
              <a:t>Anthropic sandboxed its new model "Mythos" and told it to escape, it chained vulnerabilities, broke containment and got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749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C81E1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74904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5F5F5"/>
                </a:solidFill>
                <a:latin typeface="Arial"/>
              </a:defRPr>
            </a:pPr>
            <a:r>
              <a:t>Mythos has uncovered "thousands" of zero-days across every major OS and browser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937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C81E1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93776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5F5F5"/>
                </a:solidFill>
                <a:latin typeface="Arial"/>
              </a:defRPr>
            </a:pPr>
            <a:r>
              <a:t>Anthropic is refusing public release and launching Glasswing, a defensive-only coalition with Apple, Google, Nvidia etc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C81E1E"/>
                </a:solidFill>
                <a:latin typeface="Arial"/>
              </a:defRPr>
            </a:pPr>
            <a:r>
              <a:t>Anthropic's new model broke out of its sandbox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BSTC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81E1E"/>
                </a:solidFill>
                <a:latin typeface="Arial"/>
              </a:defRPr>
            </a:pPr>
            <a:r>
              <a:t>SIGNAL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5F5F5"/>
                </a:solidFill>
                <a:latin typeface="Arial"/>
              </a:defRPr>
            </a:pPr>
            <a:r>
              <a:t>DeepSeek V4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731520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888888"/>
                </a:solidFill>
                <a:latin typeface="Arial"/>
              </a:defRPr>
            </a:pPr>
            <a:r>
              <a:t>Near-frontier performance. Fraction of the cost. One trillion parameters trained for $5.2M.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029200" cy="91440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50800" cy="9144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F5F5"/>
                </a:solidFill>
                <a:latin typeface="Arial"/>
              </a:defRPr>
            </a:pPr>
            <a:r>
              <a:t>What this means for you:</a:t>
            </a:r>
          </a:p>
          <a:p>
            <a:pPr algn="l">
              <a:spcBef>
                <a:spcPts val="600"/>
              </a:spcBef>
              <a:defRPr sz="1300" b="0" i="0">
                <a:solidFill>
                  <a:srgbClr val="888888"/>
                </a:solidFill>
                <a:latin typeface="Arial"/>
              </a:defRPr>
            </a:pPr>
            <a:r>
              <a:t>Your AI cost assumptions from 6 months ago are stale. Frontier capability is getting dramatically cheaper. Barriers to entry are collapsing.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645920"/>
            <a:ext cx="4572000" cy="228600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88888"/>
                </a:solidFill>
                <a:latin typeface="Arial"/>
              </a:defRPr>
            </a:pPr>
            <a:r>
              <a:t>COST PER MILLION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77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888888"/>
                </a:solidFill>
                <a:latin typeface="Arial"/>
              </a:defRPr>
            </a:pPr>
            <a:r>
              <a:t>$2.00+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Western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C81E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C81E1E"/>
                </a:solidFill>
                <a:latin typeface="Arial"/>
              </a:defRPr>
            </a:pPr>
            <a:r>
              <a:t>$0.28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DeepSeek V4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4389120"/>
            <a:ext cx="4572000" cy="10972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4480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5F5F5"/>
                </a:solidFill>
                <a:latin typeface="Arial"/>
              </a:defRPr>
            </a:pPr>
            <a:r>
              <a:t>1T</a:t>
            </a:r>
          </a:p>
          <a:p>
            <a:pPr algn="ctr">
              <a:defRPr sz="1300" b="0" i="0">
                <a:solidFill>
                  <a:srgbClr val="888888"/>
                </a:solidFill>
                <a:latin typeface="Arial"/>
              </a:defRPr>
            </a:pPr>
            <a:r>
              <a:t>Parameters (Mixture-of-Experts)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BSTC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81E1E"/>
                </a:solidFill>
                <a:latin typeface="Arial"/>
              </a:defRPr>
            </a:pPr>
            <a:r>
              <a:t>SIGNAL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5F5F5"/>
                </a:solidFill>
                <a:latin typeface="Arial"/>
              </a:defRPr>
            </a:pPr>
            <a:r>
              <a:t>Google AI Mode Is</a:t>
            </a:r>
            <a:br/>
            <a:r>
              <a:t>Eating Your Traffic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731520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888888"/>
                </a:solidFill>
                <a:latin typeface="Arial"/>
              </a:defRPr>
            </a:pPr>
            <a:r>
              <a:t>Google now answers questions directly with AI. Users get what they need without clicking through to your site.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486400" cy="91440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50800" cy="9144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F5F5"/>
                </a:solidFill>
                <a:latin typeface="Arial"/>
              </a:defRPr>
            </a:pPr>
            <a:r>
              <a:t>What this means for you:</a:t>
            </a:r>
          </a:p>
          <a:p>
            <a:pPr algn="l">
              <a:spcBef>
                <a:spcPts val="600"/>
              </a:spcBef>
              <a:defRPr sz="1300" b="0" i="0">
                <a:solidFill>
                  <a:srgbClr val="888888"/>
                </a:solidFill>
                <a:latin typeface="Arial"/>
              </a:defRPr>
            </a:pPr>
            <a:r>
              <a:t>The game changed from ranking on page one to being cited in the AI answer. SEO is becoming AEO (Answer Engine Optimisation).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011680"/>
            <a:ext cx="3200400" cy="10972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194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888888"/>
                </a:solidFill>
                <a:latin typeface="Arial"/>
              </a:defRPr>
            </a:pPr>
            <a:r>
              <a:t>SEO</a:t>
            </a:r>
          </a:p>
          <a:p>
            <a:pPr algn="ct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Search Engine Optimisation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291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C81E1E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931920"/>
            <a:ext cx="3200400" cy="118872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114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C81E1E"/>
                </a:solidFill>
                <a:latin typeface="Arial"/>
              </a:defRPr>
            </a:pPr>
            <a:r>
              <a:t>AEO</a:t>
            </a:r>
          </a:p>
          <a:p>
            <a:pPr algn="ct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Answer Engine Optimisation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BSTC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81E1E"/>
                </a:solidFill>
                <a:latin typeface="Arial"/>
              </a:defRPr>
            </a:pPr>
            <a:r>
              <a:t>SIGNAL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5F5F5"/>
                </a:solidFill>
                <a:latin typeface="Arial"/>
              </a:defRPr>
            </a:pPr>
            <a:r>
              <a:t>Shopify Ships</a:t>
            </a:r>
            <a:br/>
            <a:r>
              <a:t>Agent-Native Commerce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731520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888888"/>
                </a:solidFill>
                <a:latin typeface="Arial"/>
              </a:defRPr>
            </a:pPr>
            <a:r>
              <a:t>First major SaaS platform to ship infrastructure where AI agents manage your store directly. Not a chatbot overlay. Real agent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486400" cy="91440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50800" cy="9144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F5F5"/>
                </a:solidFill>
                <a:latin typeface="Arial"/>
              </a:defRPr>
            </a:pPr>
            <a:r>
              <a:t>What this means for you:</a:t>
            </a:r>
          </a:p>
          <a:p>
            <a:pPr algn="l">
              <a:spcBef>
                <a:spcPts val="600"/>
              </a:spcBef>
              <a:defRPr sz="1300" b="0" i="0">
                <a:solidFill>
                  <a:srgbClr val="888888"/>
                </a:solidFill>
                <a:latin typeface="Arial"/>
              </a:defRPr>
            </a:pPr>
            <a:r>
              <a:t>One operator can now do what required a team. Every SaaS platform will follow Shopify's lead. Watch for agent toolkits from your vendors.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011680"/>
            <a:ext cx="3200400" cy="6400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1E1E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F5F5"/>
                </a:solidFill>
                <a:latin typeface="Arial"/>
              </a:defRPr>
            </a:pPr>
            <a:r>
              <a:t>Claude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834640"/>
            <a:ext cx="3200400" cy="6400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1E1E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F5F5"/>
                </a:solidFill>
                <a:latin typeface="Arial"/>
              </a:defRPr>
            </a:pPr>
            <a:r>
              <a:t>OpenAI Codex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657600"/>
            <a:ext cx="3200400" cy="6400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3749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1E1E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749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F5F5"/>
                </a:solidFill>
                <a:latin typeface="Arial"/>
              </a:defRPr>
            </a:pPr>
            <a:r>
              <a:t>Cursor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480560"/>
            <a:ext cx="3200400" cy="6400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4572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1E1E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F5F5"/>
                </a:solidFill>
                <a:latin typeface="Arial"/>
              </a:defRPr>
            </a:pPr>
            <a:r>
              <a:t>Gemini CLI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88"/>
                </a:solidFill>
                <a:latin typeface="Arial"/>
              </a:defRPr>
            </a:pPr>
            <a:r>
              <a:t>Via MCP Server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BSTC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81E1E"/>
                </a:solidFill>
                <a:latin typeface="Arial"/>
              </a:defRPr>
            </a:pPr>
            <a:r>
              <a:t>HOW TO GET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5F5F5"/>
                </a:solidFill>
                <a:latin typeface="Arial"/>
              </a:defRPr>
            </a:pPr>
            <a:r>
              <a:t>Pick Your Level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3474720" cy="38404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81E1E"/>
                </a:solidFill>
                <a:latin typeface="Arial"/>
              </a:defRPr>
            </a:pPr>
            <a:r>
              <a:t>TIER 1: EXPLORER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5F5F5"/>
                </a:solidFill>
                <a:latin typeface="Arial"/>
              </a:defRPr>
            </a:pPr>
            <a:r>
              <a:t>Never Used AI Seriously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49039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88888"/>
                </a:solidFill>
                <a:latin typeface="Arial"/>
              </a:defRPr>
            </a:pPr>
            <a:r>
              <a:t>•  Pick one daily task (email, research, writing)</a:t>
            </a:r>
            <a:br/>
            <a:r>
              <a:t>•  Use free tier: ChatGPT, Claude, or Gemini</a:t>
            </a:r>
            <a:br/>
            <a:r>
              <a:t>•  Commit to 2 weeks straight</a:t>
            </a:r>
            <a:br/>
            <a:r>
              <a:t>•  Goal: build the muscle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377440"/>
            <a:ext cx="3474720" cy="38404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81E1E"/>
                </a:solidFill>
                <a:latin typeface="Arial"/>
              </a:defRPr>
            </a:pPr>
            <a:r>
              <a:t>TIER 2: OPERATOR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5F5F5"/>
                </a:solidFill>
                <a:latin typeface="Arial"/>
              </a:defRPr>
            </a:pPr>
            <a:r>
              <a:t>Using AI, Not Systematically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749039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88888"/>
                </a:solidFill>
                <a:latin typeface="Arial"/>
              </a:defRPr>
            </a:pPr>
            <a:r>
              <a:t>•  Build a personal AI stack</a:t>
            </a:r>
            <a:br/>
            <a:r>
              <a:t>•  Claude for deep work, ChatGPT for quick answers, Perplexity for research</a:t>
            </a:r>
            <a:br/>
            <a:r>
              <a:t>•  Start saving your best prompts</a:t>
            </a:r>
            <a:br/>
            <a:r>
              <a:t>•  Your prompts are your 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9" y="2377440"/>
            <a:ext cx="3474720" cy="38404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81E1E"/>
                </a:solidFill>
                <a:latin typeface="Arial"/>
              </a:defRPr>
            </a:pPr>
            <a:r>
              <a:t>TIER 3: BUILDER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5F5F5"/>
                </a:solidFill>
                <a:latin typeface="Arial"/>
              </a:defRPr>
            </a:pPr>
            <a:r>
              <a:t>Ready to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3749039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88888"/>
                </a:solidFill>
                <a:latin typeface="Arial"/>
              </a:defRPr>
            </a:pPr>
            <a:r>
              <a:t>•  Agent frameworks: Claude Code, Cursor, MCP</a:t>
            </a:r>
            <a:br/>
            <a:r>
              <a:t>•  77% success rate = production ready</a:t>
            </a:r>
            <a:br/>
            <a:r>
              <a:t>•  Start with internal ops, not customer-facing</a:t>
            </a:r>
            <a:br/>
            <a:r>
              <a:t>•  Build confidence, then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BSTC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5F5F5"/>
                </a:solidFill>
                <a:latin typeface="Arial"/>
              </a:defRPr>
            </a:pPr>
            <a:r>
              <a:t>Token optimisation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85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888888"/>
                </a:solidFill>
                <a:latin typeface="Arial"/>
              </a:defRPr>
            </a:pPr>
            <a:r>
              <a:t>(take a photo)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C81E1E"/>
                </a:solidFill>
                <a:latin typeface="Arial"/>
              </a:defRPr>
            </a:pPr>
            <a:r>
              <a:t>The prompt that sets Sonnet default and Opus for complex tasks: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C81E1E"/>
                </a:solidFill>
                <a:latin typeface="Arial"/>
              </a:defRPr>
            </a:pPr>
            <a:r>
              <a:t>90% intelligence at 20%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5F5F5"/>
                </a:solidFill>
                <a:latin typeface="Arial"/>
              </a:defRPr>
            </a:pPr>
            <a:r>
              <a:t>Run your daily Claude Code session with Sonnet as the default executor: claude --model claude-sonnet-4-6</a:t>
            </a:r>
            <a:br/>
            <a:br/>
            <a:r>
              <a:t>Then in your project's CLAUDE.md, add: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303520" cy="256032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88888"/>
                </a:solidFill>
                <a:latin typeface="Courier New"/>
              </a:defRPr>
            </a:pPr>
            <a:r>
              <a:t>"When facing architectural decisions, ambiguous requirements, multi-file refactors, or complex debugging, use the Agent tool with model: "opus" to reason through the approach before executing. For all other tasks (file reads, edits, grep, tests, single-file changes), handle them directly without escalating. The Opus advisor reads the same shared context, so there is no loss of continuity."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63040"/>
            <a:ext cx="4846320" cy="20116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F5F5"/>
                </a:solidFill>
                <a:latin typeface="Arial"/>
              </a:defRPr>
            </a:pPr>
            <a:r>
              <a:t>Claude ✔  @claudeai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031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F5F5"/>
                </a:solidFill>
                <a:latin typeface="Arial"/>
              </a:defRPr>
            </a:pPr>
            <a:r>
              <a:t>We're bringing the advisor strategy to the Claude Platform.</a:t>
            </a:r>
          </a:p>
          <a:p>
            <a:pPr algn="l">
              <a:defRPr sz="600" b="0" i="0">
                <a:solidFill>
                  <a:srgbClr val="F5F5F5"/>
                </a:solidFill>
                <a:latin typeface="Arial"/>
              </a:defRPr>
            </a:pPr>
          </a:p>
          <a:p>
            <a:pPr algn="l">
              <a:defRPr sz="1400" b="0" i="0">
                <a:solidFill>
                  <a:srgbClr val="888888"/>
                </a:solidFill>
                <a:latin typeface="Arial"/>
              </a:defRPr>
            </a:pPr>
            <a:r>
              <a:t>Pair Opus as an advisor with Sonnet or Haiku as an executor, and get near Opus-level intelligence in your agents at a fraction of the cost.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840480"/>
            <a:ext cx="4846320" cy="256032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88888"/>
                </a:solidFill>
                <a:latin typeface="Arial"/>
              </a:defRPr>
            </a:pPr>
            <a:r>
              <a:t>THE ADVISOR STRATEGY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4572000"/>
            <a:ext cx="1828800" cy="914400"/>
          </a:xfrm>
          <a:prstGeom prst="round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663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5F5F5"/>
                </a:solidFill>
                <a:latin typeface="Arial"/>
              </a:defRPr>
            </a:pPr>
            <a:r>
              <a:t>Executor</a:t>
            </a:r>
          </a:p>
          <a:p>
            <a:pPr algn="ctr">
              <a:defRPr sz="1200" b="0" i="0">
                <a:solidFill>
                  <a:srgbClr val="F5F5F5"/>
                </a:solidFill>
                <a:latin typeface="Arial"/>
              </a:defRPr>
            </a:pPr>
            <a:r>
              <a:t>Sonnet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88"/>
                </a:solidFill>
                <a:latin typeface="Arial"/>
              </a:defRPr>
            </a:pPr>
            <a:r>
              <a:t>Runs every 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C81E1E"/>
                </a:solidFill>
                <a:latin typeface="Arial"/>
              </a:defRPr>
            </a:pPr>
            <a:r>
              <a:t>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4572000"/>
            <a:ext cx="1828800" cy="914400"/>
          </a:xfrm>
          <a:prstGeom prst="round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4663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5F5F5"/>
                </a:solidFill>
                <a:latin typeface="Arial"/>
              </a:defRPr>
            </a:pPr>
            <a:r>
              <a:t>Advisor</a:t>
            </a:r>
          </a:p>
          <a:p>
            <a:pPr algn="ctr">
              <a:defRPr sz="1200" b="0" i="0">
                <a:solidFill>
                  <a:srgbClr val="F5F5F5"/>
                </a:solidFill>
                <a:latin typeface="Arial"/>
              </a:defRPr>
            </a:pPr>
            <a:r>
              <a:t>Opus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88"/>
                </a:solidFill>
                <a:latin typeface="Arial"/>
              </a:defRPr>
            </a:pPr>
            <a:r>
              <a:t>On demand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6035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Shared context — no loss of continuity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BSTC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81E1E"/>
                </a:solidFill>
                <a:latin typeface="Arial"/>
              </a:defRPr>
            </a:pPr>
            <a:r>
              <a:t>7:15 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 i="0">
                <a:solidFill>
                  <a:srgbClr val="F5F5F5"/>
                </a:solidFill>
                <a:latin typeface="Arial"/>
              </a:defRPr>
            </a:pPr>
            <a:r>
              <a:t>Dinner &amp; Drinks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0" y="3657600"/>
            <a:ext cx="731520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888888"/>
                </a:solidFill>
                <a:latin typeface="Arial"/>
              </a:defRPr>
            </a:pPr>
            <a:r>
              <a:t>Order up. Best conversations happen over food.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888888"/>
                </a:solidFill>
                <a:latin typeface="Arial"/>
              </a:defRPr>
            </a:pPr>
            <a:r>
              <a:t>Builder Spotlights start at 7:30 sharp.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BSTC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81E1E"/>
                </a:solidFill>
                <a:latin typeface="Arial"/>
              </a:defRPr>
            </a:pPr>
            <a:r>
              <a:t>7:30 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 i="0">
                <a:solidFill>
                  <a:srgbClr val="F5F5F5"/>
                </a:solidFill>
                <a:latin typeface="Arial"/>
              </a:defRPr>
            </a:pPr>
            <a:r>
              <a:t>Builder Spotlights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0" y="3200400"/>
            <a:ext cx="731520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3840480"/>
            <a:ext cx="2926080" cy="20116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40233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C81E1E"/>
                </a:solidFill>
                <a:latin typeface="Arial"/>
              </a:defRPr>
            </a:pPr>
            <a:r>
              <a:t>01</a:t>
            </a:r>
          </a:p>
          <a:p>
            <a:pPr algn="ctr">
              <a:spcBef>
                <a:spcPts val="800"/>
              </a:spcBef>
              <a:defRPr sz="1600" b="1" i="0">
                <a:solidFill>
                  <a:srgbClr val="F5F5F5"/>
                </a:solidFill>
                <a:latin typeface="Arial"/>
              </a:defRPr>
            </a:pPr>
            <a:r>
              <a:t>10 min + 5 min Q&amp;A</a:t>
            </a:r>
          </a:p>
          <a:p>
            <a:pPr algn="ctr">
              <a:spcBef>
                <a:spcPts val="600"/>
              </a:spcBef>
              <a:defRPr sz="1300" b="0" i="0">
                <a:solidFill>
                  <a:srgbClr val="888888"/>
                </a:solidFill>
                <a:latin typeface="Arial"/>
              </a:defRPr>
            </a:pPr>
            <a:r>
              <a:t>What you built. How you built it.</a:t>
            </a:r>
            <a:br/>
            <a:r>
              <a:t>What it does for your business.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840480"/>
            <a:ext cx="2926080" cy="20116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40233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C81E1E"/>
                </a:solidFill>
                <a:latin typeface="Arial"/>
              </a:defRPr>
            </a:pPr>
            <a:r>
              <a:t>02</a:t>
            </a:r>
          </a:p>
          <a:p>
            <a:pPr algn="ctr">
              <a:spcBef>
                <a:spcPts val="800"/>
              </a:spcBef>
              <a:defRPr sz="1600" b="1" i="0">
                <a:solidFill>
                  <a:srgbClr val="F5F5F5"/>
                </a:solidFill>
                <a:latin typeface="Arial"/>
              </a:defRPr>
            </a:pPr>
            <a:r>
              <a:t>10 min + 5 min Q&amp;A</a:t>
            </a:r>
          </a:p>
          <a:p>
            <a:pPr algn="ctr">
              <a:spcBef>
                <a:spcPts val="600"/>
              </a:spcBef>
              <a:defRPr sz="1300" b="0" i="0">
                <a:solidFill>
                  <a:srgbClr val="888888"/>
                </a:solidFill>
                <a:latin typeface="Arial"/>
              </a:defRPr>
            </a:pPr>
            <a:r>
              <a:t>What you built. How you built it.</a:t>
            </a:r>
            <a:br/>
            <a:r>
              <a:t>What it does for your business.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BSTC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81E1E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5F5F5"/>
                </a:solidFill>
                <a:latin typeface="Arial"/>
              </a:defRPr>
            </a:pPr>
            <a:r>
              <a:t>See You at</a:t>
            </a:r>
            <a:br/>
            <a:r>
              <a:t>Edition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0" y="2743200"/>
            <a:ext cx="731520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3200400"/>
            <a:ext cx="2286000" cy="10972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88888"/>
                </a:solidFill>
                <a:latin typeface="Arial"/>
              </a:defRPr>
            </a:pPr>
            <a:r>
              <a:t>YOUTUBE</a:t>
            </a:r>
          </a:p>
          <a:p>
            <a:pPr algn="ctr">
              <a:spcBef>
                <a:spcPts val="800"/>
              </a:spcBef>
              <a:defRPr sz="1700" b="1" i="0">
                <a:solidFill>
                  <a:srgbClr val="F5F5F5"/>
                </a:solidFill>
                <a:latin typeface="Arial"/>
              </a:defRPr>
            </a:pPr>
            <a:r>
              <a:t>@joshbuildswithai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3200400"/>
            <a:ext cx="2286000" cy="10972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88888"/>
                </a:solidFill>
                <a:latin typeface="Arial"/>
              </a:defRPr>
            </a:pPr>
            <a:r>
              <a:t>INSTAGRAM</a:t>
            </a:r>
          </a:p>
          <a:p>
            <a:pPr algn="ctr">
              <a:spcBef>
                <a:spcPts val="800"/>
              </a:spcBef>
              <a:defRPr sz="1700" b="1" i="0">
                <a:solidFill>
                  <a:srgbClr val="F5F5F5"/>
                </a:solidFill>
                <a:latin typeface="Arial"/>
              </a:defRPr>
            </a:pPr>
            <a:r>
              <a:t>@joshbuildswithai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200400"/>
            <a:ext cx="2286000" cy="10972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88888"/>
                </a:solidFill>
                <a:latin typeface="Arial"/>
              </a:defRPr>
            </a:pPr>
            <a:r>
              <a:t>TIKTOK</a:t>
            </a:r>
          </a:p>
          <a:p>
            <a:pPr algn="ctr">
              <a:spcBef>
                <a:spcPts val="800"/>
              </a:spcBef>
              <a:defRPr sz="1700" b="1" i="0">
                <a:solidFill>
                  <a:srgbClr val="F5F5F5"/>
                </a:solidFill>
                <a:latin typeface="Arial"/>
              </a:defRPr>
            </a:pPr>
            <a:r>
              <a:t>@joshbuildswithai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754880"/>
            <a:ext cx="7315200" cy="164592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493776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C81E1E"/>
                </a:solidFill>
                <a:latin typeface="Arial"/>
              </a:defRPr>
            </a:pPr>
            <a:r>
              <a:t>NEXT WEEK — EDITION 2</a:t>
            </a:r>
          </a:p>
          <a:p>
            <a:pPr algn="ctr">
              <a:spcBef>
                <a:spcPts val="800"/>
              </a:spcBef>
              <a:defRPr sz="2600" b="1" i="0">
                <a:solidFill>
                  <a:srgbClr val="F5F5F5"/>
                </a:solidFill>
                <a:latin typeface="Arial"/>
              </a:defRPr>
            </a:pPr>
            <a:r>
              <a:t>Paperclip &amp; Hermes Workflows</a:t>
            </a:r>
          </a:p>
          <a:p>
            <a:pPr algn="ctr">
              <a:spcBef>
                <a:spcPts val="600"/>
              </a:spcBef>
              <a:defRPr sz="1500" b="0" i="0">
                <a:solidFill>
                  <a:srgbClr val="888888"/>
                </a:solidFill>
                <a:latin typeface="Arial"/>
              </a:defRPr>
            </a:pPr>
            <a:r>
              <a:t>Turning conversations into revenue. Automating outreach at scale.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BSTC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88888"/>
                </a:solidFill>
                <a:latin typeface="Arial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