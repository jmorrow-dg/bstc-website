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PARTNERSHIP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JUNE 2026 ·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A CATEGORY-EXCLUSIVE PARTNERSHIP</a:t>
            </a:r>
          </a:p>
        </p:txBody>
      </p:sp>
      <p:pic>
        <p:nvPicPr>
          <p:cNvPr id="5" name="Picture 4" descr="n8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2026428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40" y="23317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6E6E6E"/>
                </a:solidFill>
                <a:latin typeface="Georgia"/>
              </a:rPr>
              <a:t>×</a:t>
            </a:r>
          </a:p>
        </p:txBody>
      </p:sp>
      <p:pic>
        <p:nvPicPr>
          <p:cNvPr id="7" name="Picture 6" descr="bstc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33172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23317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F5F5"/>
                </a:solidFill>
                <a:latin typeface="Georgia"/>
              </a:rPr>
              <a:t>BSTC</a:t>
            </a:r>
          </a:p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9A"/>
                </a:solidFill>
                <a:latin typeface="Courier New"/>
              </a:rPr>
              <a:t>BALI STARTUPS &amp; TECH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5F5F5"/>
                </a:solidFill>
                <a:latin typeface="Georgia"/>
              </a:rPr>
              <a:t>Own the automation category in</a:t>
            </a:r>
          </a:p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C81E1E"/>
                </a:solidFill>
                <a:latin typeface="Georgia"/>
              </a:rPr>
              <a:t>Bali's builder ecosystem.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PREPARED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F5F5"/>
                </a:solidFill>
                <a:latin typeface="Georgia"/>
              </a:rPr>
              <a:t>The n8n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16636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3949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F5F5"/>
                </a:solidFill>
                <a:latin typeface="Georgia"/>
              </a:rPr>
              <a:t>BSTC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16636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53949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F5F5"/>
                </a:solidFill>
                <a:latin typeface="Georgia"/>
              </a:rPr>
              <a:t>Community partnership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N8N × BSTC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N8N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THE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The cost of building a company </a:t>
            </a:r>
            <a:r>
              <a:rPr sz="3300" b="1" i="0">
                <a:solidFill>
                  <a:srgbClr val="C81E1E"/>
                </a:solidFill>
                <a:latin typeface="Georgia"/>
              </a:rPr>
              <a:t>just collapsed.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FCFCF"/>
                </a:solidFill>
                <a:latin typeface="Helvetica Neue"/>
              </a:rPr>
              <a:t>AI has democratised building. A single founder can now design, build and automate what used to take a funded team, and a new wave of AI-native builders is the result. It is accelerating, and they are wiring up their tooling right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33079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DEMOCRATISED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0128"/>
            <a:ext cx="3307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5"/>
                </a:solidFill>
                <a:latin typeface="Georgia"/>
              </a:rPr>
              <a:t>Anyone can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67328"/>
            <a:ext cx="330799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AI and no-code tools have removed the technical barrier. An idea becomes a live, automated product without a dev team.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1850" y="3063240"/>
            <a:ext cx="33079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AN AI-NATIVE WAVE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1850" y="3310128"/>
            <a:ext cx="3307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5"/>
                </a:solidFill>
                <a:latin typeface="Georgia"/>
              </a:rPr>
              <a:t>Everyone automates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1850" y="3767328"/>
            <a:ext cx="330799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Solo founders and small teams wire tools together and orchestrate AI agents to do the work of ten. The volume is rising fast.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0740" y="3063240"/>
            <a:ext cx="33079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THE LAST SIX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0740" y="3310128"/>
            <a:ext cx="3307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5"/>
                </a:solidFill>
                <a:latin typeface="Georgia"/>
              </a:rPr>
              <a:t>About </a:t>
            </a:r>
            <a:r>
              <a:rPr sz="1600" b="1" i="0">
                <a:solidFill>
                  <a:srgbClr val="C81E1E"/>
                </a:solidFill>
                <a:latin typeface="Georgia"/>
              </a:rPr>
              <a:t>10x</a:t>
            </a:r>
            <a:r>
              <a:rPr sz="1600" b="1" i="0">
                <a:solidFill>
                  <a:srgbClr val="F5F5F5"/>
                </a:solidFill>
                <a:latin typeface="Georgia"/>
              </a:rPr>
              <a:t> the requests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0740" y="4481810"/>
            <a:ext cx="310896" cy="71901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7588" y="459028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9A9A9A"/>
                </a:solidFill>
                <a:latin typeface="Courier New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27084" y="4496190"/>
            <a:ext cx="310896" cy="57521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3932" y="459028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9A9A9A"/>
                </a:solidFill>
                <a:latin typeface="Courier New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3428" y="4453049"/>
            <a:ext cx="310896" cy="100662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20276" y="459028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9A9A9A"/>
                </a:solidFill>
                <a:latin typeface="Courier New"/>
              </a:rPr>
              <a:t>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9772" y="3805936"/>
            <a:ext cx="310896" cy="747776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620" y="459028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9A9A9A"/>
                </a:solidFill>
                <a:latin typeface="Courier New"/>
              </a:rPr>
              <a:t>104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6116" y="3849076"/>
            <a:ext cx="310896" cy="704635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2964" y="459028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9A9A9A"/>
                </a:solidFill>
                <a:latin typeface="Courier New"/>
              </a:rPr>
              <a:t>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92460" y="3712464"/>
            <a:ext cx="310896" cy="841248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19308" y="459028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9A9A9A"/>
                </a:solidFill>
                <a:latin typeface="Courier New"/>
              </a:rPr>
              <a:t>117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0740" y="4791456"/>
            <a:ext cx="3307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9A9A"/>
                </a:solidFill>
                <a:latin typeface="Helvetica Neue"/>
              </a:rPr>
              <a:t>New member requests /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FCFCF"/>
                </a:solidFill>
                <a:latin typeface="Helvetica Neue"/>
              </a:rPr>
              <a:t>They automate from day one, and they are choosing their tooling stack now. The window to become their default is open.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WHY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WHY THIS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N8N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You power the builders </a:t>
            </a:r>
            <a:r>
              <a:rPr sz="3300" b="0" i="1">
                <a:solidFill>
                  <a:srgbClr val="F5F5F5"/>
                </a:solidFill>
                <a:latin typeface="Georgia"/>
              </a:rPr>
              <a:t>automating</a:t>
            </a:r>
            <a:r>
              <a:rPr sz="3300" b="1" i="0">
                <a:solidFill>
                  <a:srgbClr val="F5F5F5"/>
                </a:solidFill>
                <a:latin typeface="Georgia"/>
              </a:rPr>
              <a:t> their work.</a:t>
            </a:r>
          </a:p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C81E1E"/>
                </a:solidFill>
                <a:latin typeface="Georgia"/>
              </a:rPr>
              <a:t>So do we.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FCFCF"/>
                </a:solidFill>
                <a:latin typeface="Helvetica Neue"/>
              </a:rPr>
              <a:t>Bali has quietly become a real hub for global-first builders. BSTC is its centre of gravity: 2,500+ founders, engineers and operators, most of them automating everything they can and building with AI from day one. That is your user, in one room, every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THE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THE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N8N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SIZE &amp;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Bali's builder community, </a:t>
            </a:r>
            <a:r>
              <a:rPr sz="3300" b="1" i="0">
                <a:solidFill>
                  <a:srgbClr val="C81E1E"/>
                </a:solidFill>
                <a:latin typeface="Georgia"/>
              </a:rPr>
              <a:t>in one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3332378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505456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5F5"/>
                </a:solidFill>
                <a:latin typeface="Georgia"/>
              </a:rPr>
              <a:t>2,500+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154680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Founders, engineers &amp; operators in the community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58" y="2286000"/>
            <a:ext cx="3332378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5690" y="2505456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5F5"/>
                </a:solidFill>
                <a:latin typeface="Georgia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5690" y="3154680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Monthly flagship networking nights, and counting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6356" y="2286000"/>
            <a:ext cx="3332378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2388" y="2505456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5F5"/>
                </a:solidFill>
                <a:latin typeface="Georgia"/>
              </a:rPr>
              <a:t>40–80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2388" y="3154680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High-signal attendees at every flagship night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959352"/>
            <a:ext cx="3332378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78808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5F5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828032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Event formats: networking, How I Build with AI, builder sessions, roundtables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9658" y="3959352"/>
            <a:ext cx="3332378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5690" y="4178808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5F5"/>
                </a:solidFill>
                <a:latin typeface="Georgia"/>
              </a:rPr>
              <a:t>10+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5690" y="4828032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Editions of the How I Build with AI series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6356" y="3959352"/>
            <a:ext cx="3332378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2388" y="4178808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8B04B"/>
                </a:solidFill>
                <a:latin typeface="Georgia"/>
              </a:rPr>
              <a:t>[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2388" y="4828032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Events run in the last 12 months  </a:t>
            </a:r>
            <a:r>
              <a:rPr sz="1050" b="0" i="0">
                <a:solidFill>
                  <a:srgbClr val="EA4B71"/>
                </a:solidFill>
                <a:latin typeface="Helvetica Neue"/>
              </a:rPr>
              <a:t>(confirm)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THE 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N8N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F5F5F5"/>
                </a:solidFill>
                <a:latin typeface="Georgia"/>
              </a:rPr>
              <a:t>Compounding every month, </a:t>
            </a:r>
            <a:r>
              <a:rPr sz="3000" b="1" i="0">
                <a:solidFill>
                  <a:srgbClr val="C81E1E"/>
                </a:solidFill>
                <a:latin typeface="Georgia"/>
              </a:rPr>
              <a:t>with zero paid acquisition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46304" cy="146304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46888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5F5F5"/>
                </a:solidFill>
                <a:latin typeface="Helvetica Neue"/>
              </a:rPr>
              <a:t>3+ years of monthly flagships</a:t>
            </a:r>
            <a:r>
              <a:rPr sz="1250" b="0" i="0">
                <a:solidFill>
                  <a:srgbClr val="CFCFCF"/>
                </a:solidFill>
                <a:latin typeface="Helvetica Neue"/>
              </a:rPr>
              <a:t>, now on edition 37, never missed a month.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91840"/>
            <a:ext cx="146304" cy="146304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324612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5F5F5"/>
                </a:solidFill>
                <a:latin typeface="Helvetica Neue"/>
              </a:rPr>
              <a:t>Word-of-mouth only. </a:t>
            </a:r>
            <a:r>
              <a:rPr sz="1250" b="0" i="0">
                <a:solidFill>
                  <a:srgbClr val="CFCFCF"/>
                </a:solidFill>
                <a:latin typeface="Helvetica Neue"/>
              </a:rPr>
              <a:t>Growth is organic, driven by the quality of the room, not ad spend.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69080"/>
            <a:ext cx="146304" cy="146304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402336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5F5F5"/>
                </a:solidFill>
                <a:latin typeface="Helvetica Neue"/>
              </a:rPr>
              <a:t>An owned audience. </a:t>
            </a:r>
            <a:r>
              <a:rPr sz="1250" b="0" i="0">
                <a:solidFill>
                  <a:srgbClr val="CFCFCF"/>
                </a:solidFill>
                <a:latin typeface="Helvetica Neue"/>
              </a:rPr>
              <a:t>Every member now flows into our CRM with email and consent.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24028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C81E1E"/>
                </a:solidFill>
                <a:latin typeface="Georgia"/>
              </a:rPr>
              <a:t>240%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29184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MEMBER GROWTH, YEAR ON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4869180"/>
            <a:ext cx="658368" cy="205739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5129783"/>
            <a:ext cx="8412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9A9A9A"/>
                </a:solidFill>
                <a:latin typeface="Courier New"/>
              </a:rPr>
              <a:t>2023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4640580"/>
            <a:ext cx="658368" cy="434340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5129783"/>
            <a:ext cx="8412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9A9A9A"/>
                </a:solidFill>
                <a:latin typeface="Courier New"/>
              </a:rPr>
              <a:t>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4366259"/>
            <a:ext cx="658368" cy="708660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5129783"/>
            <a:ext cx="8412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9A9A9A"/>
                </a:solidFill>
                <a:latin typeface="Courier New"/>
              </a:rPr>
              <a:t>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95560" y="3931920"/>
            <a:ext cx="658368" cy="1143000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5129783"/>
            <a:ext cx="8412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9A9A9A"/>
                </a:solidFill>
                <a:latin typeface="Courier New"/>
              </a:rP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54406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Helvetica Neue"/>
              </a:rPr>
              <a:t>Directional trajectory · members year on year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THE FIT FOR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N8N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WHY N8N, SPECIFICALLY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Exactly who </a:t>
            </a:r>
            <a:r>
              <a:rPr sz="3300" b="1" i="0">
                <a:solidFill>
                  <a:srgbClr val="EA4B71"/>
                </a:solidFill>
                <a:latin typeface="Georgia"/>
              </a:rPr>
              <a:t>n8n</a:t>
            </a:r>
            <a:r>
              <a:rPr sz="3300" b="1" i="0">
                <a:solidFill>
                  <a:srgbClr val="F5F5F5"/>
                </a:solidFill>
                <a:latin typeface="Georgia"/>
              </a:rPr>
              <a:t> is built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33079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WHO THEY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24912"/>
            <a:ext cx="3307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5"/>
                </a:solidFill>
                <a:latin typeface="Georgia"/>
              </a:rPr>
              <a:t>AI-native builders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330799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Founders, engineers and operators who automate everything and build with AI. n8n is already in their stack, or about to 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1850" y="2468880"/>
            <a:ext cx="33079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WHAT THEY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1850" y="2724912"/>
            <a:ext cx="3307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5"/>
                </a:solidFill>
                <a:latin typeface="Georgia"/>
              </a:rPr>
              <a:t>Workflow &amp; AI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1850" y="3200400"/>
            <a:ext cx="330799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Connecting tools, orchestrating AI agents, automating ops end to end. The exact problems n8n solves, felt daily.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0740" y="2468880"/>
            <a:ext cx="33079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WHERE YOU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0740" y="2724912"/>
            <a:ext cx="3307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5"/>
                </a:solidFill>
                <a:latin typeface="Georgia"/>
              </a:rPr>
              <a:t>The default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0740" y="3200400"/>
            <a:ext cx="330799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Be the automation platform the community learns hands-on and defaults to, through workshops and the How I Build with AI series.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CFCFCF"/>
                </a:solidFill>
                <a:latin typeface="Helvetica Neue"/>
              </a:rPr>
              <a:t>Our How I Build with AI series is a natural home for n8n. Hands-on automation workshops turn the room into power users, and power users into advocates.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THE 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WHERE WE'RE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N8N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From monthly meetups to </a:t>
            </a:r>
            <a:r>
              <a:rPr sz="3300" b="1" i="0">
                <a:solidFill>
                  <a:srgbClr val="C81E1E"/>
                </a:solidFill>
                <a:latin typeface="Georgia"/>
              </a:rPr>
              <a:t>the region's flagship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10545775" cy="10972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880360"/>
            <a:ext cx="146304" cy="146304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227068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108960"/>
            <a:ext cx="22706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Monthly flagships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20440"/>
            <a:ext cx="22249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2,500+ members, four event formats, every month in Canggu.</a:t>
            </a:r>
          </a:p>
        </p:txBody>
      </p:sp>
      <p:sp>
        <p:nvSpPr>
          <p:cNvPr id="11" name="Oval 10"/>
          <p:cNvSpPr/>
          <p:nvPr/>
        </p:nvSpPr>
        <p:spPr>
          <a:xfrm>
            <a:off x="3459403" y="2880360"/>
            <a:ext cx="146304" cy="146304"/>
          </a:xfrm>
          <a:prstGeom prst="ellipse">
            <a:avLst/>
          </a:prstGeom>
          <a:solidFill>
            <a:srgbClr val="EA4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2011" y="2852928"/>
            <a:ext cx="227068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2011" y="3108960"/>
            <a:ext cx="22706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The Podcast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2011" y="3520440"/>
            <a:ext cx="22249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Launching soon. Builder stories and operator playbooks, with partner segments.</a:t>
            </a:r>
          </a:p>
        </p:txBody>
      </p:sp>
      <p:sp>
        <p:nvSpPr>
          <p:cNvPr id="15" name="Oval 14"/>
          <p:cNvSpPr/>
          <p:nvPr/>
        </p:nvSpPr>
        <p:spPr>
          <a:xfrm>
            <a:off x="6095847" y="2880360"/>
            <a:ext cx="146304" cy="146304"/>
          </a:xfrm>
          <a:prstGeom prst="ellipse">
            <a:avLst/>
          </a:prstGeom>
          <a:solidFill>
            <a:srgbClr val="EA4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455" y="2852928"/>
            <a:ext cx="227068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455" y="3108960"/>
            <a:ext cx="22706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Owned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8455" y="3520440"/>
            <a:ext cx="22249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Aggregated, anonymised ecosystem data from our member CRM.</a:t>
            </a:r>
          </a:p>
        </p:txBody>
      </p:sp>
      <p:sp>
        <p:nvSpPr>
          <p:cNvPr id="19" name="Oval 18"/>
          <p:cNvSpPr/>
          <p:nvPr/>
        </p:nvSpPr>
        <p:spPr>
          <a:xfrm>
            <a:off x="8732291" y="2880360"/>
            <a:ext cx="146304" cy="146304"/>
          </a:xfrm>
          <a:prstGeom prst="ellipse">
            <a:avLst/>
          </a:prstGeom>
          <a:solidFill>
            <a:srgbClr val="EA4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4899" y="2852928"/>
            <a:ext cx="227068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4899" y="3108960"/>
            <a:ext cx="22706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Annual Conference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4899" y="3520440"/>
            <a:ext cx="22249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Bali's flagship startup &amp; tech conference. The headline stage.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2920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CFCFCF"/>
                </a:solidFill>
                <a:latin typeface="Helvetica Neue"/>
              </a:rPr>
              <a:t>A partner who joins now grows with us, from the monthly room to the podcast feed to the 2027 conference stage.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THE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N8N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CATEGORY EXCLUSIVITY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Own the category. Be our </a:t>
            </a:r>
            <a:r>
              <a:rPr sz="3300" b="1" i="0">
                <a:solidFill>
                  <a:srgbClr val="C81E1E"/>
                </a:solidFill>
                <a:latin typeface="Georgia"/>
              </a:rPr>
              <a:t>only</a:t>
            </a:r>
            <a:r>
              <a:rPr sz="3300" b="1" i="0">
                <a:solidFill>
                  <a:srgbClr val="F5F5F5"/>
                </a:solidFill>
                <a:latin typeface="Georgia"/>
              </a:rPr>
              <a:t> automation partner.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A4B71"/>
                </a:solidFill>
                <a:latin typeface="Helvetica Neue"/>
              </a:rPr>
              <a:t>n8n</a:t>
            </a:r>
            <a:r>
              <a:rPr sz="1300" b="0" i="0">
                <a:solidFill>
                  <a:srgbClr val="CFCFCF"/>
                </a:solidFill>
                <a:latin typeface="Helvetica Neue"/>
              </a:rPr>
              <a:t> as the sole automation and workflow brand across every BSTC surface for the term: events, workshops, podcast and the 2027 conference. No competing automation tool in the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3381146" cy="114300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264408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F5F5"/>
                </a:solidFill>
                <a:latin typeface="Helvetica Neue"/>
              </a:rPr>
              <a:t>Flagship event sponsorship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666744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Your brand on the monthly room that defines the scene.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5274" y="3063240"/>
            <a:ext cx="3381146" cy="114300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4730" y="3264408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F5F5"/>
                </a:solidFill>
                <a:latin typeface="Helvetica Neue"/>
              </a:rPr>
              <a:t>Hands-on n8n workshops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4730" y="3666744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The How I Build with AI series, built around n8n.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7588" y="3063240"/>
            <a:ext cx="3381146" cy="114300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7044" y="3264408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F5F5"/>
                </a:solidFill>
                <a:latin typeface="Helvetica Neue"/>
              </a:rPr>
              <a:t>Builder perks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7044" y="3666744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n8n Cloud credits, Pro seats and setup support for members.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07408"/>
            <a:ext cx="3381146" cy="114300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4608576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F5F5"/>
                </a:solidFill>
                <a:latin typeface="Helvetica Neue"/>
              </a:rPr>
              <a:t>Podcast presence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5010912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Partner segments and host reads as the show launches.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5274" y="4407408"/>
            <a:ext cx="3381146" cy="114300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4730" y="4608576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F5F5"/>
                </a:solidFill>
                <a:latin typeface="Helvetica Neue"/>
              </a:rPr>
              <a:t>Conference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4730" y="5010912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Headline automation partner of Bali's flagship event.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7588" y="4407408"/>
            <a:ext cx="3381146" cy="114300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7044" y="4608576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F5F5"/>
                </a:solidFill>
                <a:latin typeface="Helvetica Neue"/>
              </a:rPr>
              <a:t>Ecosystem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7044" y="5010912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Aggregated, anonymised data on how Bali builders build.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THE PARTNERSHIP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WAYS TO PARTNER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N8N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Two ways to partner. </a:t>
            </a:r>
            <a:r>
              <a:rPr sz="3300" b="1" i="0">
                <a:solidFill>
                  <a:srgbClr val="C81E1E"/>
                </a:solidFill>
                <a:latin typeface="Georgia"/>
              </a:rPr>
              <a:t>Annual goes deepest.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4429225" cy="30175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96896"/>
            <a:ext cx="36977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A9A9A"/>
                </a:solidFill>
                <a:latin typeface="Courier New"/>
              </a:rPr>
              <a:t>QUARTERLY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52928"/>
            <a:ext cx="369770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5"/>
                </a:solidFill>
                <a:latin typeface="Georgia"/>
              </a:rPr>
              <a:t>Category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46704"/>
            <a:ext cx="36977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9A9A"/>
                </a:solidFill>
                <a:latin typeface="Helvetica Neue"/>
              </a:rPr>
              <a:t>Exclusive automation partner · one 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58768"/>
            <a:ext cx="369770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Category exclusivity for the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87952"/>
            <a:ext cx="369770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Flagship event sponsorship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17136"/>
            <a:ext cx="369770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One hands-on n8n workshop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46320"/>
            <a:ext cx="369770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Builder perks in the member guide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63081" y="2286000"/>
            <a:ext cx="5805653" cy="3017520"/>
          </a:xfrm>
          <a:prstGeom prst="rect">
            <a:avLst/>
          </a:prstGeom>
          <a:solidFill>
            <a:srgbClr val="201414"/>
          </a:solidFill>
          <a:ln w="17780">
            <a:solidFill>
              <a:srgbClr val="C8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7129" y="2596896"/>
            <a:ext cx="50375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RECOMMENDED · ANNUAL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7129" y="2852928"/>
            <a:ext cx="50375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5"/>
                </a:solidFill>
                <a:latin typeface="Georgia"/>
              </a:rPr>
              <a:t>Strategic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7129" y="3346704"/>
            <a:ext cx="50375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9A9A"/>
                </a:solidFill>
                <a:latin typeface="Helvetica Neue"/>
              </a:rPr>
              <a:t>Exclusive automation partner · the full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7129" y="3858768"/>
            <a:ext cx="503755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Category exclusivity for the full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7129" y="4101083"/>
            <a:ext cx="503755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Every flagship night, all four formats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7129" y="4343399"/>
            <a:ext cx="503755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Full n8n workshop track, How I Build with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7129" y="4585715"/>
            <a:ext cx="503755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Podcast presence as it launches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7129" y="4828031"/>
            <a:ext cx="503755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Headline automation partner, Conference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7129" y="5070347"/>
            <a:ext cx="503755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Aggregated ecosystem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982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9A9A"/>
                </a:solidFill>
                <a:latin typeface="Helvetica Neue"/>
              </a:rPr>
              <a:t>Scope and investment are a conversation for when the fit is clear. This is a starting point, not a pitch.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WAYS TO PARTNER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N8N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LET'S BUILD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5F5F5"/>
                </a:solidFill>
                <a:latin typeface="Georgia"/>
              </a:rPr>
              <a:t>Be the tool Bali's builders</a:t>
            </a:r>
          </a:p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5F5F5"/>
                </a:solidFill>
                <a:latin typeface="Georgia"/>
              </a:rPr>
              <a:t>reach for when they </a:t>
            </a:r>
            <a:r>
              <a:rPr sz="4000" b="0" i="1">
                <a:solidFill>
                  <a:srgbClr val="F5F5F5"/>
                </a:solidFill>
                <a:latin typeface="Georgia"/>
              </a:rPr>
              <a:t>automate.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CFCFCF"/>
                </a:solidFill>
                <a:latin typeface="Helvetica Neue"/>
              </a:rPr>
              <a:t>The builders wiring up their stack are already in our community, learning with AI every month. We are offering you the whole automation category, for a year, including the stage we are building for 2027. Let's find the shape that fits.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Courier New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583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Annual category exclusivity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120640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Courier New"/>
              </a:rPr>
              <a:t>THE 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3583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An intro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120640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Courier New"/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53583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BSTC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N8N × BSTC · PARTNERSHIP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